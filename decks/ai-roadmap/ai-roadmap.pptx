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61825" y="440134"/>
            <a:ext cx="151523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01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1030684"/>
            <a:ext cx="9669767" cy="1672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86"/>
              </a:lnSpc>
              <a:buNone/>
            </a:pPr>
            <a:r>
              <a:rPr lang="en-US" sz="5066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Architecture styles:</a:t>
            </a:r>
            <a:endParaRPr lang="en-US" sz="5066" dirty="0"/>
          </a:p>
          <a:p>
            <a:pPr algn="l" indent="0" marL="0">
              <a:lnSpc>
                <a:spcPts val="6586"/>
              </a:lnSpc>
              <a:buNone/>
            </a:pPr>
            <a:r>
              <a:rPr lang="en-US" sz="5066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what actually tells them apart</a:t>
            </a:r>
            <a:endParaRPr lang="en-US" sz="5066" dirty="0"/>
          </a:p>
        </p:txBody>
      </p:sp>
      <p:sp>
        <p:nvSpPr>
          <p:cNvPr id="5" name="Text 3"/>
          <p:cNvSpPr/>
          <p:nvPr/>
        </p:nvSpPr>
        <p:spPr>
          <a:xfrm>
            <a:off x="541599" y="3042047"/>
            <a:ext cx="1625194" cy="381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3418681"/>
            <a:ext cx="89791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spcBef>
                <a:spcPts val="2666"/>
              </a:spcBef>
              <a:buNone/>
            </a:pPr>
            <a:r>
              <a:rPr lang="en-US" sz="20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names describe how something is deployed. What separates the styles is the answer to four questions, and a codebase can answer them in ways its name does not admit.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1599" y="5001816"/>
            <a:ext cx="209802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541599" y="5289550"/>
            <a:ext cx="209802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spcBef>
                <a:spcPts val="667"/>
              </a:spcBef>
              <a:buNone/>
            </a:pPr>
            <a:r>
              <a:rPr lang="en-US" sz="1733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· TEAM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3478732" y="5001816"/>
            <a:ext cx="919504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3478732" y="5289550"/>
            <a:ext cx="9195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spcBef>
                <a:spcPts val="667"/>
              </a:spcBef>
              <a:buNone/>
            </a:pPr>
            <a:r>
              <a:rPr lang="en-US" sz="1733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2026.08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5260453" y="5001816"/>
            <a:ext cx="229228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5260453" y="5289550"/>
            <a:ext cx="22922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spcBef>
                <a:spcPts val="667"/>
              </a:spcBef>
              <a:buNone/>
            </a:pPr>
            <a:r>
              <a:rPr lang="en-US" sz="1733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LEADS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36431" y="440134"/>
            <a:ext cx="154114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02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846534"/>
            <a:ext cx="11327869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66"/>
              </a:lnSpc>
              <a:spcBef>
                <a:spcPts val="1600"/>
              </a:spcBef>
              <a:buNone/>
            </a:pPr>
            <a:r>
              <a:rPr lang="en-US" sz="2933" b="1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The label names a deployment, not a design decision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1599" y="1464469"/>
            <a:ext cx="11105754" cy="127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1748036"/>
            <a:ext cx="3589035" cy="2875756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1599" y="1767086"/>
            <a:ext cx="3589035" cy="0"/>
          </a:xfrm>
          <a:prstGeom prst="line">
            <a:avLst/>
          </a:prstGeom>
          <a:noFill/>
          <a:ln w="3809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24286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1599" y="4617442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7947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4308" y="1989336"/>
            <a:ext cx="318609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name, two systems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774308" y="2415977"/>
            <a:ext cx="3186090" cy="165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“Microservices” covers a shop with one shared database and a shop with none. The word does not say which.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4299859" y="1748036"/>
            <a:ext cx="3589035" cy="2875756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299859" y="1767086"/>
            <a:ext cx="3589035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882546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99859" y="4617442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306208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32568" y="1989336"/>
            <a:ext cx="318609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names, one system</a:t>
            </a:r>
            <a:endParaRPr lang="en-US" sz="1866" dirty="0"/>
          </a:p>
        </p:txBody>
      </p:sp>
      <p:sp>
        <p:nvSpPr>
          <p:cNvPr id="19" name="Text 17"/>
          <p:cNvSpPr/>
          <p:nvPr/>
        </p:nvSpPr>
        <p:spPr>
          <a:xfrm>
            <a:off x="4532568" y="2415977"/>
            <a:ext cx="3186090" cy="1991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modular monolith and a service-based system can answer every question identically and differ only in where the process boundary falls.</a:t>
            </a:r>
            <a:endParaRPr lang="en-US" sz="1866" dirty="0"/>
          </a:p>
        </p:txBody>
      </p:sp>
      <p:sp>
        <p:nvSpPr>
          <p:cNvPr id="20" name="Text 18"/>
          <p:cNvSpPr/>
          <p:nvPr/>
        </p:nvSpPr>
        <p:spPr>
          <a:xfrm>
            <a:off x="8058119" y="1748036"/>
            <a:ext cx="3589035" cy="2875756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058119" y="1767086"/>
            <a:ext cx="3589035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640806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58119" y="4617442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064468" y="1748036"/>
            <a:ext cx="0" cy="2875756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90828" y="1989336"/>
            <a:ext cx="318609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name is an outcome</a:t>
            </a:r>
            <a:endParaRPr lang="en-US" sz="1866" dirty="0"/>
          </a:p>
        </p:txBody>
      </p:sp>
      <p:sp>
        <p:nvSpPr>
          <p:cNvPr id="26" name="Text 24"/>
          <p:cNvSpPr/>
          <p:nvPr/>
        </p:nvSpPr>
        <p:spPr>
          <a:xfrm>
            <a:off x="8290828" y="2415977"/>
            <a:ext cx="3186090" cy="165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shape is what the decisions produced. Reading it backwards tells you nothing about what was decided.</a:t>
            </a:r>
            <a:endParaRPr lang="en-US" sz="1866" dirty="0"/>
          </a:p>
        </p:txBody>
      </p:sp>
      <p:sp>
        <p:nvSpPr>
          <p:cNvPr id="27" name="Text 25"/>
          <p:cNvSpPr/>
          <p:nvPr/>
        </p:nvSpPr>
        <p:spPr>
          <a:xfrm>
            <a:off x="541599" y="5611812"/>
            <a:ext cx="113278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one of these is a naming problem, and none of them is a design problem.</a:t>
            </a:r>
            <a:endParaRPr lang="en-US" sz="1866" dirty="0"/>
          </a:p>
        </p:txBody>
      </p:sp>
      <p:sp>
        <p:nvSpPr>
          <p:cNvPr id="28" name="Text 26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36431" y="440134"/>
            <a:ext cx="154114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03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846534"/>
            <a:ext cx="11327869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66"/>
              </a:lnSpc>
              <a:spcBef>
                <a:spcPts val="1600"/>
              </a:spcBef>
              <a:buNone/>
            </a:pPr>
            <a:r>
              <a:rPr lang="en-US" sz="2933" b="1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Four questions separate the styles you will meet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1599" y="1464469"/>
            <a:ext cx="11105754" cy="127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1599" y="2497931"/>
            <a:ext cx="2649470" cy="0"/>
          </a:xfrm>
          <a:prstGeom prst="line">
            <a:avLst/>
          </a:prstGeom>
          <a:noFill/>
          <a:ln w="3809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1599" y="2821583"/>
            <a:ext cx="2702460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66" dirty="0"/>
          </a:p>
        </p:txBody>
      </p:sp>
      <p:sp>
        <p:nvSpPr>
          <p:cNvPr id="8" name="Text 6"/>
          <p:cNvSpPr/>
          <p:nvPr/>
        </p:nvSpPr>
        <p:spPr>
          <a:xfrm>
            <a:off x="541599" y="3255169"/>
            <a:ext cx="270246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spcBef>
                <a:spcPts val="8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unit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541599" y="3681809"/>
            <a:ext cx="2702460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has to ship together for a change to take effect?</a:t>
            </a:r>
            <a:endParaRPr lang="en-US" sz="1866" dirty="0"/>
          </a:p>
        </p:txBody>
      </p:sp>
      <p:sp>
        <p:nvSpPr>
          <p:cNvPr id="10" name="Shape 8"/>
          <p:cNvSpPr/>
          <p:nvPr/>
        </p:nvSpPr>
        <p:spPr>
          <a:xfrm>
            <a:off x="3360294" y="2497931"/>
            <a:ext cx="2649470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60294" y="2821583"/>
            <a:ext cx="2702460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3360294" y="3255169"/>
            <a:ext cx="270246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spcBef>
                <a:spcPts val="8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ownership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3360294" y="3681809"/>
            <a:ext cx="2702460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may write this table, and who may read it directly?</a:t>
            </a:r>
            <a:endParaRPr lang="en-US" sz="1866" dirty="0"/>
          </a:p>
        </p:txBody>
      </p:sp>
      <p:sp>
        <p:nvSpPr>
          <p:cNvPr id="14" name="Shape 12"/>
          <p:cNvSpPr/>
          <p:nvPr/>
        </p:nvSpPr>
        <p:spPr>
          <a:xfrm>
            <a:off x="6178989" y="2497931"/>
            <a:ext cx="2649470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78989" y="2821583"/>
            <a:ext cx="2702460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66" dirty="0"/>
          </a:p>
        </p:txBody>
      </p:sp>
      <p:sp>
        <p:nvSpPr>
          <p:cNvPr id="16" name="Text 14"/>
          <p:cNvSpPr/>
          <p:nvPr/>
        </p:nvSpPr>
        <p:spPr>
          <a:xfrm>
            <a:off x="6178989" y="3255169"/>
            <a:ext cx="270246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spcBef>
                <a:spcPts val="8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direction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6178989" y="3681809"/>
            <a:ext cx="2702460" cy="995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caller wait for the answer, or learn about it later?</a:t>
            </a:r>
            <a:endParaRPr lang="en-US" sz="1866" dirty="0"/>
          </a:p>
        </p:txBody>
      </p:sp>
      <p:sp>
        <p:nvSpPr>
          <p:cNvPr id="18" name="Shape 16"/>
          <p:cNvSpPr/>
          <p:nvPr/>
        </p:nvSpPr>
        <p:spPr>
          <a:xfrm>
            <a:off x="8997684" y="2497931"/>
            <a:ext cx="2649470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997684" y="2821583"/>
            <a:ext cx="2702460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66" dirty="0"/>
          </a:p>
        </p:txBody>
      </p:sp>
      <p:sp>
        <p:nvSpPr>
          <p:cNvPr id="20" name="Text 18"/>
          <p:cNvSpPr/>
          <p:nvPr/>
        </p:nvSpPr>
        <p:spPr>
          <a:xfrm>
            <a:off x="8997684" y="3255169"/>
            <a:ext cx="270246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spcBef>
                <a:spcPts val="8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radius</a:t>
            </a:r>
            <a:endParaRPr lang="en-US" sz="1866" dirty="0"/>
          </a:p>
        </p:txBody>
      </p:sp>
      <p:sp>
        <p:nvSpPr>
          <p:cNvPr id="21" name="Text 19"/>
          <p:cNvSpPr/>
          <p:nvPr/>
        </p:nvSpPr>
        <p:spPr>
          <a:xfrm>
            <a:off x="8997684" y="3681809"/>
            <a:ext cx="2702460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this part stops, what else stops with it?</a:t>
            </a:r>
            <a:endParaRPr lang="en-US" sz="1866" dirty="0"/>
          </a:p>
        </p:txBody>
      </p:sp>
      <p:sp>
        <p:nvSpPr>
          <p:cNvPr id="22" name="Text 20"/>
          <p:cNvSpPr/>
          <p:nvPr/>
        </p:nvSpPr>
        <p:spPr>
          <a:xfrm>
            <a:off x="541599" y="5611812"/>
            <a:ext cx="113278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all four and the style is already chosen; answer none and the name is a guess.</a:t>
            </a:r>
            <a:endParaRPr lang="en-US" sz="1866" dirty="0"/>
          </a:p>
        </p:txBody>
      </p:sp>
      <p:sp>
        <p:nvSpPr>
          <p:cNvPr id="23" name="Text 21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23734" y="440134"/>
            <a:ext cx="155409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04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846534"/>
            <a:ext cx="11327869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66"/>
              </a:lnSpc>
              <a:spcBef>
                <a:spcPts val="1600"/>
              </a:spcBef>
              <a:buNone/>
            </a:pPr>
            <a:r>
              <a:rPr lang="en-US" sz="2933" b="1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The same four answers place any codebase on the map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1599" y="1464469"/>
            <a:ext cx="11105754" cy="127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1748036"/>
            <a:ext cx="11105754" cy="3167459"/>
          </a:xfrm>
          <a:prstGeom prst="rect">
            <a:avLst/>
          </a:prstGeom>
          <a:noFill/>
          <a:ln w="12698">
            <a:solidFill>
              <a:srgbClr val="C7D0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4296" y="1760736"/>
            <a:ext cx="11080360" cy="330002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0384" y="1811536"/>
            <a:ext cx="639039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2558212" y="1760736"/>
            <a:ext cx="0" cy="330002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50648" y="1811536"/>
            <a:ext cx="1877860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UNIT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4828960" y="1760736"/>
            <a:ext cx="0" cy="330002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1396" y="1811536"/>
            <a:ext cx="1773445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OWNERSHIP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7099707" y="1760736"/>
            <a:ext cx="0" cy="330002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92144" y="1811536"/>
            <a:ext cx="1656888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DIRECTION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9370455" y="1760736"/>
            <a:ext cx="0" cy="330002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562891" y="1811536"/>
            <a:ext cx="1630987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RADIUS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554296" y="2097088"/>
            <a:ext cx="11080360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0384" y="2154238"/>
            <a:ext cx="1010159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Monolith</a:t>
            </a:r>
            <a:endParaRPr lang="en-US" sz="1866" dirty="0"/>
          </a:p>
        </p:txBody>
      </p:sp>
      <p:sp>
        <p:nvSpPr>
          <p:cNvPr id="19" name="Shape 17"/>
          <p:cNvSpPr/>
          <p:nvPr/>
        </p:nvSpPr>
        <p:spPr>
          <a:xfrm>
            <a:off x="2558212" y="2103438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50648" y="2154238"/>
            <a:ext cx="46622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</a:t>
            </a:r>
            <a:endParaRPr lang="en-US" sz="1866" dirty="0"/>
          </a:p>
        </p:txBody>
      </p:sp>
      <p:sp>
        <p:nvSpPr>
          <p:cNvPr id="21" name="Shape 19"/>
          <p:cNvSpPr/>
          <p:nvPr/>
        </p:nvSpPr>
        <p:spPr>
          <a:xfrm>
            <a:off x="4828960" y="2103438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1396" y="2154238"/>
            <a:ext cx="80294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</a:t>
            </a:r>
            <a:endParaRPr lang="en-US" sz="1866" dirty="0"/>
          </a:p>
        </p:txBody>
      </p:sp>
      <p:sp>
        <p:nvSpPr>
          <p:cNvPr id="23" name="Shape 21"/>
          <p:cNvSpPr/>
          <p:nvPr/>
        </p:nvSpPr>
        <p:spPr>
          <a:xfrm>
            <a:off x="7099707" y="2103438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292144" y="2154238"/>
            <a:ext cx="1243273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In-process</a:t>
            </a:r>
            <a:endParaRPr lang="en-US" sz="1866" dirty="0"/>
          </a:p>
        </p:txBody>
      </p:sp>
      <p:sp>
        <p:nvSpPr>
          <p:cNvPr id="25" name="Shape 23"/>
          <p:cNvSpPr/>
          <p:nvPr/>
        </p:nvSpPr>
        <p:spPr>
          <a:xfrm>
            <a:off x="9370455" y="2103438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562891" y="2154238"/>
            <a:ext cx="1204421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app</a:t>
            </a:r>
            <a:endParaRPr lang="en-US" sz="1866" dirty="0"/>
          </a:p>
        </p:txBody>
      </p:sp>
      <p:sp>
        <p:nvSpPr>
          <p:cNvPr id="27" name="Shape 25"/>
          <p:cNvSpPr/>
          <p:nvPr/>
        </p:nvSpPr>
        <p:spPr>
          <a:xfrm>
            <a:off x="554296" y="2531467"/>
            <a:ext cx="11080360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0384" y="2588617"/>
            <a:ext cx="1657900" cy="64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monolith</a:t>
            </a:r>
            <a:endParaRPr lang="en-US" sz="1866" dirty="0"/>
          </a:p>
        </p:txBody>
      </p:sp>
      <p:sp>
        <p:nvSpPr>
          <p:cNvPr id="29" name="Shape 27"/>
          <p:cNvSpPr/>
          <p:nvPr/>
        </p:nvSpPr>
        <p:spPr>
          <a:xfrm>
            <a:off x="2558212" y="253781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750648" y="2748558"/>
            <a:ext cx="46622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</a:t>
            </a:r>
            <a:endParaRPr lang="en-US" sz="1866" dirty="0"/>
          </a:p>
        </p:txBody>
      </p:sp>
      <p:sp>
        <p:nvSpPr>
          <p:cNvPr id="31" name="Shape 29"/>
          <p:cNvSpPr/>
          <p:nvPr/>
        </p:nvSpPr>
        <p:spPr>
          <a:xfrm>
            <a:off x="4828960" y="253781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021396" y="2588617"/>
            <a:ext cx="1923593" cy="64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Owned, in one DB</a:t>
            </a:r>
            <a:endParaRPr lang="en-US" sz="1866" dirty="0"/>
          </a:p>
        </p:txBody>
      </p:sp>
      <p:sp>
        <p:nvSpPr>
          <p:cNvPr id="33" name="Shape 31"/>
          <p:cNvSpPr/>
          <p:nvPr/>
        </p:nvSpPr>
        <p:spPr>
          <a:xfrm>
            <a:off x="7099707" y="253781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292144" y="2748558"/>
            <a:ext cx="1243273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In-process</a:t>
            </a:r>
            <a:endParaRPr lang="en-US" sz="1866" dirty="0"/>
          </a:p>
        </p:txBody>
      </p:sp>
      <p:sp>
        <p:nvSpPr>
          <p:cNvPr id="35" name="Shape 33"/>
          <p:cNvSpPr/>
          <p:nvPr/>
        </p:nvSpPr>
        <p:spPr>
          <a:xfrm>
            <a:off x="9370455" y="253781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562891" y="2748558"/>
            <a:ext cx="1204421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app</a:t>
            </a:r>
            <a:endParaRPr lang="en-US" sz="1866" dirty="0"/>
          </a:p>
        </p:txBody>
      </p:sp>
      <p:sp>
        <p:nvSpPr>
          <p:cNvPr id="37" name="Shape 35"/>
          <p:cNvSpPr/>
          <p:nvPr/>
        </p:nvSpPr>
        <p:spPr>
          <a:xfrm>
            <a:off x="554296" y="3285927"/>
            <a:ext cx="11080360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40384" y="3343077"/>
            <a:ext cx="1657900" cy="64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Service-based</a:t>
            </a:r>
            <a:endParaRPr lang="en-US" sz="1866" dirty="0"/>
          </a:p>
        </p:txBody>
      </p:sp>
      <p:sp>
        <p:nvSpPr>
          <p:cNvPr id="39" name="Shape 37"/>
          <p:cNvSpPr/>
          <p:nvPr/>
        </p:nvSpPr>
        <p:spPr>
          <a:xfrm>
            <a:off x="2558212" y="329227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750648" y="3503017"/>
            <a:ext cx="64753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few</a:t>
            </a:r>
            <a:endParaRPr lang="en-US" sz="1866" dirty="0"/>
          </a:p>
        </p:txBody>
      </p:sp>
      <p:sp>
        <p:nvSpPr>
          <p:cNvPr id="41" name="Shape 39"/>
          <p:cNvSpPr/>
          <p:nvPr/>
        </p:nvSpPr>
        <p:spPr>
          <a:xfrm>
            <a:off x="4828960" y="329227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21396" y="3503017"/>
            <a:ext cx="80294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</a:t>
            </a:r>
            <a:endParaRPr lang="en-US" sz="1866" dirty="0"/>
          </a:p>
        </p:txBody>
      </p:sp>
      <p:sp>
        <p:nvSpPr>
          <p:cNvPr id="43" name="Shape 41"/>
          <p:cNvSpPr/>
          <p:nvPr/>
        </p:nvSpPr>
        <p:spPr>
          <a:xfrm>
            <a:off x="7099707" y="329227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292144" y="3503017"/>
            <a:ext cx="150228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Synchronous</a:t>
            </a:r>
            <a:endParaRPr lang="en-US" sz="1866" dirty="0"/>
          </a:p>
        </p:txBody>
      </p:sp>
      <p:sp>
        <p:nvSpPr>
          <p:cNvPr id="45" name="Shape 43"/>
          <p:cNvSpPr/>
          <p:nvPr/>
        </p:nvSpPr>
        <p:spPr>
          <a:xfrm>
            <a:off x="9370455" y="3292277"/>
            <a:ext cx="0" cy="741759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562891" y="3503017"/>
            <a:ext cx="893603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group</a:t>
            </a:r>
            <a:endParaRPr lang="en-US" sz="1866" dirty="0"/>
          </a:p>
        </p:txBody>
      </p:sp>
      <p:sp>
        <p:nvSpPr>
          <p:cNvPr id="47" name="Shape 45"/>
          <p:cNvSpPr/>
          <p:nvPr/>
        </p:nvSpPr>
        <p:spPr>
          <a:xfrm>
            <a:off x="554296" y="4040386"/>
            <a:ext cx="11080360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40384" y="4097536"/>
            <a:ext cx="164474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</a:t>
            </a:r>
            <a:endParaRPr lang="en-US" sz="1866" dirty="0"/>
          </a:p>
        </p:txBody>
      </p:sp>
      <p:sp>
        <p:nvSpPr>
          <p:cNvPr id="49" name="Shape 47"/>
          <p:cNvSpPr/>
          <p:nvPr/>
        </p:nvSpPr>
        <p:spPr>
          <a:xfrm>
            <a:off x="2558212" y="404673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750648" y="4097536"/>
            <a:ext cx="62163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</a:t>
            </a:r>
            <a:endParaRPr lang="en-US" sz="1866" dirty="0"/>
          </a:p>
        </p:txBody>
      </p:sp>
      <p:sp>
        <p:nvSpPr>
          <p:cNvPr id="51" name="Text 49"/>
          <p:cNvSpPr/>
          <p:nvPr/>
        </p:nvSpPr>
        <p:spPr>
          <a:xfrm>
            <a:off x="4822611" y="4046736"/>
            <a:ext cx="2270748" cy="421680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4828960" y="404673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021396" y="4097536"/>
            <a:ext cx="130802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service</a:t>
            </a:r>
            <a:endParaRPr lang="en-US" sz="1866" dirty="0"/>
          </a:p>
        </p:txBody>
      </p:sp>
      <p:sp>
        <p:nvSpPr>
          <p:cNvPr id="54" name="Shape 52"/>
          <p:cNvSpPr/>
          <p:nvPr/>
        </p:nvSpPr>
        <p:spPr>
          <a:xfrm>
            <a:off x="7099707" y="404673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292144" y="4097536"/>
            <a:ext cx="150228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Synchronous</a:t>
            </a:r>
            <a:endParaRPr lang="en-US" sz="1866" dirty="0"/>
          </a:p>
        </p:txBody>
      </p:sp>
      <p:sp>
        <p:nvSpPr>
          <p:cNvPr id="56" name="Shape 54"/>
          <p:cNvSpPr/>
          <p:nvPr/>
        </p:nvSpPr>
        <p:spPr>
          <a:xfrm>
            <a:off x="9370455" y="404673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9562891" y="4097536"/>
            <a:ext cx="1372781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service</a:t>
            </a:r>
            <a:endParaRPr lang="en-US" sz="1866" dirty="0"/>
          </a:p>
        </p:txBody>
      </p:sp>
      <p:sp>
        <p:nvSpPr>
          <p:cNvPr id="58" name="Shape 56"/>
          <p:cNvSpPr/>
          <p:nvPr/>
        </p:nvSpPr>
        <p:spPr>
          <a:xfrm>
            <a:off x="554296" y="4474766"/>
            <a:ext cx="11080360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40384" y="4531916"/>
            <a:ext cx="1515239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</a:t>
            </a:r>
            <a:endParaRPr lang="en-US" sz="1866" dirty="0"/>
          </a:p>
        </p:txBody>
      </p:sp>
      <p:sp>
        <p:nvSpPr>
          <p:cNvPr id="60" name="Shape 58"/>
          <p:cNvSpPr/>
          <p:nvPr/>
        </p:nvSpPr>
        <p:spPr>
          <a:xfrm>
            <a:off x="2558212" y="448111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750648" y="4531916"/>
            <a:ext cx="62163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</a:t>
            </a:r>
            <a:endParaRPr lang="en-US" sz="1866" dirty="0"/>
          </a:p>
        </p:txBody>
      </p:sp>
      <p:sp>
        <p:nvSpPr>
          <p:cNvPr id="62" name="Shape 60"/>
          <p:cNvSpPr/>
          <p:nvPr/>
        </p:nvSpPr>
        <p:spPr>
          <a:xfrm>
            <a:off x="4828960" y="448111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021396" y="4531916"/>
            <a:ext cx="1295076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service</a:t>
            </a:r>
            <a:endParaRPr lang="en-US" sz="1866" dirty="0"/>
          </a:p>
        </p:txBody>
      </p:sp>
      <p:sp>
        <p:nvSpPr>
          <p:cNvPr id="64" name="Shape 62"/>
          <p:cNvSpPr/>
          <p:nvPr/>
        </p:nvSpPr>
        <p:spPr>
          <a:xfrm>
            <a:off x="7099707" y="448111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7292144" y="4531916"/>
            <a:ext cx="1644747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</a:t>
            </a:r>
            <a:endParaRPr lang="en-US" sz="1866" dirty="0"/>
          </a:p>
        </p:txBody>
      </p:sp>
      <p:sp>
        <p:nvSpPr>
          <p:cNvPr id="66" name="Shape 64"/>
          <p:cNvSpPr/>
          <p:nvPr/>
        </p:nvSpPr>
        <p:spPr>
          <a:xfrm>
            <a:off x="9370455" y="4481116"/>
            <a:ext cx="0" cy="42168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9562891" y="4531916"/>
            <a:ext cx="167064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66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consumer</a:t>
            </a:r>
            <a:endParaRPr lang="en-US" sz="1866" dirty="0"/>
          </a:p>
        </p:txBody>
      </p:sp>
      <p:sp>
        <p:nvSpPr>
          <p:cNvPr id="68" name="Text 66"/>
          <p:cNvSpPr/>
          <p:nvPr/>
        </p:nvSpPr>
        <p:spPr>
          <a:xfrm>
            <a:off x="541599" y="5279827"/>
            <a:ext cx="11327869" cy="663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one column changes between service-based and microservices — and it is ownership, not count.</a:t>
            </a:r>
            <a:endParaRPr lang="en-US" sz="1866" dirty="0"/>
          </a:p>
        </p:txBody>
      </p:sp>
      <p:sp>
        <p:nvSpPr>
          <p:cNvPr id="69" name="Text 67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70" name="Text 68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36431" y="440134"/>
            <a:ext cx="154114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05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846534"/>
            <a:ext cx="11327869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6"/>
              </a:lnSpc>
              <a:spcBef>
                <a:spcPts val="1600"/>
              </a:spcBef>
              <a:buNone/>
            </a:pPr>
            <a:r>
              <a:rPr lang="en-US" sz="2933" b="1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When the label and the answers disagree, trust the answers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1599" y="1464469"/>
            <a:ext cx="11105754" cy="127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1748036"/>
            <a:ext cx="3589035" cy="2543770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1599" y="1767086"/>
            <a:ext cx="3589035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24286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1599" y="4285456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7947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4308" y="1989336"/>
            <a:ext cx="318609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monolith</a:t>
            </a:r>
            <a:endParaRPr lang="en-US" sz="1866" dirty="0"/>
          </a:p>
        </p:txBody>
      </p:sp>
      <p:sp>
        <p:nvSpPr>
          <p:cNvPr id="12" name="Text 10"/>
          <p:cNvSpPr/>
          <p:nvPr/>
        </p:nvSpPr>
        <p:spPr>
          <a:xfrm>
            <a:off x="774308" y="2415977"/>
            <a:ext cx="3186090" cy="165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deployment units, one release train. Services ship together because they share a schema — the answers say monolith.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4299859" y="1748036"/>
            <a:ext cx="3589035" cy="2543770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299859" y="1767086"/>
            <a:ext cx="3589035" cy="0"/>
          </a:xfrm>
          <a:prstGeom prst="line">
            <a:avLst/>
          </a:prstGeom>
          <a:noFill/>
          <a:ln w="3809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882546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99859" y="4285456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306208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32568" y="1989336"/>
            <a:ext cx="3186090" cy="61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Microservices, one database</a:t>
            </a:r>
            <a:endParaRPr lang="en-US" sz="1866" dirty="0"/>
          </a:p>
        </p:txBody>
      </p:sp>
      <p:sp>
        <p:nvSpPr>
          <p:cNvPr id="19" name="Text 17"/>
          <p:cNvSpPr/>
          <p:nvPr/>
        </p:nvSpPr>
        <p:spPr>
          <a:xfrm>
            <a:off x="4532568" y="2724150"/>
            <a:ext cx="3186090" cy="132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Per-service repositories over a shared schema. Ownership is the question that was never answered.</a:t>
            </a:r>
            <a:endParaRPr lang="en-US" sz="1866" dirty="0"/>
          </a:p>
        </p:txBody>
      </p:sp>
      <p:sp>
        <p:nvSpPr>
          <p:cNvPr id="20" name="Text 18"/>
          <p:cNvSpPr/>
          <p:nvPr/>
        </p:nvSpPr>
        <p:spPr>
          <a:xfrm>
            <a:off x="8058119" y="1748036"/>
            <a:ext cx="3589035" cy="2543770"/>
          </a:xfrm>
          <a:prstGeom prst="rect">
            <a:avLst/>
          </a:prstGeom>
          <a:solidFill>
            <a:srgbClr val="F1F4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058119" y="1767086"/>
            <a:ext cx="3589035" cy="0"/>
          </a:xfrm>
          <a:prstGeom prst="line">
            <a:avLst/>
          </a:prstGeom>
          <a:noFill/>
          <a:ln w="38095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640806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58119" y="4285456"/>
            <a:ext cx="3589035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064468" y="1748036"/>
            <a:ext cx="0" cy="254377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90828" y="1989336"/>
            <a:ext cx="3186090" cy="30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monolith in name</a:t>
            </a:r>
            <a:endParaRPr lang="en-US" sz="1866" dirty="0"/>
          </a:p>
        </p:txBody>
      </p:sp>
      <p:sp>
        <p:nvSpPr>
          <p:cNvPr id="26" name="Text 24"/>
          <p:cNvSpPr/>
          <p:nvPr/>
        </p:nvSpPr>
        <p:spPr>
          <a:xfrm>
            <a:off x="8290828" y="2415977"/>
            <a:ext cx="3186090" cy="132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933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unit, one database, no owner per module. Calling it modular does not create the boundary.</a:t>
            </a:r>
            <a:endParaRPr lang="en-US" sz="1866" dirty="0"/>
          </a:p>
        </p:txBody>
      </p:sp>
      <p:sp>
        <p:nvSpPr>
          <p:cNvPr id="27" name="Text 25"/>
          <p:cNvSpPr/>
          <p:nvPr/>
        </p:nvSpPr>
        <p:spPr>
          <a:xfrm>
            <a:off x="541599" y="5611812"/>
            <a:ext cx="11327869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of these ships the cost of the style it is named after, without the property that pays for it.</a:t>
            </a:r>
            <a:endParaRPr lang="en-US" sz="1866" dirty="0"/>
          </a:p>
        </p:txBody>
      </p:sp>
      <p:sp>
        <p:nvSpPr>
          <p:cNvPr id="28" name="Text 26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99" y="440134"/>
            <a:ext cx="434457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 · INTERNAL REVIEW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10123734" y="440134"/>
            <a:ext cx="155409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b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EXHIBIT 06 / 06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541599" y="846534"/>
            <a:ext cx="11327869" cy="46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66"/>
              </a:lnSpc>
              <a:spcBef>
                <a:spcPts val="1600"/>
              </a:spcBef>
              <a:buNone/>
            </a:pPr>
            <a:r>
              <a:rPr lang="en-US" sz="2933" b="1" dirty="0">
                <a:solidFill>
                  <a:srgbClr val="14213D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What we need to answer before we name our style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541599" y="1464469"/>
            <a:ext cx="11105754" cy="127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1599" y="1748036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18498" y="1760736"/>
            <a:ext cx="1063743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table has one writer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18498" y="2188170"/>
            <a:ext cx="10637432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667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it per module. Where two modules write the same table, the boundary is not there yet.</a:t>
            </a:r>
            <a:endParaRPr lang="en-US" sz="1866" dirty="0"/>
          </a:p>
        </p:txBody>
      </p:sp>
      <p:sp>
        <p:nvSpPr>
          <p:cNvPr id="9" name="Shape 7"/>
          <p:cNvSpPr/>
          <p:nvPr/>
        </p:nvSpPr>
        <p:spPr>
          <a:xfrm>
            <a:off x="541599" y="2712641"/>
            <a:ext cx="11105754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1599" y="2905125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8498" y="2917825"/>
            <a:ext cx="1063743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may we deploy alone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18498" y="3345259"/>
            <a:ext cx="10637432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667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nothing may, the count of services is not the thing to change.</a:t>
            </a:r>
            <a:endParaRPr lang="en-US" sz="1866" dirty="0"/>
          </a:p>
        </p:txBody>
      </p:sp>
      <p:sp>
        <p:nvSpPr>
          <p:cNvPr id="13" name="Shape 11"/>
          <p:cNvSpPr/>
          <p:nvPr/>
        </p:nvSpPr>
        <p:spPr>
          <a:xfrm>
            <a:off x="541599" y="3869730"/>
            <a:ext cx="11105754" cy="0"/>
          </a:xfrm>
          <a:prstGeom prst="line">
            <a:avLst/>
          </a:prstGeom>
          <a:noFill/>
          <a:ln w="12698">
            <a:solidFill>
              <a:srgbClr val="C7D0D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1599" y="4062214"/>
            <a:ext cx="4488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PTSerif" pitchFamily="34" charset="0"/>
                <a:ea typeface="PTSerif" pitchFamily="34" charset="-122"/>
                <a:cs typeface="PTSerif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18498" y="4074914"/>
            <a:ext cx="1063743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survive a failure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18498" y="4502348"/>
            <a:ext cx="10637432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13"/>
              </a:lnSpc>
              <a:spcBef>
                <a:spcPts val="667"/>
              </a:spcBef>
              <a:buNone/>
            </a:pPr>
            <a:r>
              <a:rPr lang="en-US" sz="1866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parts that must stay up when another stops decide how far the boundary has to go.</a:t>
            </a:r>
            <a:endParaRPr lang="en-US" sz="1866" dirty="0"/>
          </a:p>
        </p:txBody>
      </p:sp>
      <p:sp>
        <p:nvSpPr>
          <p:cNvPr id="17" name="Text 15"/>
          <p:cNvSpPr/>
          <p:nvPr/>
        </p:nvSpPr>
        <p:spPr>
          <a:xfrm>
            <a:off x="541599" y="5611812"/>
            <a:ext cx="11327869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13"/>
              </a:lnSpc>
              <a:spcBef>
                <a:spcPts val="1600"/>
              </a:spcBef>
              <a:buNone/>
            </a:pPr>
            <a:r>
              <a:rPr lang="en-US" sz="1866" b="1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name follows the answers. It has never worked in the other direction.</a:t>
            </a:r>
            <a:endParaRPr lang="en-US" sz="1866" dirty="0"/>
          </a:p>
        </p:txBody>
      </p:sp>
      <p:sp>
        <p:nvSpPr>
          <p:cNvPr id="18" name="Text 16"/>
          <p:cNvSpPr/>
          <p:nvPr/>
        </p:nvSpPr>
        <p:spPr>
          <a:xfrm>
            <a:off x="541599" y="6113066"/>
            <a:ext cx="624226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— none. No figures appear in this deck; the argument is mechanical.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9603164" y="6113066"/>
            <a:ext cx="2085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33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STYLES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2026-08-28T14:48:44Z</dcterms:created>
  <dcterms:modified xsi:type="dcterms:W3CDTF">2026-08-28T14:48:44Z</dcterms:modified>
</cp:coreProperties>
</file>