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06400"/>
            <a:ext cx="53051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· PLATFORM ENGINEERING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112426" y="406400"/>
            <a:ext cx="156562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 01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541599" y="768747"/>
            <a:ext cx="11105754" cy="337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971748"/>
            <a:ext cx="11327869" cy="146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19"/>
              </a:lnSpc>
              <a:spcBef>
                <a:spcPts val="1333"/>
              </a:spcBef>
              <a:buNone/>
            </a:pPr>
            <a:r>
              <a:rPr lang="en-US" sz="8532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POSTMORTEM</a:t>
            </a:r>
            <a:endParaRPr lang="en-US" sz="8532" dirty="0"/>
          </a:p>
        </p:txBody>
      </p:sp>
      <p:sp>
        <p:nvSpPr>
          <p:cNvPr id="6" name="Text 4"/>
          <p:cNvSpPr/>
          <p:nvPr/>
        </p:nvSpPr>
        <p:spPr>
          <a:xfrm>
            <a:off x="541599" y="2569964"/>
            <a:ext cx="11105754" cy="337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599" y="2840633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A823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THE WORD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541599" y="3101380"/>
            <a:ext cx="11327869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66"/>
              </a:lnSpc>
              <a:buNone/>
            </a:pPr>
            <a:r>
              <a:rPr lang="en-US" sz="37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the word actually costs</a:t>
            </a:r>
            <a:endParaRPr lang="en-US" sz="3733" dirty="0"/>
          </a:p>
        </p:txBody>
      </p:sp>
      <p:sp>
        <p:nvSpPr>
          <p:cNvPr id="9" name="Text 7"/>
          <p:cNvSpPr/>
          <p:nvPr/>
        </p:nvSpPr>
        <p:spPr>
          <a:xfrm>
            <a:off x="541599" y="3863181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599" y="4040783"/>
            <a:ext cx="5639652" cy="166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2266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“Don’t blame people” is not a tone. It is a set of</a:t>
            </a:r>
            <a:endParaRPr lang="en-US" sz="2266" dirty="0"/>
          </a:p>
          <a:p>
            <a:pPr algn="l" indent="0" marL="0">
              <a:lnSpc>
                <a:spcPts val="3286"/>
              </a:lnSpc>
              <a:buNone/>
            </a:pPr>
            <a:r>
              <a:rPr lang="en-US" sz="2266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concessions an organisation has to make, and mostly does not. What follows is what they</a:t>
            </a:r>
            <a:endParaRPr lang="en-US" sz="2266" dirty="0"/>
          </a:p>
          <a:p>
            <a:pPr algn="l" indent="0" marL="0">
              <a:lnSpc>
                <a:spcPts val="3286"/>
              </a:lnSpc>
              <a:buNone/>
            </a:pPr>
            <a:r>
              <a:rPr lang="en-US" sz="2266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cost, and who has to pay.</a:t>
            </a:r>
            <a:endParaRPr lang="en-US" sz="2266" dirty="0"/>
          </a:p>
        </p:txBody>
      </p:sp>
      <p:sp>
        <p:nvSpPr>
          <p:cNvPr id="11" name="Text 9"/>
          <p:cNvSpPr/>
          <p:nvPr/>
        </p:nvSpPr>
        <p:spPr>
          <a:xfrm>
            <a:off x="6341469" y="4040783"/>
            <a:ext cx="8332" cy="1813123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20601" y="4040783"/>
            <a:ext cx="512728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BYLINE</a:t>
            </a:r>
            <a:endParaRPr lang="en-US" sz="1466" dirty="0"/>
          </a:p>
        </p:txBody>
      </p:sp>
      <p:sp>
        <p:nvSpPr>
          <p:cNvPr id="13" name="Text 11"/>
          <p:cNvSpPr/>
          <p:nvPr/>
        </p:nvSpPr>
        <p:spPr>
          <a:xfrm>
            <a:off x="6620601" y="4369197"/>
            <a:ext cx="5127287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533"/>
              </a:spcBef>
              <a:buNone/>
            </a:pPr>
            <a:r>
              <a:rPr lang="en-US" sz="1866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Presenter · Team</a:t>
            </a:r>
            <a:endParaRPr lang="en-US" sz="1866" dirty="0"/>
          </a:p>
        </p:txBody>
      </p:sp>
      <p:sp>
        <p:nvSpPr>
          <p:cNvPr id="14" name="Text 12"/>
          <p:cNvSpPr/>
          <p:nvPr/>
        </p:nvSpPr>
        <p:spPr>
          <a:xfrm>
            <a:off x="6620601" y="4814491"/>
            <a:ext cx="5026752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20601" y="4822825"/>
            <a:ext cx="5127287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Source — none.</a:t>
            </a:r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 metric, rate or duration appears in this deck; the argument is mechanical.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541599" y="5962452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1599" y="6089253"/>
            <a:ext cx="814097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EVERY CLAIM HERE IS MECHANICAL, NOT MEASURED.</a:t>
            </a:r>
            <a:endParaRPr lang="en-US" sz="1466" dirty="0"/>
          </a:p>
        </p:txBody>
      </p:sp>
      <p:sp>
        <p:nvSpPr>
          <p:cNvPr id="18" name="Text 16"/>
          <p:cNvSpPr/>
          <p:nvPr/>
        </p:nvSpPr>
        <p:spPr>
          <a:xfrm>
            <a:off x="9636097" y="6089253"/>
            <a:ext cx="2051482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 · 01</a:t>
            </a:r>
            <a:endParaRPr lang="en-US" sz="146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06400"/>
            <a:ext cx="53051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· PLATFORM ENGINEERING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074335" y="406400"/>
            <a:ext cx="160447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 02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541599" y="768747"/>
            <a:ext cx="11105754" cy="337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39416"/>
            <a:ext cx="11327869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66"/>
              </a:lnSpc>
              <a:buNone/>
            </a:pPr>
            <a:r>
              <a:rPr lang="en-US" sz="37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a review is for, and what it gets used for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541599" y="1801217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599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A823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 FOR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541599" y="2341166"/>
            <a:ext cx="3402003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Changing the system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541599" y="3045420"/>
            <a:ext cx="3402003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review earns its hour by changing the thing that failed — a guard,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default, a removed foot-gun. If nothing outside the document changes, the hour bought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document.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47696" y="1978819"/>
            <a:ext cx="8332" cy="3780433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26827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GETS USED FOR</a:t>
            </a:r>
            <a:endParaRPr lang="en-US" sz="1466" dirty="0"/>
          </a:p>
        </p:txBody>
      </p:sp>
      <p:sp>
        <p:nvSpPr>
          <p:cNvPr id="12" name="Text 10"/>
          <p:cNvSpPr/>
          <p:nvPr/>
        </p:nvSpPr>
        <p:spPr>
          <a:xfrm>
            <a:off x="4426827" y="2341166"/>
            <a:ext cx="3402003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Settling whether one person was careless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4426827" y="3045420"/>
            <a:ext cx="3402003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room can also answer a cheaper question, and closing it closes the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ticket. It ends the search at the first human in the chain, which is never where the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chain ends.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32924" y="1978819"/>
            <a:ext cx="8332" cy="3780433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2056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TELL THEM APART</a:t>
            </a:r>
            <a:endParaRPr lang="en-US" sz="1466" dirty="0"/>
          </a:p>
        </p:txBody>
      </p:sp>
      <p:sp>
        <p:nvSpPr>
          <p:cNvPr id="16" name="Text 14"/>
          <p:cNvSpPr/>
          <p:nvPr/>
        </p:nvSpPr>
        <p:spPr>
          <a:xfrm>
            <a:off x="8312056" y="2341166"/>
            <a:ext cx="3402003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 the last paragraph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8312056" y="3045420"/>
            <a:ext cx="3402003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One review ends in work the system will carry out. The other ends in an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assurance that someone now knows better. That is not a control; it leaves with the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person.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1599" y="5962452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1599" y="6089253"/>
            <a:ext cx="814097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EVERY CLAIM HERE IS MECHANICAL, NOT MEASURED.</a:t>
            </a:r>
            <a:endParaRPr lang="en-US" sz="1466" dirty="0"/>
          </a:p>
        </p:txBody>
      </p:sp>
      <p:sp>
        <p:nvSpPr>
          <p:cNvPr id="20" name="Text 18"/>
          <p:cNvSpPr/>
          <p:nvPr/>
        </p:nvSpPr>
        <p:spPr>
          <a:xfrm>
            <a:off x="9598006" y="6089253"/>
            <a:ext cx="209033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 · 02</a:t>
            </a:r>
            <a:endParaRPr lang="en-US" sz="146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06400"/>
            <a:ext cx="53051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· PLATFORM ENGINEERING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074335" y="406400"/>
            <a:ext cx="160447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 03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541599" y="768747"/>
            <a:ext cx="11105754" cy="337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39416"/>
            <a:ext cx="11327869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66"/>
              </a:lnSpc>
              <a:buNone/>
            </a:pPr>
            <a:r>
              <a:rPr lang="en-US" sz="37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concessions the word actually asks for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541599" y="1801217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599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A823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CONCESSION ONE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541599" y="2341166"/>
            <a:ext cx="3402003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names in the cause field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541599" y="3045420"/>
            <a:ext cx="3402003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name is not a mechanism. “Ran the wrong command” names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where the system allowed it. The field takes conditions: what was reachable, what was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open.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47696" y="1978819"/>
            <a:ext cx="8332" cy="3780433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26827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CONCESSION TWO</a:t>
            </a:r>
            <a:endParaRPr lang="en-US" sz="1466" dirty="0"/>
          </a:p>
        </p:txBody>
      </p:sp>
      <p:sp>
        <p:nvSpPr>
          <p:cNvPr id="12" name="Text 10"/>
          <p:cNvSpPr/>
          <p:nvPr/>
        </p:nvSpPr>
        <p:spPr>
          <a:xfrm>
            <a:off x="4426827" y="2341166"/>
            <a:ext cx="3402003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 owner and a date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4426827" y="3045420"/>
            <a:ext cx="3402003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One person, not a team; a calendar date, not a quarter. When a team owns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it, nobody is late, because nobody was ever due. Without both, it is a wish, not a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plan.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32924" y="1978819"/>
            <a:ext cx="8332" cy="3780433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2056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CONCESSION THREE</a:t>
            </a:r>
            <a:endParaRPr lang="en-US" sz="1466" dirty="0"/>
          </a:p>
        </p:txBody>
      </p:sp>
      <p:sp>
        <p:nvSpPr>
          <p:cNvPr id="16" name="Text 14"/>
          <p:cNvSpPr/>
          <p:nvPr/>
        </p:nvSpPr>
        <p:spPr>
          <a:xfrm>
            <a:off x="8312056" y="2341166"/>
            <a:ext cx="3402003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repeat is a new incident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8312056" y="3045420"/>
            <a:ext cx="3402003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If the same failure returns and nobody reopened the record, it is not the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old one again. It is evidence the first fix never landed: new review, new owner, new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1599" y="5962452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1599" y="6089253"/>
            <a:ext cx="814097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EVERY CLAIM HERE IS MECHANICAL, NOT MEASURED.</a:t>
            </a:r>
            <a:endParaRPr lang="en-US" sz="1466" dirty="0"/>
          </a:p>
        </p:txBody>
      </p:sp>
      <p:sp>
        <p:nvSpPr>
          <p:cNvPr id="20" name="Text 18"/>
          <p:cNvSpPr/>
          <p:nvPr/>
        </p:nvSpPr>
        <p:spPr>
          <a:xfrm>
            <a:off x="9598006" y="6089253"/>
            <a:ext cx="209033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 · 03</a:t>
            </a:r>
            <a:endParaRPr lang="en-US" sz="14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06400"/>
            <a:ext cx="53051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· PLATFORM ENGINEERING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061639" y="406400"/>
            <a:ext cx="161742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 04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541599" y="768747"/>
            <a:ext cx="11105754" cy="337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39416"/>
            <a:ext cx="11327869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66"/>
              </a:lnSpc>
              <a:buNone/>
            </a:pPr>
            <a:r>
              <a:rPr lang="en-US" sz="37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makes people tell the truth in one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541599" y="1801217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599" y="1978819"/>
            <a:ext cx="430673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A823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ROOM IS DECIDING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541599" y="2341166"/>
            <a:ext cx="4306735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 account is a bet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541599" y="3045420"/>
            <a:ext cx="4306735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person who knows what happened is also the person with the most to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lose by saying it. They are estimating what the transcript gets used for later, and the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estimate is usually right. Change the estimate, not the tone.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34688" y="1978819"/>
            <a:ext cx="8332" cy="3780433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13820" y="1978819"/>
            <a:ext cx="646020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CONDITIONS, NONE OF THEM TONE</a:t>
            </a:r>
            <a:endParaRPr lang="en-US" sz="1466" dirty="0"/>
          </a:p>
        </p:txBody>
      </p:sp>
      <p:sp>
        <p:nvSpPr>
          <p:cNvPr id="12" name="Shape 10"/>
          <p:cNvSpPr/>
          <p:nvPr/>
        </p:nvSpPr>
        <p:spPr>
          <a:xfrm>
            <a:off x="5313820" y="2381250"/>
            <a:ext cx="6333533" cy="0"/>
          </a:xfrm>
          <a:prstGeom prst="line">
            <a:avLst/>
          </a:prstGeom>
          <a:noFill/>
          <a:ln w="12698">
            <a:solidFill>
              <a:srgbClr val="1C1B1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13820" y="2455267"/>
            <a:ext cx="6460204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It is not evidence.</a:t>
            </a:r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Nothing said here reaches a performance file or a promotion packet.</a:t>
            </a:r>
            <a:endParaRPr lang="en-US" sz="1866" dirty="0"/>
          </a:p>
        </p:txBody>
      </p:sp>
      <p:sp>
        <p:nvSpPr>
          <p:cNvPr id="14" name="Shape 12"/>
          <p:cNvSpPr/>
          <p:nvPr/>
        </p:nvSpPr>
        <p:spPr>
          <a:xfrm>
            <a:off x="5313820" y="3216672"/>
            <a:ext cx="6333533" cy="0"/>
          </a:xfrm>
          <a:prstGeom prst="line">
            <a:avLst/>
          </a:prstGeom>
          <a:noFill/>
          <a:ln w="12698">
            <a:solidFill>
              <a:srgbClr val="1C1B1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13820" y="3290689"/>
            <a:ext cx="6460204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Not knowing is sayable.</a:t>
            </a:r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“I did not know that flag existed” has to cost nothing to say.</a:t>
            </a:r>
            <a:endParaRPr lang="en-US" sz="1866" dirty="0"/>
          </a:p>
        </p:txBody>
      </p:sp>
      <p:sp>
        <p:nvSpPr>
          <p:cNvPr id="16" name="Shape 14"/>
          <p:cNvSpPr/>
          <p:nvPr/>
        </p:nvSpPr>
        <p:spPr>
          <a:xfrm>
            <a:off x="5313820" y="4052094"/>
            <a:ext cx="6333533" cy="0"/>
          </a:xfrm>
          <a:prstGeom prst="line">
            <a:avLst/>
          </a:prstGeom>
          <a:noFill/>
          <a:ln w="12698">
            <a:solidFill>
              <a:srgbClr val="1C1B1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13820" y="4126111"/>
            <a:ext cx="6460204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Timeline before conclusion.</a:t>
            </a:r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Order the facts first, or the room reverse-engineers a culprit.</a:t>
            </a:r>
            <a:endParaRPr lang="en-US" sz="1866" dirty="0"/>
          </a:p>
        </p:txBody>
      </p:sp>
      <p:sp>
        <p:nvSpPr>
          <p:cNvPr id="18" name="Shape 16"/>
          <p:cNvSpPr/>
          <p:nvPr/>
        </p:nvSpPr>
        <p:spPr>
          <a:xfrm>
            <a:off x="5313820" y="4887516"/>
            <a:ext cx="6333533" cy="0"/>
          </a:xfrm>
          <a:prstGeom prst="line">
            <a:avLst/>
          </a:prstGeom>
          <a:noFill/>
          <a:ln w="12698">
            <a:solidFill>
              <a:srgbClr val="1C1B1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13820" y="4961533"/>
            <a:ext cx="6460204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closest person reads it.</a:t>
            </a:r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Whoever was at the keyboard writes it, or signs it before filing.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541599" y="5962452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1599" y="6089253"/>
            <a:ext cx="814097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EVERY CLAIM HERE IS MECHANICAL, NOT MEASURED.</a:t>
            </a:r>
            <a:endParaRPr lang="en-US" sz="1466" dirty="0"/>
          </a:p>
        </p:txBody>
      </p:sp>
      <p:sp>
        <p:nvSpPr>
          <p:cNvPr id="22" name="Text 20"/>
          <p:cNvSpPr/>
          <p:nvPr/>
        </p:nvSpPr>
        <p:spPr>
          <a:xfrm>
            <a:off x="9585309" y="6089253"/>
            <a:ext cx="210328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 · 04</a:t>
            </a:r>
            <a:endParaRPr lang="en-US" sz="146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06400"/>
            <a:ext cx="53051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· PLATFORM ENGINEERING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074335" y="406400"/>
            <a:ext cx="160447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 05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541599" y="768747"/>
            <a:ext cx="11105754" cy="337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39416"/>
            <a:ext cx="11327869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66"/>
              </a:lnSpc>
              <a:buNone/>
            </a:pPr>
            <a:r>
              <a:rPr lang="en-US" sz="37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Keeping the word, dropping the bill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541599" y="1801217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599" y="1978819"/>
            <a:ext cx="448622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A823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GOES QUIETLY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541599" y="2341166"/>
            <a:ext cx="4486225" cy="70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Saying it is free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541599" y="3045420"/>
            <a:ext cx="4486225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word survives because saying it costs nothing. The concessions are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not free, so the concessions are what gets dropped — quietly, one meeting at a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time. Nobody decides to drop them; they are simply never paid.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0658" y="1978819"/>
            <a:ext cx="8332" cy="3863181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9790" y="1978819"/>
            <a:ext cx="628071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YOUR LAST REVIEW FOR THESE</a:t>
            </a:r>
            <a:endParaRPr lang="en-US" sz="1466" dirty="0"/>
          </a:p>
        </p:txBody>
      </p:sp>
      <p:sp>
        <p:nvSpPr>
          <p:cNvPr id="12" name="Shape 10"/>
          <p:cNvSpPr/>
          <p:nvPr/>
        </p:nvSpPr>
        <p:spPr>
          <a:xfrm>
            <a:off x="5489790" y="2381250"/>
            <a:ext cx="6157563" cy="0"/>
          </a:xfrm>
          <a:prstGeom prst="line">
            <a:avLst/>
          </a:prstGeom>
          <a:noFill/>
          <a:ln w="12698">
            <a:solidFill>
              <a:srgbClr val="1C1B1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9790" y="2590800"/>
            <a:ext cx="628071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cause field says “human error.”</a:t>
            </a:r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The search stopped at the first person it found.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9790" y="3536950"/>
            <a:ext cx="6157563" cy="0"/>
          </a:xfrm>
          <a:prstGeom prst="line">
            <a:avLst/>
          </a:prstGeom>
          <a:noFill/>
          <a:ln w="12698">
            <a:solidFill>
              <a:srgbClr val="1C1B1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9790" y="3746500"/>
            <a:ext cx="628071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Action items are owned by a team.</a:t>
            </a:r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Nobody is late, because nobody was ever due.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9790" y="4692650"/>
            <a:ext cx="6157563" cy="0"/>
          </a:xfrm>
          <a:prstGeom prst="line">
            <a:avLst/>
          </a:prstGeom>
          <a:noFill/>
          <a:ln w="12698">
            <a:solidFill>
              <a:srgbClr val="1C1B1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9790" y="4902200"/>
            <a:ext cx="628071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1C1B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same failure is filed twice.</a:t>
            </a:r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Two titles, one condition nobody fixed.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1599" y="5962452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1599" y="6089253"/>
            <a:ext cx="814097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EVERY CLAIM HERE IS MECHANICAL, NOT MEASURED.</a:t>
            </a:r>
            <a:endParaRPr lang="en-US" sz="1466" dirty="0"/>
          </a:p>
        </p:txBody>
      </p:sp>
      <p:sp>
        <p:nvSpPr>
          <p:cNvPr id="20" name="Text 18"/>
          <p:cNvSpPr/>
          <p:nvPr/>
        </p:nvSpPr>
        <p:spPr>
          <a:xfrm>
            <a:off x="9598006" y="6089253"/>
            <a:ext cx="209033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 · 05</a:t>
            </a:r>
            <a:endParaRPr lang="en-US" sz="146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06400"/>
            <a:ext cx="530515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REVIEW · PLATFORM ENGINEERING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10074335" y="406400"/>
            <a:ext cx="160447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 06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541599" y="768747"/>
            <a:ext cx="11105754" cy="337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039416"/>
            <a:ext cx="11327869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66"/>
              </a:lnSpc>
              <a:buNone/>
            </a:pPr>
            <a:r>
              <a:rPr lang="en-US" sz="37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 need to decide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541599" y="1801217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599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ONE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541599" y="2341166"/>
            <a:ext cx="3402003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Who writes it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541599" y="2693194"/>
            <a:ext cx="3402003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person at the keyboard, the service owner, or an author who was not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 the incident? Name the default, and name who may override it.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47696" y="1978819"/>
            <a:ext cx="8332" cy="2971205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26827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TWO</a:t>
            </a:r>
            <a:endParaRPr lang="en-US" sz="1466" dirty="0"/>
          </a:p>
        </p:txBody>
      </p:sp>
      <p:sp>
        <p:nvSpPr>
          <p:cNvPr id="12" name="Text 10"/>
          <p:cNvSpPr/>
          <p:nvPr/>
        </p:nvSpPr>
        <p:spPr>
          <a:xfrm>
            <a:off x="4426827" y="2341166"/>
            <a:ext cx="3402003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the deadline is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4426827" y="2693194"/>
            <a:ext cx="3402003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How many working days from resolution to a filed review? And who is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allowed to say it slips, to whom, and on what record?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32924" y="1978819"/>
            <a:ext cx="8332" cy="2971205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2056" y="1978819"/>
            <a:ext cx="340200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THREE</a:t>
            </a:r>
            <a:endParaRPr lang="en-US" sz="1466" dirty="0"/>
          </a:p>
        </p:txBody>
      </p:sp>
      <p:sp>
        <p:nvSpPr>
          <p:cNvPr id="16" name="Text 14"/>
          <p:cNvSpPr/>
          <p:nvPr/>
        </p:nvSpPr>
        <p:spPr>
          <a:xfrm>
            <a:off x="8312056" y="2341166"/>
            <a:ext cx="3402003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3"/>
              </a:lnSpc>
              <a:spcBef>
                <a:spcPts val="800"/>
              </a:spcBef>
              <a:buNone/>
            </a:pPr>
            <a:r>
              <a:rPr lang="en-US" sz="2133" b="1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When items are not done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8312056" y="2693194"/>
            <a:ext cx="3402003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What happens on the date? “Nothing” is a permitted answer.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E2C2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It only has to be the answer we chose out loud, before the date.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1599" y="5153223"/>
            <a:ext cx="11105754" cy="33734"/>
          </a:xfrm>
          <a:prstGeom prst="rect">
            <a:avLst/>
          </a:prstGeom>
          <a:solidFill>
            <a:srgbClr val="A823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1599" y="5356225"/>
            <a:ext cx="11327869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73"/>
              </a:lnSpc>
              <a:spcBef>
                <a:spcPts val="1333"/>
              </a:spcBef>
              <a:buNone/>
            </a:pPr>
            <a:r>
              <a:rPr lang="en-US" sz="2266" dirty="0">
                <a:solidFill>
                  <a:srgbClr val="1C1B1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Blameless costs three concessions. We pay them, or we stop using the word.</a:t>
            </a:r>
            <a:endParaRPr lang="en-US" sz="2266" dirty="0"/>
          </a:p>
        </p:txBody>
      </p:sp>
      <p:sp>
        <p:nvSpPr>
          <p:cNvPr id="20" name="Text 18"/>
          <p:cNvSpPr/>
          <p:nvPr/>
        </p:nvSpPr>
        <p:spPr>
          <a:xfrm>
            <a:off x="541599" y="5962452"/>
            <a:ext cx="11105754" cy="8334"/>
          </a:xfrm>
          <a:prstGeom prst="rect">
            <a:avLst/>
          </a:prstGeom>
          <a:solidFill>
            <a:srgbClr val="1C1B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1599" y="6089253"/>
            <a:ext cx="814097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EVERY CLAIM HERE IS MECHANICAL, NOT MEASURED.</a:t>
            </a:r>
            <a:endParaRPr lang="en-US" sz="1466" dirty="0"/>
          </a:p>
        </p:txBody>
      </p:sp>
      <p:sp>
        <p:nvSpPr>
          <p:cNvPr id="22" name="Text 20"/>
          <p:cNvSpPr/>
          <p:nvPr/>
        </p:nvSpPr>
        <p:spPr>
          <a:xfrm>
            <a:off x="9598006" y="6089253"/>
            <a:ext cx="209033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2E2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 · 06</a:t>
            </a:r>
            <a:endParaRPr lang="en-US" sz="146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2026-08-27T16:57:15Z</dcterms:created>
  <dcterms:modified xsi:type="dcterms:W3CDTF">2026-08-27T16:57:15Z</dcterms:modified>
</cp:coreProperties>
</file>