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7098" y="541734"/>
            <a:ext cx="11051451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ENGINEERING · OBSERVABILITY BUDGET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677098" y="937816"/>
            <a:ext cx="10834756" cy="12700"/>
          </a:xfrm>
          <a:prstGeom prst="rect">
            <a:avLst/>
          </a:prstGeom>
          <a:solidFill>
            <a:srgbClr val="DAD3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7098" y="1289050"/>
            <a:ext cx="11051451" cy="2560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79"/>
              </a:lnSpc>
              <a:spcAft>
                <a:spcPts val="2933"/>
              </a:spcAft>
              <a:buNone/>
            </a:pPr>
            <a:r>
              <a:rPr lang="en-US" sz="7466" dirty="0">
                <a:solidFill>
                  <a:srgbClr val="1F1B1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Logs cost the most</a:t>
            </a:r>
            <a:endParaRPr lang="en-US" sz="7466" dirty="0"/>
          </a:p>
          <a:p>
            <a:pPr algn="l" indent="0" marL="0">
              <a:lnSpc>
                <a:spcPts val="10079"/>
              </a:lnSpc>
              <a:spcAft>
                <a:spcPts val="2933"/>
              </a:spcAft>
              <a:buNone/>
            </a:pPr>
            <a:r>
              <a:rPr lang="en-US" sz="7466" dirty="0">
                <a:solidFill>
                  <a:srgbClr val="1F1B1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and get read the least</a:t>
            </a:r>
            <a:endParaRPr lang="en-US" sz="7466" dirty="0"/>
          </a:p>
        </p:txBody>
      </p:sp>
      <p:sp>
        <p:nvSpPr>
          <p:cNvPr id="5" name="Shape 3"/>
          <p:cNvSpPr/>
          <p:nvPr/>
        </p:nvSpPr>
        <p:spPr>
          <a:xfrm>
            <a:off x="727885" y="4221758"/>
            <a:ext cx="0" cy="812403"/>
          </a:xfrm>
          <a:prstGeom prst="line">
            <a:avLst/>
          </a:prstGeom>
          <a:noFill/>
          <a:ln w="101587">
            <a:solidFill>
              <a:srgbClr val="B5503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49472" y="4221758"/>
            <a:ext cx="10671630" cy="812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133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Metrics, logs and traces answer different questions and have different cost</a:t>
            </a:r>
            <a:endParaRPr lang="en-US" sz="2133" dirty="0"/>
          </a:p>
          <a:p>
            <a:pPr algn="l" indent="0" marL="0">
              <a:lnSpc>
                <a:spcPts val="3200"/>
              </a:lnSpc>
              <a:buNone/>
            </a:pPr>
            <a:r>
              <a:rPr lang="en-US" sz="2133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curves. One line item hides all three.</a:t>
            </a:r>
            <a:endParaRPr lang="en-US" sz="2133" dirty="0"/>
          </a:p>
        </p:txBody>
      </p:sp>
      <p:sp>
        <p:nvSpPr>
          <p:cNvPr id="7" name="Text 5"/>
          <p:cNvSpPr/>
          <p:nvPr/>
        </p:nvSpPr>
        <p:spPr>
          <a:xfrm>
            <a:off x="677098" y="5375870"/>
            <a:ext cx="11051451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spcBef>
                <a:spcPts val="2690"/>
              </a:spcBef>
              <a:buNone/>
            </a:pPr>
            <a:r>
              <a:rPr lang="en-US" sz="14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 · TEAM</a:t>
            </a:r>
            <a:endParaRPr lang="en-US" sz="1466" dirty="0"/>
          </a:p>
        </p:txBody>
      </p:sp>
      <p:sp>
        <p:nvSpPr>
          <p:cNvPr id="8" name="Text 6"/>
          <p:cNvSpPr/>
          <p:nvPr/>
        </p:nvSpPr>
        <p:spPr>
          <a:xfrm>
            <a:off x="677098" y="5907484"/>
            <a:ext cx="10834756" cy="12700"/>
          </a:xfrm>
          <a:prstGeom prst="rect">
            <a:avLst/>
          </a:prstGeom>
          <a:solidFill>
            <a:srgbClr val="DAD3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7098" y="6055519"/>
            <a:ext cx="728885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06</a:t>
            </a:r>
            <a:endParaRPr lang="en-US" sz="1466" dirty="0"/>
          </a:p>
        </p:txBody>
      </p:sp>
      <p:sp>
        <p:nvSpPr>
          <p:cNvPr id="10" name="Text 8"/>
          <p:cNvSpPr/>
          <p:nvPr/>
        </p:nvSpPr>
        <p:spPr>
          <a:xfrm>
            <a:off x="4725655" y="6055519"/>
            <a:ext cx="6786199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none — this deck cites no cost figures; the argument is structural.</a:t>
            </a:r>
            <a:endParaRPr lang="en-US" sz="146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7098" y="541734"/>
            <a:ext cx="11051451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ENGINEERING · OBSERVABILITY BUDGET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677098" y="937816"/>
            <a:ext cx="10834756" cy="12700"/>
          </a:xfrm>
          <a:prstGeom prst="rect">
            <a:avLst/>
          </a:prstGeom>
          <a:solidFill>
            <a:srgbClr val="DAD3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7098" y="1289050"/>
            <a:ext cx="11051451" cy="59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79"/>
              </a:lnSpc>
              <a:spcAft>
                <a:spcPts val="1866"/>
              </a:spcAft>
              <a:buNone/>
            </a:pPr>
            <a:r>
              <a:rPr lang="en-US" sz="3466" b="1" dirty="0">
                <a:solidFill>
                  <a:srgbClr val="1F1B1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Three signals answer three different questions</a:t>
            </a:r>
            <a:endParaRPr lang="en-US" sz="3466" dirty="0"/>
          </a:p>
        </p:txBody>
      </p:sp>
      <p:sp>
        <p:nvSpPr>
          <p:cNvPr id="5" name="Shape 3"/>
          <p:cNvSpPr/>
          <p:nvPr/>
        </p:nvSpPr>
        <p:spPr>
          <a:xfrm>
            <a:off x="683446" y="2120305"/>
            <a:ext cx="0" cy="744934"/>
          </a:xfrm>
          <a:prstGeom prst="line">
            <a:avLst/>
          </a:prstGeom>
          <a:noFill/>
          <a:ln w="1269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573091" y="2145705"/>
            <a:ext cx="2979588" cy="0"/>
          </a:xfrm>
          <a:prstGeom prst="line">
            <a:avLst/>
          </a:prstGeom>
          <a:noFill/>
          <a:ln w="50794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579439" y="2120305"/>
            <a:ext cx="0" cy="744934"/>
          </a:xfrm>
          <a:prstGeom prst="line">
            <a:avLst/>
          </a:prstGeom>
          <a:noFill/>
          <a:ln w="12698">
            <a:solidFill>
              <a:srgbClr val="DAD3C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856587" y="2238772"/>
            <a:ext cx="247379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666" b="1" dirty="0">
                <a:solidFill>
                  <a:srgbClr val="1F1B1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Metrics</a:t>
            </a:r>
            <a:endParaRPr lang="en-US" sz="2666" dirty="0"/>
          </a:p>
        </p:txBody>
      </p:sp>
      <p:sp>
        <p:nvSpPr>
          <p:cNvPr id="9" name="Shape 7"/>
          <p:cNvSpPr/>
          <p:nvPr/>
        </p:nvSpPr>
        <p:spPr>
          <a:xfrm>
            <a:off x="5552679" y="2145705"/>
            <a:ext cx="2979588" cy="0"/>
          </a:xfrm>
          <a:prstGeom prst="line">
            <a:avLst/>
          </a:prstGeom>
          <a:noFill/>
          <a:ln w="50794">
            <a:solidFill>
              <a:srgbClr val="B5503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559027" y="2120305"/>
            <a:ext cx="0" cy="744934"/>
          </a:xfrm>
          <a:prstGeom prst="line">
            <a:avLst/>
          </a:prstGeom>
          <a:noFill/>
          <a:ln w="12698">
            <a:solidFill>
              <a:srgbClr val="DAD3C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836175" y="2238772"/>
            <a:ext cx="247379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666" b="1" dirty="0">
                <a:solidFill>
                  <a:srgbClr val="B550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Logs</a:t>
            </a:r>
            <a:endParaRPr lang="en-US" sz="2666" dirty="0"/>
          </a:p>
        </p:txBody>
      </p:sp>
      <p:sp>
        <p:nvSpPr>
          <p:cNvPr id="12" name="Shape 10"/>
          <p:cNvSpPr/>
          <p:nvPr/>
        </p:nvSpPr>
        <p:spPr>
          <a:xfrm>
            <a:off x="8532266" y="2145705"/>
            <a:ext cx="2979588" cy="0"/>
          </a:xfrm>
          <a:prstGeom prst="line">
            <a:avLst/>
          </a:prstGeom>
          <a:noFill/>
          <a:ln w="50794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538615" y="2120305"/>
            <a:ext cx="0" cy="744934"/>
          </a:xfrm>
          <a:prstGeom prst="line">
            <a:avLst/>
          </a:prstGeom>
          <a:noFill/>
          <a:ln w="12698">
            <a:solidFill>
              <a:srgbClr val="DAD3C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815763" y="2238772"/>
            <a:ext cx="247379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666" b="1" dirty="0">
                <a:solidFill>
                  <a:srgbClr val="1F1B1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Traces</a:t>
            </a:r>
            <a:endParaRPr lang="en-US" sz="2666" dirty="0"/>
          </a:p>
        </p:txBody>
      </p:sp>
      <p:sp>
        <p:nvSpPr>
          <p:cNvPr id="15" name="Shape 13"/>
          <p:cNvSpPr/>
          <p:nvPr/>
        </p:nvSpPr>
        <p:spPr>
          <a:xfrm>
            <a:off x="683446" y="2865239"/>
            <a:ext cx="0" cy="923727"/>
          </a:xfrm>
          <a:prstGeom prst="line">
            <a:avLst/>
          </a:prstGeom>
          <a:noFill/>
          <a:ln w="1269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89795" y="3068439"/>
            <a:ext cx="1644747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ANSWERS</a:t>
            </a:r>
            <a:endParaRPr lang="en-US" sz="1466" dirty="0"/>
          </a:p>
        </p:txBody>
      </p:sp>
      <p:sp>
        <p:nvSpPr>
          <p:cNvPr id="17" name="Shape 15"/>
          <p:cNvSpPr/>
          <p:nvPr/>
        </p:nvSpPr>
        <p:spPr>
          <a:xfrm>
            <a:off x="2579439" y="2865239"/>
            <a:ext cx="0" cy="923727"/>
          </a:xfrm>
          <a:prstGeom prst="line">
            <a:avLst/>
          </a:prstGeom>
          <a:noFill/>
          <a:ln w="12698">
            <a:solidFill>
              <a:srgbClr val="DAD3C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856587" y="3051373"/>
            <a:ext cx="2473798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it happening, and how much</a:t>
            </a:r>
            <a:endParaRPr lang="en-US" sz="1866" dirty="0"/>
          </a:p>
        </p:txBody>
      </p:sp>
      <p:sp>
        <p:nvSpPr>
          <p:cNvPr id="19" name="Shape 17"/>
          <p:cNvSpPr/>
          <p:nvPr/>
        </p:nvSpPr>
        <p:spPr>
          <a:xfrm>
            <a:off x="5559027" y="2865239"/>
            <a:ext cx="0" cy="923727"/>
          </a:xfrm>
          <a:prstGeom prst="line">
            <a:avLst/>
          </a:prstGeom>
          <a:noFill/>
          <a:ln w="12698">
            <a:solidFill>
              <a:srgbClr val="DAD3C4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836175" y="3051373"/>
            <a:ext cx="2473798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code actually did</a:t>
            </a:r>
            <a:endParaRPr lang="en-US" sz="1866" dirty="0"/>
          </a:p>
        </p:txBody>
      </p:sp>
      <p:sp>
        <p:nvSpPr>
          <p:cNvPr id="21" name="Shape 19"/>
          <p:cNvSpPr/>
          <p:nvPr/>
        </p:nvSpPr>
        <p:spPr>
          <a:xfrm>
            <a:off x="8538615" y="2865239"/>
            <a:ext cx="0" cy="923727"/>
          </a:xfrm>
          <a:prstGeom prst="line">
            <a:avLst/>
          </a:prstGeom>
          <a:noFill/>
          <a:ln w="12698">
            <a:solidFill>
              <a:srgbClr val="DAD3C4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815763" y="3051373"/>
            <a:ext cx="2473798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time went, hop by hop</a:t>
            </a:r>
            <a:endParaRPr lang="en-US" sz="1866" dirty="0"/>
          </a:p>
        </p:txBody>
      </p:sp>
      <p:sp>
        <p:nvSpPr>
          <p:cNvPr id="23" name="Shape 21"/>
          <p:cNvSpPr/>
          <p:nvPr/>
        </p:nvSpPr>
        <p:spPr>
          <a:xfrm>
            <a:off x="683446" y="3788966"/>
            <a:ext cx="0" cy="923727"/>
          </a:xfrm>
          <a:prstGeom prst="line">
            <a:avLst/>
          </a:prstGeom>
          <a:noFill/>
          <a:ln w="1269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9795" y="3992166"/>
            <a:ext cx="1644747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BLIND TO</a:t>
            </a:r>
            <a:endParaRPr lang="en-US" sz="1466" dirty="0"/>
          </a:p>
        </p:txBody>
      </p:sp>
      <p:sp>
        <p:nvSpPr>
          <p:cNvPr id="25" name="Shape 23"/>
          <p:cNvSpPr/>
          <p:nvPr/>
        </p:nvSpPr>
        <p:spPr>
          <a:xfrm>
            <a:off x="2579439" y="3788966"/>
            <a:ext cx="0" cy="923727"/>
          </a:xfrm>
          <a:prstGeom prst="line">
            <a:avLst/>
          </a:prstGeom>
          <a:noFill/>
          <a:ln w="12698">
            <a:solidFill>
              <a:srgbClr val="DAD3C4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856587" y="3975100"/>
            <a:ext cx="2473798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request. Which user.</a:t>
            </a:r>
            <a:endParaRPr lang="en-US" sz="1866" dirty="0"/>
          </a:p>
        </p:txBody>
      </p:sp>
      <p:sp>
        <p:nvSpPr>
          <p:cNvPr id="27" name="Shape 25"/>
          <p:cNvSpPr/>
          <p:nvPr/>
        </p:nvSpPr>
        <p:spPr>
          <a:xfrm>
            <a:off x="5559027" y="3788966"/>
            <a:ext cx="0" cy="923727"/>
          </a:xfrm>
          <a:prstGeom prst="line">
            <a:avLst/>
          </a:prstGeom>
          <a:noFill/>
          <a:ln w="12698">
            <a:solidFill>
              <a:srgbClr val="DAD3C4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836175" y="3975100"/>
            <a:ext cx="2473798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time went</a:t>
            </a:r>
            <a:endParaRPr lang="en-US" sz="1866" dirty="0"/>
          </a:p>
        </p:txBody>
      </p:sp>
      <p:sp>
        <p:nvSpPr>
          <p:cNvPr id="29" name="Shape 27"/>
          <p:cNvSpPr/>
          <p:nvPr/>
        </p:nvSpPr>
        <p:spPr>
          <a:xfrm>
            <a:off x="8538615" y="3788966"/>
            <a:ext cx="0" cy="923727"/>
          </a:xfrm>
          <a:prstGeom prst="line">
            <a:avLst/>
          </a:prstGeom>
          <a:noFill/>
          <a:ln w="12698">
            <a:solidFill>
              <a:srgbClr val="DAD3C4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815763" y="3975100"/>
            <a:ext cx="2473798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code was thinking</a:t>
            </a:r>
            <a:endParaRPr lang="en-US" sz="1866" dirty="0"/>
          </a:p>
        </p:txBody>
      </p:sp>
      <p:sp>
        <p:nvSpPr>
          <p:cNvPr id="31" name="Shape 29"/>
          <p:cNvSpPr/>
          <p:nvPr/>
        </p:nvSpPr>
        <p:spPr>
          <a:xfrm>
            <a:off x="683446" y="4712692"/>
            <a:ext cx="0" cy="923925"/>
          </a:xfrm>
          <a:prstGeom prst="line">
            <a:avLst/>
          </a:prstGeom>
          <a:noFill/>
          <a:ln w="1269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89795" y="4915892"/>
            <a:ext cx="1644747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GROWS WITH</a:t>
            </a:r>
            <a:endParaRPr lang="en-US" sz="1466" dirty="0"/>
          </a:p>
        </p:txBody>
      </p:sp>
      <p:sp>
        <p:nvSpPr>
          <p:cNvPr id="33" name="Shape 31"/>
          <p:cNvSpPr/>
          <p:nvPr/>
        </p:nvSpPr>
        <p:spPr>
          <a:xfrm>
            <a:off x="2579439" y="4712692"/>
            <a:ext cx="0" cy="923925"/>
          </a:xfrm>
          <a:prstGeom prst="line">
            <a:avLst/>
          </a:prstGeom>
          <a:noFill/>
          <a:ln w="12698">
            <a:solidFill>
              <a:srgbClr val="DAD3C4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856587" y="4898827"/>
            <a:ext cx="2473798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 cardinality, not traffic</a:t>
            </a:r>
            <a:endParaRPr lang="en-US" sz="1866" dirty="0"/>
          </a:p>
        </p:txBody>
      </p:sp>
      <p:sp>
        <p:nvSpPr>
          <p:cNvPr id="35" name="Shape 33"/>
          <p:cNvSpPr/>
          <p:nvPr/>
        </p:nvSpPr>
        <p:spPr>
          <a:xfrm>
            <a:off x="5559027" y="4712692"/>
            <a:ext cx="0" cy="923925"/>
          </a:xfrm>
          <a:prstGeom prst="line">
            <a:avLst/>
          </a:prstGeom>
          <a:noFill/>
          <a:ln w="12698">
            <a:solidFill>
              <a:srgbClr val="DAD3C4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836175" y="4898827"/>
            <a:ext cx="2473798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Traffic, replicas and days kept</a:t>
            </a:r>
            <a:endParaRPr lang="en-US" sz="1866" dirty="0"/>
          </a:p>
        </p:txBody>
      </p:sp>
      <p:sp>
        <p:nvSpPr>
          <p:cNvPr id="37" name="Shape 35"/>
          <p:cNvSpPr/>
          <p:nvPr/>
        </p:nvSpPr>
        <p:spPr>
          <a:xfrm>
            <a:off x="8538615" y="4712692"/>
            <a:ext cx="0" cy="923925"/>
          </a:xfrm>
          <a:prstGeom prst="line">
            <a:avLst/>
          </a:prstGeom>
          <a:noFill/>
          <a:ln w="12698">
            <a:solidFill>
              <a:srgbClr val="DAD3C4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815763" y="4898827"/>
            <a:ext cx="2473798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Sampled share, span width</a:t>
            </a:r>
            <a:endParaRPr lang="en-US" sz="1866" dirty="0"/>
          </a:p>
        </p:txBody>
      </p:sp>
      <p:sp>
        <p:nvSpPr>
          <p:cNvPr id="39" name="Text 37"/>
          <p:cNvSpPr/>
          <p:nvPr/>
        </p:nvSpPr>
        <p:spPr>
          <a:xfrm>
            <a:off x="677098" y="5907484"/>
            <a:ext cx="10834756" cy="12700"/>
          </a:xfrm>
          <a:prstGeom prst="rect">
            <a:avLst/>
          </a:prstGeom>
          <a:solidFill>
            <a:srgbClr val="DAD3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77098" y="6055519"/>
            <a:ext cx="767737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06</a:t>
            </a:r>
            <a:endParaRPr lang="en-US" sz="1466" dirty="0"/>
          </a:p>
        </p:txBody>
      </p:sp>
      <p:sp>
        <p:nvSpPr>
          <p:cNvPr id="41" name="Text 39"/>
          <p:cNvSpPr/>
          <p:nvPr/>
        </p:nvSpPr>
        <p:spPr>
          <a:xfrm>
            <a:off x="4725655" y="6055519"/>
            <a:ext cx="6786199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none — this deck cites no cost figures; the argument is structural.</a:t>
            </a:r>
            <a:endParaRPr lang="en-US" sz="146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7098" y="541734"/>
            <a:ext cx="11051451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ENGINEERING · OBSERVABILITY BUDGET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677098" y="937816"/>
            <a:ext cx="10834756" cy="12700"/>
          </a:xfrm>
          <a:prstGeom prst="rect">
            <a:avLst/>
          </a:prstGeom>
          <a:solidFill>
            <a:srgbClr val="DAD3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7098" y="1289050"/>
            <a:ext cx="11051451" cy="59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79"/>
              </a:lnSpc>
              <a:spcAft>
                <a:spcPts val="1866"/>
              </a:spcAft>
              <a:buNone/>
            </a:pPr>
            <a:r>
              <a:rPr lang="en-US" sz="3466" b="1" dirty="0">
                <a:solidFill>
                  <a:srgbClr val="1F1B1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Volume grows with traffic. Readership does not.</a:t>
            </a:r>
            <a:endParaRPr lang="en-US" sz="3466" dirty="0"/>
          </a:p>
        </p:txBody>
      </p:sp>
      <p:sp>
        <p:nvSpPr>
          <p:cNvPr id="5" name="Text 3"/>
          <p:cNvSpPr/>
          <p:nvPr/>
        </p:nvSpPr>
        <p:spPr>
          <a:xfrm>
            <a:off x="926670" y="2369939"/>
            <a:ext cx="4843990" cy="430014"/>
          </a:xfrm>
          <a:prstGeom prst="rect">
            <a:avLst/>
          </a:prstGeom>
          <a:noFill/>
          <a:ln/>
        </p:spPr>
        <p:txBody>
          <a:bodyPr wrap="square" lIns="0" tIns="0" rIns="0" bIns="169312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MULTIPLIES</a:t>
            </a:r>
            <a:endParaRPr lang="en-US" sz="1466" dirty="0"/>
          </a:p>
        </p:txBody>
      </p:sp>
      <p:sp>
        <p:nvSpPr>
          <p:cNvPr id="6" name="Text 4"/>
          <p:cNvSpPr/>
          <p:nvPr/>
        </p:nvSpPr>
        <p:spPr>
          <a:xfrm>
            <a:off x="1163545" y="2799953"/>
            <a:ext cx="4602377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Requests per second</a:t>
            </a:r>
            <a:endParaRPr lang="en-US" sz="1866" dirty="0"/>
          </a:p>
        </p:txBody>
      </p:sp>
      <p:sp>
        <p:nvSpPr>
          <p:cNvPr id="7" name="Text 5"/>
          <p:cNvSpPr/>
          <p:nvPr/>
        </p:nvSpPr>
        <p:spPr>
          <a:xfrm>
            <a:off x="926670" y="3318073"/>
            <a:ext cx="241613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b="1" dirty="0">
                <a:solidFill>
                  <a:srgbClr val="B55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</a:t>
            </a:r>
            <a:endParaRPr lang="en-US" sz="1866" dirty="0"/>
          </a:p>
        </p:txBody>
      </p:sp>
      <p:sp>
        <p:nvSpPr>
          <p:cNvPr id="8" name="Text 6"/>
          <p:cNvSpPr/>
          <p:nvPr/>
        </p:nvSpPr>
        <p:spPr>
          <a:xfrm>
            <a:off x="1163545" y="3318073"/>
            <a:ext cx="4602377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lines emitted per request</a:t>
            </a:r>
            <a:endParaRPr lang="en-US" sz="1866" dirty="0"/>
          </a:p>
        </p:txBody>
      </p:sp>
      <p:sp>
        <p:nvSpPr>
          <p:cNvPr id="9" name="Text 7"/>
          <p:cNvSpPr/>
          <p:nvPr/>
        </p:nvSpPr>
        <p:spPr>
          <a:xfrm>
            <a:off x="926670" y="3836194"/>
            <a:ext cx="241613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b="1" dirty="0">
                <a:solidFill>
                  <a:srgbClr val="B55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</a:t>
            </a:r>
            <a:endParaRPr lang="en-US" sz="1866" dirty="0"/>
          </a:p>
        </p:txBody>
      </p:sp>
      <p:sp>
        <p:nvSpPr>
          <p:cNvPr id="10" name="Text 8"/>
          <p:cNvSpPr/>
          <p:nvPr/>
        </p:nvSpPr>
        <p:spPr>
          <a:xfrm>
            <a:off x="1163545" y="3836194"/>
            <a:ext cx="4602377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Replicas emitting the same line</a:t>
            </a:r>
            <a:endParaRPr lang="en-US" sz="1866" dirty="0"/>
          </a:p>
        </p:txBody>
      </p:sp>
      <p:sp>
        <p:nvSpPr>
          <p:cNvPr id="11" name="Text 9"/>
          <p:cNvSpPr/>
          <p:nvPr/>
        </p:nvSpPr>
        <p:spPr>
          <a:xfrm>
            <a:off x="926670" y="4354314"/>
            <a:ext cx="241613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b="1" dirty="0">
                <a:solidFill>
                  <a:srgbClr val="B55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</a:t>
            </a:r>
            <a:endParaRPr lang="en-US" sz="1866" dirty="0"/>
          </a:p>
        </p:txBody>
      </p:sp>
      <p:sp>
        <p:nvSpPr>
          <p:cNvPr id="12" name="Text 10"/>
          <p:cNvSpPr/>
          <p:nvPr/>
        </p:nvSpPr>
        <p:spPr>
          <a:xfrm>
            <a:off x="1163545" y="4354314"/>
            <a:ext cx="4602377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 retained, indexed, replicated</a:t>
            </a:r>
            <a:endParaRPr lang="en-US" sz="1866" dirty="0"/>
          </a:p>
        </p:txBody>
      </p:sp>
      <p:sp>
        <p:nvSpPr>
          <p:cNvPr id="13" name="Text 11"/>
          <p:cNvSpPr/>
          <p:nvPr/>
        </p:nvSpPr>
        <p:spPr>
          <a:xfrm>
            <a:off x="6513273" y="2369939"/>
            <a:ext cx="4843990" cy="430014"/>
          </a:xfrm>
          <a:prstGeom prst="rect">
            <a:avLst/>
          </a:prstGeom>
          <a:noFill/>
          <a:ln/>
        </p:spPr>
        <p:txBody>
          <a:bodyPr wrap="square" lIns="0" tIns="0" rIns="0" bIns="169312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NOT</a:t>
            </a:r>
            <a:endParaRPr lang="en-US" sz="1466" dirty="0"/>
          </a:p>
        </p:txBody>
      </p:sp>
      <p:sp>
        <p:nvSpPr>
          <p:cNvPr id="14" name="Text 12"/>
          <p:cNvSpPr/>
          <p:nvPr/>
        </p:nvSpPr>
        <p:spPr>
          <a:xfrm>
            <a:off x="6750148" y="2799953"/>
            <a:ext cx="4602377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Incidents, one at a time</a:t>
            </a:r>
            <a:endParaRPr lang="en-US" sz="1866" dirty="0"/>
          </a:p>
        </p:txBody>
      </p:sp>
      <p:sp>
        <p:nvSpPr>
          <p:cNvPr id="15" name="Text 13"/>
          <p:cNvSpPr/>
          <p:nvPr/>
        </p:nvSpPr>
        <p:spPr>
          <a:xfrm>
            <a:off x="6750148" y="3318073"/>
            <a:ext cx="4602377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Engineers who open logs at all</a:t>
            </a:r>
            <a:endParaRPr lang="en-US" sz="1866" dirty="0"/>
          </a:p>
        </p:txBody>
      </p:sp>
      <p:sp>
        <p:nvSpPr>
          <p:cNvPr id="16" name="Text 14"/>
          <p:cNvSpPr/>
          <p:nvPr/>
        </p:nvSpPr>
        <p:spPr>
          <a:xfrm>
            <a:off x="6750148" y="3836194"/>
            <a:ext cx="4602377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window they read: minutes</a:t>
            </a:r>
            <a:endParaRPr lang="en-US" sz="1866" dirty="0"/>
          </a:p>
        </p:txBody>
      </p:sp>
      <p:sp>
        <p:nvSpPr>
          <p:cNvPr id="17" name="Text 15"/>
          <p:cNvSpPr/>
          <p:nvPr/>
        </p:nvSpPr>
        <p:spPr>
          <a:xfrm>
            <a:off x="6750148" y="4354314"/>
            <a:ext cx="4602377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three queries they know</a:t>
            </a:r>
            <a:endParaRPr lang="en-US" sz="1866" dirty="0"/>
          </a:p>
        </p:txBody>
      </p:sp>
      <p:sp>
        <p:nvSpPr>
          <p:cNvPr id="18" name="Text 16"/>
          <p:cNvSpPr/>
          <p:nvPr/>
        </p:nvSpPr>
        <p:spPr>
          <a:xfrm>
            <a:off x="677098" y="5230416"/>
            <a:ext cx="11051451" cy="406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133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is a </a:t>
            </a:r>
            <a:pPr algn="l" indent="0" marL="0">
              <a:lnSpc>
                <a:spcPts val="3200"/>
              </a:lnSpc>
              <a:buNone/>
            </a:pPr>
            <a:r>
              <a:rPr lang="en-US" sz="2133" b="1" dirty="0">
                <a:solidFill>
                  <a:srgbClr val="B55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</a:t>
            </a:r>
            <a:pPr algn="l" indent="0" marL="0">
              <a:lnSpc>
                <a:spcPts val="3200"/>
              </a:lnSpc>
              <a:buNone/>
            </a:pPr>
            <a:r>
              <a:rPr lang="en-US" sz="2133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Readership is a </a:t>
            </a:r>
            <a:pPr algn="l" indent="0" marL="0">
              <a:lnSpc>
                <a:spcPts val="3200"/>
              </a:lnSpc>
              <a:buNone/>
            </a:pPr>
            <a:r>
              <a:rPr lang="en-US" sz="2133" b="1" dirty="0">
                <a:solidFill>
                  <a:srgbClr val="B55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constant</a:t>
            </a:r>
            <a:pPr algn="l" indent="0" marL="0">
              <a:lnSpc>
                <a:spcPts val="3200"/>
              </a:lnSpc>
              <a:buNone/>
            </a:pPr>
            <a:r>
              <a:rPr lang="en-US" sz="2133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That gap is the whole argument.</a:t>
            </a:r>
            <a:endParaRPr lang="en-US" sz="2133" dirty="0"/>
          </a:p>
        </p:txBody>
      </p:sp>
      <p:sp>
        <p:nvSpPr>
          <p:cNvPr id="19" name="Text 17"/>
          <p:cNvSpPr/>
          <p:nvPr/>
        </p:nvSpPr>
        <p:spPr>
          <a:xfrm>
            <a:off x="677098" y="5907484"/>
            <a:ext cx="10834756" cy="12700"/>
          </a:xfrm>
          <a:prstGeom prst="rect">
            <a:avLst/>
          </a:prstGeom>
          <a:solidFill>
            <a:srgbClr val="DAD3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7098" y="6055519"/>
            <a:ext cx="767737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06</a:t>
            </a:r>
            <a:endParaRPr lang="en-US" sz="1466" dirty="0"/>
          </a:p>
        </p:txBody>
      </p:sp>
      <p:sp>
        <p:nvSpPr>
          <p:cNvPr id="21" name="Text 19"/>
          <p:cNvSpPr/>
          <p:nvPr/>
        </p:nvSpPr>
        <p:spPr>
          <a:xfrm>
            <a:off x="4725655" y="6055519"/>
            <a:ext cx="6786199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none — this deck cites no cost figures; the argument is structural.</a:t>
            </a:r>
            <a:endParaRPr lang="en-US" sz="146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7098" y="541734"/>
            <a:ext cx="11051451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ENGINEERING · OBSERVABILITY BUDGET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677098" y="937816"/>
            <a:ext cx="10834756" cy="12700"/>
          </a:xfrm>
          <a:prstGeom prst="rect">
            <a:avLst/>
          </a:prstGeom>
          <a:solidFill>
            <a:srgbClr val="DAD3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7098" y="1289050"/>
            <a:ext cx="11051451" cy="59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79"/>
              </a:lnSpc>
              <a:spcAft>
                <a:spcPts val="1866"/>
              </a:spcAft>
              <a:buNone/>
            </a:pPr>
            <a:r>
              <a:rPr lang="en-US" sz="3466" b="1" dirty="0">
                <a:solidFill>
                  <a:srgbClr val="1F1B1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Sampling and retention are bets, not savings</a:t>
            </a:r>
            <a:endParaRPr lang="en-US" sz="3466" dirty="0"/>
          </a:p>
        </p:txBody>
      </p:sp>
      <p:sp>
        <p:nvSpPr>
          <p:cNvPr id="5" name="Shape 3"/>
          <p:cNvSpPr/>
          <p:nvPr/>
        </p:nvSpPr>
        <p:spPr>
          <a:xfrm>
            <a:off x="683446" y="2120305"/>
            <a:ext cx="0" cy="430014"/>
          </a:xfrm>
          <a:prstGeom prst="line">
            <a:avLst/>
          </a:prstGeom>
          <a:noFill/>
          <a:ln w="1269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9795" y="2120305"/>
            <a:ext cx="2266383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TRADE</a:t>
            </a:r>
            <a:endParaRPr lang="en-US" sz="1466" dirty="0"/>
          </a:p>
        </p:txBody>
      </p:sp>
      <p:sp>
        <p:nvSpPr>
          <p:cNvPr id="7" name="Shape 5"/>
          <p:cNvSpPr/>
          <p:nvPr/>
        </p:nvSpPr>
        <p:spPr>
          <a:xfrm>
            <a:off x="3222811" y="2120305"/>
            <a:ext cx="0" cy="430014"/>
          </a:xfrm>
          <a:prstGeom prst="line">
            <a:avLst/>
          </a:prstGeom>
          <a:noFill/>
          <a:ln w="12698">
            <a:solidFill>
              <a:srgbClr val="DAD3C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533883" y="2120305"/>
            <a:ext cx="3906881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KEEPS</a:t>
            </a:r>
            <a:endParaRPr lang="en-US" sz="1466" dirty="0"/>
          </a:p>
        </p:txBody>
      </p:sp>
      <p:sp>
        <p:nvSpPr>
          <p:cNvPr id="9" name="Shape 7"/>
          <p:cNvSpPr/>
          <p:nvPr/>
        </p:nvSpPr>
        <p:spPr>
          <a:xfrm>
            <a:off x="7370507" y="2120305"/>
            <a:ext cx="0" cy="430014"/>
          </a:xfrm>
          <a:prstGeom prst="line">
            <a:avLst/>
          </a:prstGeom>
          <a:noFill/>
          <a:ln w="12698">
            <a:solidFill>
              <a:srgbClr val="DAD3C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681579" y="2120305"/>
            <a:ext cx="3906881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SPENDS</a:t>
            </a:r>
            <a:endParaRPr lang="en-US" sz="1466" dirty="0"/>
          </a:p>
        </p:txBody>
      </p:sp>
      <p:sp>
        <p:nvSpPr>
          <p:cNvPr id="11" name="Shape 9"/>
          <p:cNvSpPr/>
          <p:nvPr/>
        </p:nvSpPr>
        <p:spPr>
          <a:xfrm>
            <a:off x="683446" y="2550319"/>
            <a:ext cx="0" cy="885230"/>
          </a:xfrm>
          <a:prstGeom prst="line">
            <a:avLst/>
          </a:prstGeom>
          <a:noFill/>
          <a:ln w="1269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89795" y="2787253"/>
            <a:ext cx="2577202" cy="411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>
                <a:solidFill>
                  <a:srgbClr val="1F1B1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Sampling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222811" y="2550319"/>
            <a:ext cx="0" cy="885230"/>
          </a:xfrm>
          <a:prstGeom prst="line">
            <a:avLst/>
          </a:prstGeom>
          <a:noFill/>
          <a:ln w="12698">
            <a:solidFill>
              <a:srgbClr val="DAD3C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533883" y="2787253"/>
            <a:ext cx="3906881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shape of normal traffic</a:t>
            </a:r>
            <a:endParaRPr lang="en-US" sz="1866" dirty="0"/>
          </a:p>
        </p:txBody>
      </p:sp>
      <p:sp>
        <p:nvSpPr>
          <p:cNvPr id="15" name="Shape 13"/>
          <p:cNvSpPr/>
          <p:nvPr/>
        </p:nvSpPr>
        <p:spPr>
          <a:xfrm>
            <a:off x="7370507" y="2550319"/>
            <a:ext cx="0" cy="885230"/>
          </a:xfrm>
          <a:prstGeom prst="line">
            <a:avLst/>
          </a:prstGeom>
          <a:noFill/>
          <a:ln w="12698">
            <a:solidFill>
              <a:srgbClr val="DAD3C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681579" y="2787253"/>
            <a:ext cx="3906881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one request that mattered</a:t>
            </a:r>
            <a:endParaRPr lang="en-US" sz="1866" dirty="0"/>
          </a:p>
        </p:txBody>
      </p:sp>
      <p:sp>
        <p:nvSpPr>
          <p:cNvPr id="17" name="Text 15"/>
          <p:cNvSpPr/>
          <p:nvPr/>
        </p:nvSpPr>
        <p:spPr>
          <a:xfrm>
            <a:off x="677098" y="3435548"/>
            <a:ext cx="10834756" cy="12700"/>
          </a:xfrm>
          <a:prstGeom prst="rect">
            <a:avLst/>
          </a:prstGeom>
          <a:solidFill>
            <a:srgbClr val="DAD3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83446" y="3448248"/>
            <a:ext cx="0" cy="885230"/>
          </a:xfrm>
          <a:prstGeom prst="line">
            <a:avLst/>
          </a:prstGeom>
          <a:noFill/>
          <a:ln w="12698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9795" y="3685183"/>
            <a:ext cx="2577202" cy="411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>
                <a:solidFill>
                  <a:srgbClr val="1F1B1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Retention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3222811" y="3448248"/>
            <a:ext cx="0" cy="885230"/>
          </a:xfrm>
          <a:prstGeom prst="line">
            <a:avLst/>
          </a:prstGeom>
          <a:noFill/>
          <a:ln w="12698">
            <a:solidFill>
              <a:srgbClr val="DAD3C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533883" y="3685183"/>
            <a:ext cx="3906881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happening right now</a:t>
            </a:r>
            <a:endParaRPr lang="en-US" sz="1866" dirty="0"/>
          </a:p>
        </p:txBody>
      </p:sp>
      <p:sp>
        <p:nvSpPr>
          <p:cNvPr id="22" name="Shape 20"/>
          <p:cNvSpPr/>
          <p:nvPr/>
        </p:nvSpPr>
        <p:spPr>
          <a:xfrm>
            <a:off x="7370507" y="3448248"/>
            <a:ext cx="0" cy="885230"/>
          </a:xfrm>
          <a:prstGeom prst="line">
            <a:avLst/>
          </a:prstGeom>
          <a:noFill/>
          <a:ln w="12698">
            <a:solidFill>
              <a:srgbClr val="DAD3C4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681579" y="3685183"/>
            <a:ext cx="3906881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Whether it happened before</a:t>
            </a:r>
            <a:endParaRPr lang="en-US" sz="1866" dirty="0"/>
          </a:p>
        </p:txBody>
      </p:sp>
      <p:sp>
        <p:nvSpPr>
          <p:cNvPr id="24" name="Shape 22"/>
          <p:cNvSpPr/>
          <p:nvPr/>
        </p:nvSpPr>
        <p:spPr>
          <a:xfrm>
            <a:off x="727885" y="4824214"/>
            <a:ext cx="0" cy="812403"/>
          </a:xfrm>
          <a:prstGeom prst="line">
            <a:avLst/>
          </a:prstGeom>
          <a:noFill/>
          <a:ln w="101587">
            <a:solidFill>
              <a:srgbClr val="B5503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49472" y="4824214"/>
            <a:ext cx="10671630" cy="812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133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find out which bet you took at 03:00, from a query that returns nothing.</a:t>
            </a:r>
            <a:endParaRPr lang="en-US" sz="2133" dirty="0"/>
          </a:p>
          <a:p>
            <a:pPr algn="l" indent="0" marL="0">
              <a:lnSpc>
                <a:spcPts val="3200"/>
              </a:lnSpc>
              <a:buNone/>
            </a:pPr>
            <a:r>
              <a:rPr lang="en-US" sz="2133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Nobody called it a bet when it was placed.</a:t>
            </a:r>
            <a:endParaRPr lang="en-US" sz="2133" dirty="0"/>
          </a:p>
        </p:txBody>
      </p:sp>
      <p:sp>
        <p:nvSpPr>
          <p:cNvPr id="26" name="Text 24"/>
          <p:cNvSpPr/>
          <p:nvPr/>
        </p:nvSpPr>
        <p:spPr>
          <a:xfrm>
            <a:off x="677098" y="5907484"/>
            <a:ext cx="10834756" cy="12700"/>
          </a:xfrm>
          <a:prstGeom prst="rect">
            <a:avLst/>
          </a:prstGeom>
          <a:solidFill>
            <a:srgbClr val="DAD3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77098" y="6055519"/>
            <a:ext cx="767737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06</a:t>
            </a:r>
            <a:endParaRPr lang="en-US" sz="1466" dirty="0"/>
          </a:p>
        </p:txBody>
      </p:sp>
      <p:sp>
        <p:nvSpPr>
          <p:cNvPr id="28" name="Text 26"/>
          <p:cNvSpPr/>
          <p:nvPr/>
        </p:nvSpPr>
        <p:spPr>
          <a:xfrm>
            <a:off x="4725655" y="6055519"/>
            <a:ext cx="6786199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none — this deck cites no cost figures; the argument is structural.</a:t>
            </a:r>
            <a:endParaRPr lang="en-US" sz="146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7098" y="541734"/>
            <a:ext cx="11051451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ENGINEERING · OBSERVABILITY BUDGET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677098" y="937816"/>
            <a:ext cx="10834756" cy="12700"/>
          </a:xfrm>
          <a:prstGeom prst="rect">
            <a:avLst/>
          </a:prstGeom>
          <a:solidFill>
            <a:srgbClr val="DAD3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7098" y="1289050"/>
            <a:ext cx="11051451" cy="59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79"/>
              </a:lnSpc>
              <a:spcAft>
                <a:spcPts val="1866"/>
              </a:spcAft>
              <a:buNone/>
            </a:pPr>
            <a:r>
              <a:rPr lang="en-US" sz="3466" b="1" dirty="0">
                <a:solidFill>
                  <a:srgbClr val="1F1B1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You cannot argue with one line item</a:t>
            </a:r>
            <a:endParaRPr lang="en-US" sz="3466" dirty="0"/>
          </a:p>
        </p:txBody>
      </p:sp>
      <p:sp>
        <p:nvSpPr>
          <p:cNvPr id="5" name="Text 3"/>
          <p:cNvSpPr/>
          <p:nvPr/>
        </p:nvSpPr>
        <p:spPr>
          <a:xfrm>
            <a:off x="677098" y="2120305"/>
            <a:ext cx="10834756" cy="980281"/>
          </a:xfrm>
          <a:prstGeom prst="roundRect">
            <a:avLst>
              <a:gd name="adj" fmla="val 5182"/>
            </a:avLst>
          </a:prstGeom>
          <a:solidFill>
            <a:srgbClr val="FCFAF5"/>
          </a:solidFill>
          <a:ln w="12698">
            <a:solidFill>
              <a:srgbClr val="DAD3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60594" y="2336205"/>
            <a:ext cx="2718648" cy="548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19"/>
              </a:lnSpc>
              <a:buNone/>
            </a:pPr>
            <a:r>
              <a:rPr lang="en-US" sz="3200" b="1" dirty="0">
                <a:solidFill>
                  <a:srgbClr val="1F1B1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Observability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032234" y="2488605"/>
            <a:ext cx="690275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line. One owner. One available question: keep it or cut it.</a:t>
            </a:r>
            <a:endParaRPr lang="en-US" sz="1866" dirty="0"/>
          </a:p>
        </p:txBody>
      </p:sp>
      <p:sp>
        <p:nvSpPr>
          <p:cNvPr id="8" name="Text 6"/>
          <p:cNvSpPr/>
          <p:nvPr/>
        </p:nvSpPr>
        <p:spPr>
          <a:xfrm>
            <a:off x="689795" y="3405386"/>
            <a:ext cx="3394516" cy="362347"/>
          </a:xfrm>
          <a:prstGeom prst="rect">
            <a:avLst/>
          </a:prstGeom>
          <a:noFill/>
          <a:ln/>
        </p:spPr>
        <p:txBody>
          <a:bodyPr wrap="square" lIns="0" tIns="0" rIns="0" bIns="101587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SIGNAL</a:t>
            </a:r>
            <a:endParaRPr lang="en-US" sz="1466" dirty="0"/>
          </a:p>
        </p:txBody>
      </p:sp>
      <p:sp>
        <p:nvSpPr>
          <p:cNvPr id="9" name="Text 7"/>
          <p:cNvSpPr/>
          <p:nvPr/>
        </p:nvSpPr>
        <p:spPr>
          <a:xfrm>
            <a:off x="689795" y="3767733"/>
            <a:ext cx="3394516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Metrics, logs and traces have different curves. Price them apart.</a:t>
            </a:r>
            <a:endParaRPr lang="en-US" sz="1866" dirty="0"/>
          </a:p>
        </p:txBody>
      </p:sp>
      <p:sp>
        <p:nvSpPr>
          <p:cNvPr id="10" name="Text 8"/>
          <p:cNvSpPr/>
          <p:nvPr/>
        </p:nvSpPr>
        <p:spPr>
          <a:xfrm>
            <a:off x="4572047" y="3405386"/>
            <a:ext cx="3118503" cy="362347"/>
          </a:xfrm>
          <a:prstGeom prst="rect">
            <a:avLst/>
          </a:prstGeom>
          <a:noFill/>
          <a:ln/>
        </p:spPr>
        <p:txBody>
          <a:bodyPr wrap="square" lIns="0" tIns="0" rIns="0" bIns="101587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VERBOSITY</a:t>
            </a:r>
            <a:endParaRPr lang="en-US" sz="1466" dirty="0"/>
          </a:p>
        </p:txBody>
      </p:sp>
      <p:sp>
        <p:nvSpPr>
          <p:cNvPr id="11" name="Text 9"/>
          <p:cNvSpPr/>
          <p:nvPr/>
        </p:nvSpPr>
        <p:spPr>
          <a:xfrm>
            <a:off x="4572047" y="3767733"/>
            <a:ext cx="3118503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Debug level in production is a choice. Someone has to make it.</a:t>
            </a:r>
            <a:endParaRPr lang="en-US" sz="1866" dirty="0"/>
          </a:p>
        </p:txBody>
      </p:sp>
      <p:sp>
        <p:nvSpPr>
          <p:cNvPr id="12" name="Text 10"/>
          <p:cNvSpPr/>
          <p:nvPr/>
        </p:nvSpPr>
        <p:spPr>
          <a:xfrm>
            <a:off x="8183699" y="3405386"/>
            <a:ext cx="3118301" cy="362347"/>
          </a:xfrm>
          <a:prstGeom prst="rect">
            <a:avLst/>
          </a:prstGeom>
          <a:noFill/>
          <a:ln/>
        </p:spPr>
        <p:txBody>
          <a:bodyPr wrap="square" lIns="0" tIns="0" rIns="0" bIns="101587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WINDOW</a:t>
            </a:r>
            <a:endParaRPr lang="en-US" sz="1466" dirty="0"/>
          </a:p>
        </p:txBody>
      </p:sp>
      <p:sp>
        <p:nvSpPr>
          <p:cNvPr id="13" name="Text 11"/>
          <p:cNvSpPr/>
          <p:nvPr/>
        </p:nvSpPr>
        <p:spPr>
          <a:xfrm>
            <a:off x="8183699" y="3767733"/>
            <a:ext cx="311830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 days, warm weeks, cold archive — three prices, not one.</a:t>
            </a:r>
            <a:endParaRPr lang="en-US" sz="1866" dirty="0"/>
          </a:p>
        </p:txBody>
      </p:sp>
      <p:sp>
        <p:nvSpPr>
          <p:cNvPr id="14" name="Text 12"/>
          <p:cNvSpPr/>
          <p:nvPr/>
        </p:nvSpPr>
        <p:spPr>
          <a:xfrm>
            <a:off x="677098" y="5230416"/>
            <a:ext cx="11051451" cy="406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133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line item can only be approved or refused. Three can be negotiated.</a:t>
            </a:r>
            <a:endParaRPr lang="en-US" sz="2133" dirty="0"/>
          </a:p>
        </p:txBody>
      </p:sp>
      <p:sp>
        <p:nvSpPr>
          <p:cNvPr id="15" name="Text 13"/>
          <p:cNvSpPr/>
          <p:nvPr/>
        </p:nvSpPr>
        <p:spPr>
          <a:xfrm>
            <a:off x="677098" y="5907484"/>
            <a:ext cx="10834756" cy="12700"/>
          </a:xfrm>
          <a:prstGeom prst="rect">
            <a:avLst/>
          </a:prstGeom>
          <a:solidFill>
            <a:srgbClr val="DAD3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77098" y="6055519"/>
            <a:ext cx="767737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06</a:t>
            </a:r>
            <a:endParaRPr lang="en-US" sz="1466" dirty="0"/>
          </a:p>
        </p:txBody>
      </p:sp>
      <p:sp>
        <p:nvSpPr>
          <p:cNvPr id="17" name="Text 15"/>
          <p:cNvSpPr/>
          <p:nvPr/>
        </p:nvSpPr>
        <p:spPr>
          <a:xfrm>
            <a:off x="4725655" y="6055519"/>
            <a:ext cx="6786199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none — this deck cites no cost figures; the argument is structural.</a:t>
            </a:r>
            <a:endParaRPr lang="en-US" sz="146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7098" y="541734"/>
            <a:ext cx="11051451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ENGINEERING · OBSERVABILITY BUDGET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677098" y="937816"/>
            <a:ext cx="10834756" cy="12700"/>
          </a:xfrm>
          <a:prstGeom prst="rect">
            <a:avLst/>
          </a:prstGeom>
          <a:solidFill>
            <a:srgbClr val="DAD3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7098" y="1289050"/>
            <a:ext cx="4489462" cy="3017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919"/>
              </a:lnSpc>
              <a:buNone/>
            </a:pPr>
            <a:r>
              <a:rPr lang="en-US" sz="5866" dirty="0">
                <a:solidFill>
                  <a:srgbClr val="1F1B1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What we</a:t>
            </a:r>
            <a:endParaRPr lang="en-US" sz="5866" dirty="0"/>
          </a:p>
          <a:p>
            <a:pPr algn="l" indent="0" marL="0">
              <a:lnSpc>
                <a:spcPts val="7919"/>
              </a:lnSpc>
              <a:buNone/>
            </a:pPr>
            <a:r>
              <a:rPr lang="en-US" sz="5866" dirty="0">
                <a:solidFill>
                  <a:srgbClr val="1F1B1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need to</a:t>
            </a:r>
            <a:endParaRPr lang="en-US" sz="5866" dirty="0"/>
          </a:p>
          <a:p>
            <a:pPr algn="l" indent="0" marL="0">
              <a:lnSpc>
                <a:spcPts val="7919"/>
              </a:lnSpc>
              <a:buNone/>
            </a:pPr>
            <a:r>
              <a:rPr lang="en-US" sz="5866" dirty="0">
                <a:solidFill>
                  <a:srgbClr val="1F1B1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decide</a:t>
            </a:r>
            <a:endParaRPr lang="en-US" sz="5866" dirty="0"/>
          </a:p>
        </p:txBody>
      </p:sp>
      <p:sp>
        <p:nvSpPr>
          <p:cNvPr id="5" name="Text 3"/>
          <p:cNvSpPr/>
          <p:nvPr/>
        </p:nvSpPr>
        <p:spPr>
          <a:xfrm>
            <a:off x="677098" y="4925417"/>
            <a:ext cx="448946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spcBef>
                <a:spcPts val="4871"/>
              </a:spcBef>
              <a:buNone/>
            </a:pPr>
            <a:r>
              <a:rPr lang="en-US" sz="18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decisions. Each one makes part of the bill arguable.</a:t>
            </a:r>
            <a:endParaRPr lang="en-US" sz="1866" dirty="0"/>
          </a:p>
        </p:txBody>
      </p:sp>
      <p:sp>
        <p:nvSpPr>
          <p:cNvPr id="6" name="Text 4"/>
          <p:cNvSpPr/>
          <p:nvPr/>
        </p:nvSpPr>
        <p:spPr>
          <a:xfrm>
            <a:off x="5416981" y="1289050"/>
            <a:ext cx="372374" cy="372467"/>
          </a:xfrm>
          <a:prstGeom prst="roundRect">
            <a:avLst>
              <a:gd name="adj" fmla="val 327372"/>
            </a:avLst>
          </a:prstGeom>
          <a:noFill/>
          <a:ln w="12698">
            <a:solidFill>
              <a:srgbClr val="DAD3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45933" y="1333103"/>
            <a:ext cx="116557" cy="284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1B1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24854" y="1289050"/>
            <a:ext cx="5698740" cy="411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533"/>
              </a:spcAft>
              <a:buNone/>
            </a:pPr>
            <a:r>
              <a:rPr lang="en-US" sz="2400" b="1" dirty="0">
                <a:solidFill>
                  <a:srgbClr val="1F1B1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What gets sampled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24854" y="1768078"/>
            <a:ext cx="569874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signals, at what share, changed by whom</a:t>
            </a:r>
            <a:endParaRPr lang="en-US" sz="1866" dirty="0"/>
          </a:p>
        </p:txBody>
      </p:sp>
      <p:sp>
        <p:nvSpPr>
          <p:cNvPr id="10" name="Text 8"/>
          <p:cNvSpPr/>
          <p:nvPr/>
        </p:nvSpPr>
        <p:spPr>
          <a:xfrm>
            <a:off x="5416981" y="2292945"/>
            <a:ext cx="6094873" cy="12700"/>
          </a:xfrm>
          <a:prstGeom prst="rect">
            <a:avLst/>
          </a:prstGeom>
          <a:solidFill>
            <a:srgbClr val="DAD3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416981" y="2305645"/>
            <a:ext cx="372374" cy="372467"/>
          </a:xfrm>
          <a:prstGeom prst="roundRect">
            <a:avLst>
              <a:gd name="adj" fmla="val 327372"/>
            </a:avLst>
          </a:prstGeom>
          <a:noFill/>
          <a:ln w="12698">
            <a:solidFill>
              <a:srgbClr val="DAD3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545933" y="2349698"/>
            <a:ext cx="116557" cy="284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1B1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24854" y="2305645"/>
            <a:ext cx="5698740" cy="411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533"/>
              </a:spcAft>
              <a:buNone/>
            </a:pPr>
            <a:r>
              <a:rPr lang="en-US" sz="2400" b="1" dirty="0">
                <a:solidFill>
                  <a:srgbClr val="1F1B1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What gets dropped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24854" y="2784673"/>
            <a:ext cx="569874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lines never leave the process at all</a:t>
            </a:r>
            <a:endParaRPr lang="en-US" sz="1866" dirty="0"/>
          </a:p>
        </p:txBody>
      </p:sp>
      <p:sp>
        <p:nvSpPr>
          <p:cNvPr id="15" name="Text 13"/>
          <p:cNvSpPr/>
          <p:nvPr/>
        </p:nvSpPr>
        <p:spPr>
          <a:xfrm>
            <a:off x="5416981" y="3309541"/>
            <a:ext cx="6094873" cy="12700"/>
          </a:xfrm>
          <a:prstGeom prst="rect">
            <a:avLst/>
          </a:prstGeom>
          <a:solidFill>
            <a:srgbClr val="DAD3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416981" y="3322241"/>
            <a:ext cx="372374" cy="372467"/>
          </a:xfrm>
          <a:prstGeom prst="roundRect">
            <a:avLst>
              <a:gd name="adj" fmla="val 327372"/>
            </a:avLst>
          </a:prstGeom>
          <a:noFill/>
          <a:ln w="12698">
            <a:solidFill>
              <a:srgbClr val="DAD3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45933" y="3366294"/>
            <a:ext cx="116557" cy="284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1B1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24854" y="3322241"/>
            <a:ext cx="5698740" cy="411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533"/>
              </a:spcAft>
              <a:buNone/>
            </a:pPr>
            <a:r>
              <a:rPr lang="en-US" sz="2400" b="1" dirty="0">
                <a:solidFill>
                  <a:srgbClr val="1F1B1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Who owns retention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924854" y="3801269"/>
            <a:ext cx="569874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named owner for each window we pay for</a:t>
            </a:r>
            <a:endParaRPr lang="en-US" sz="1866" dirty="0"/>
          </a:p>
        </p:txBody>
      </p:sp>
      <p:sp>
        <p:nvSpPr>
          <p:cNvPr id="20" name="Shape 18"/>
          <p:cNvSpPr/>
          <p:nvPr/>
        </p:nvSpPr>
        <p:spPr>
          <a:xfrm>
            <a:off x="5467769" y="5281017"/>
            <a:ext cx="0" cy="355600"/>
          </a:xfrm>
          <a:prstGeom prst="line">
            <a:avLst/>
          </a:prstGeom>
          <a:noFill/>
          <a:ln w="101587">
            <a:solidFill>
              <a:srgbClr val="B5503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89355" y="5281017"/>
            <a:ext cx="5836949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66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 of the three is a tooling decision.</a:t>
            </a:r>
            <a:endParaRPr lang="en-US" sz="1866" dirty="0"/>
          </a:p>
        </p:txBody>
      </p:sp>
      <p:sp>
        <p:nvSpPr>
          <p:cNvPr id="22" name="Text 20"/>
          <p:cNvSpPr/>
          <p:nvPr/>
        </p:nvSpPr>
        <p:spPr>
          <a:xfrm>
            <a:off x="677098" y="5907484"/>
            <a:ext cx="10834756" cy="12700"/>
          </a:xfrm>
          <a:prstGeom prst="rect">
            <a:avLst/>
          </a:prstGeom>
          <a:solidFill>
            <a:srgbClr val="DAD3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77098" y="6055519"/>
            <a:ext cx="767737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06</a:t>
            </a:r>
            <a:endParaRPr lang="en-US" sz="1466" dirty="0"/>
          </a:p>
        </p:txBody>
      </p:sp>
      <p:sp>
        <p:nvSpPr>
          <p:cNvPr id="24" name="Text 22"/>
          <p:cNvSpPr/>
          <p:nvPr/>
        </p:nvSpPr>
        <p:spPr>
          <a:xfrm>
            <a:off x="4725655" y="6055519"/>
            <a:ext cx="6786199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7A71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none — this deck cites no cost figures; the argument is structural.</a:t>
            </a:r>
            <a:endParaRPr lang="en-US" sz="146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2026-08-27T16:57:07Z</dcterms:created>
  <dcterms:modified xsi:type="dcterms:W3CDTF">2026-08-27T16:57:07Z</dcterms:modified>
</cp:coreProperties>
</file>