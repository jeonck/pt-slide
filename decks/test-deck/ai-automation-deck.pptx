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75667"/>
            <a:ext cx="1564685" cy="397669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261" y="660202"/>
            <a:ext cx="121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전환 브리핑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43174" y="2164953"/>
            <a:ext cx="67650" cy="2265363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49274" y="2164953"/>
            <a:ext cx="4869486" cy="1647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85"/>
              </a:lnSpc>
              <a:buNone/>
            </a:pPr>
            <a:r>
              <a:rPr lang="en-US" sz="50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인공지능의 미래와</a:t>
            </a:r>
            <a:endParaRPr lang="en-US" sz="5066" dirty="0"/>
          </a:p>
          <a:p>
            <a:pPr algn="l" indent="0" marL="0">
              <a:lnSpc>
                <a:spcPts val="6485"/>
              </a:lnSpc>
              <a:buNone/>
            </a:pPr>
            <a:r>
              <a:rPr lang="en-US" sz="50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자동화</a:t>
            </a:r>
            <a:endParaRPr lang="en-US" sz="5066" dirty="0"/>
          </a:p>
        </p:txBody>
      </p:sp>
      <p:sp>
        <p:nvSpPr>
          <p:cNvPr id="6" name="Text 4"/>
          <p:cNvSpPr/>
          <p:nvPr/>
        </p:nvSpPr>
        <p:spPr>
          <a:xfrm>
            <a:off x="1049274" y="4049316"/>
            <a:ext cx="486948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866"/>
              </a:spcBef>
              <a:buNone/>
            </a:pPr>
            <a:r>
              <a:rPr lang="en-US" sz="2000" dirty="0">
                <a:solidFill>
                  <a:srgbClr val="C5D2E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생성형 AI 이후, 일하는 방식은 어떻게 재편되는가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3174" y="5628283"/>
            <a:ext cx="1090260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174" y="5837833"/>
            <a:ext cx="106196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33"/>
              </a:spcAft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643174" y="6108700"/>
            <a:ext cx="1061962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· 소속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462986" y="5837833"/>
            <a:ext cx="93245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33"/>
              </a:spcAft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일자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2462986" y="6108700"/>
            <a:ext cx="932455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55830" y="5837833"/>
            <a:ext cx="9583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33"/>
              </a:spcAft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4155830" y="6108700"/>
            <a:ext cx="95835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공유용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822920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3174" y="191294"/>
            <a:ext cx="440024" cy="440134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36217" y="284361"/>
            <a:ext cx="25901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1303210" y="189111"/>
            <a:ext cx="332794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무엇이 달라졌는가</a:t>
            </a:r>
            <a:endParaRPr lang="en-US" sz="2933" dirty="0"/>
          </a:p>
        </p:txBody>
      </p:sp>
      <p:sp>
        <p:nvSpPr>
          <p:cNvPr id="6" name="Text 4"/>
          <p:cNvSpPr/>
          <p:nvPr/>
        </p:nvSpPr>
        <p:spPr>
          <a:xfrm>
            <a:off x="11304539" y="297061"/>
            <a:ext cx="246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43174" y="1296789"/>
            <a:ext cx="406298" cy="4064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8400" y="1385689"/>
            <a:ext cx="2201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643174" y="1940123"/>
            <a:ext cx="33269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533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도구에서 동료로</a:t>
            </a:r>
            <a:endParaRPr lang="en-US" sz="2533" dirty="0"/>
          </a:p>
        </p:txBody>
      </p:sp>
      <p:sp>
        <p:nvSpPr>
          <p:cNvPr id="10" name="Text 8"/>
          <p:cNvSpPr/>
          <p:nvPr/>
        </p:nvSpPr>
        <p:spPr>
          <a:xfrm>
            <a:off x="643174" y="2473523"/>
            <a:ext cx="3326929" cy="1234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0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결과물을 제안하는 단계를 넘어, 정해진 절차를 스스로 수행하는 단계로 이동한다.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3174" y="3916958"/>
            <a:ext cx="3261695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174" y="4109442"/>
            <a:ext cx="3326929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방향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3174" y="4444603"/>
            <a:ext cx="3326929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 보조 → 절차 실행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83591" y="1263055"/>
            <a:ext cx="0" cy="3465909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2314" y="1296789"/>
            <a:ext cx="406298" cy="4064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44843" y="1385689"/>
            <a:ext cx="246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4662314" y="1940123"/>
            <a:ext cx="293415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533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프로세스로</a:t>
            </a:r>
            <a:endParaRPr lang="en-US" sz="2533" dirty="0"/>
          </a:p>
        </p:txBody>
      </p:sp>
      <p:sp>
        <p:nvSpPr>
          <p:cNvPr id="18" name="Text 16"/>
          <p:cNvSpPr/>
          <p:nvPr/>
        </p:nvSpPr>
        <p:spPr>
          <a:xfrm>
            <a:off x="4662314" y="2473523"/>
            <a:ext cx="2934157" cy="1234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0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 대상이 문서 한 건에서 조회·승인·보고로 이어지는 흐름 전체로 넓어진다.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62314" y="3916958"/>
            <a:ext cx="2876624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2314" y="4109442"/>
            <a:ext cx="29341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방향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2314" y="4444603"/>
            <a:ext cx="29341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한 건 → 업무 흐름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917661" y="1263055"/>
            <a:ext cx="0" cy="3465909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96383" y="1296789"/>
            <a:ext cx="406298" cy="4064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378913" y="1385689"/>
            <a:ext cx="246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66" dirty="0"/>
          </a:p>
        </p:txBody>
      </p:sp>
      <p:sp>
        <p:nvSpPr>
          <p:cNvPr id="25" name="Text 23"/>
          <p:cNvSpPr/>
          <p:nvPr/>
        </p:nvSpPr>
        <p:spPr>
          <a:xfrm>
            <a:off x="8296383" y="1940123"/>
            <a:ext cx="331397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533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IT에서 현업으로</a:t>
            </a:r>
            <a:endParaRPr lang="en-US" sz="2533" dirty="0"/>
          </a:p>
        </p:txBody>
      </p:sp>
      <p:sp>
        <p:nvSpPr>
          <p:cNvPr id="26" name="Text 24"/>
          <p:cNvSpPr/>
          <p:nvPr/>
        </p:nvSpPr>
        <p:spPr>
          <a:xfrm>
            <a:off x="8296383" y="2473523"/>
            <a:ext cx="3313978" cy="1234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0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자동화를 만드는 주체가 개발 조직에서 업무를 가장 잘 아는 담당자로 옮겨간다.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296383" y="3916958"/>
            <a:ext cx="3248998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96383" y="4109442"/>
            <a:ext cx="331397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방향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296383" y="4444603"/>
            <a:ext cx="331397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요청 → 현업 구성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3174" y="5135364"/>
            <a:ext cx="10902605" cy="842169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68567" y="5135364"/>
            <a:ext cx="0" cy="842169"/>
          </a:xfrm>
          <a:prstGeom prst="line">
            <a:avLst/>
          </a:prstGeom>
          <a:noFill/>
          <a:ln w="50794">
            <a:solidFill>
              <a:srgbClr val="1B66C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8685" y="5372298"/>
            <a:ext cx="10447217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질문이 바뀌었다. “AI가 무엇을 할 수 있는가”가 아니라 “어떤 업무를 맡길 것인가”.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822920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3174" y="191294"/>
            <a:ext cx="440024" cy="440134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17172" y="284361"/>
            <a:ext cx="2978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1303210" y="189111"/>
            <a:ext cx="458497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자동화는 3단계로 성숙한다</a:t>
            </a:r>
            <a:endParaRPr lang="en-US" sz="2933" dirty="0"/>
          </a:p>
        </p:txBody>
      </p:sp>
      <p:sp>
        <p:nvSpPr>
          <p:cNvPr id="6" name="Text 4"/>
          <p:cNvSpPr/>
          <p:nvPr/>
        </p:nvSpPr>
        <p:spPr>
          <a:xfrm>
            <a:off x="11304539" y="297061"/>
            <a:ext cx="246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43174" y="1229320"/>
            <a:ext cx="3282923" cy="3567509"/>
          </a:xfrm>
          <a:prstGeom prst="rect">
            <a:avLst/>
          </a:prstGeom>
          <a:solidFill>
            <a:srgbClr val="FFFFFF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26670" y="1546820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04835" y="1618655"/>
            <a:ext cx="2201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926670" y="2105422"/>
            <a:ext cx="27702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67"/>
              </a:spcAft>
              <a:buNone/>
            </a:pPr>
            <a:r>
              <a:rPr lang="en-US" sz="2266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보조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926670" y="2583656"/>
            <a:ext cx="2770249" cy="1303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실행하고 AI가 초안과 검색을 돕는다. 산출물의 책임은 사람에게 있다.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926670" y="4079280"/>
            <a:ext cx="2715930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6670" y="4238030"/>
            <a:ext cx="2770249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역할</a:t>
            </a:r>
            <a:pPr algn="l" indent="0" marL="0">
              <a:buNone/>
            </a:pPr>
            <a:r>
              <a:rPr lang="en-US" sz="1600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실행자</a:t>
            </a:r>
            <a:endParaRPr lang="en-US" sz="16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26096" y="2911475"/>
            <a:ext cx="507873" cy="2032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433969" y="1229320"/>
            <a:ext cx="3321013" cy="3567509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3"/>
          <p:cNvSpPr/>
          <p:nvPr/>
        </p:nvSpPr>
        <p:spPr>
          <a:xfrm>
            <a:off x="4433969" y="1235670"/>
            <a:ext cx="3321013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48634" y="1229320"/>
            <a:ext cx="0" cy="3567509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33969" y="4790480"/>
            <a:ext cx="3321013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459363" y="1229320"/>
            <a:ext cx="0" cy="3567509"/>
          </a:xfrm>
          <a:prstGeom prst="line">
            <a:avLst/>
          </a:prstGeom>
          <a:noFill/>
          <a:ln w="50794">
            <a:solidFill>
              <a:srgbClr val="1B66C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55556" y="1546820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821024" y="1618655"/>
            <a:ext cx="246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66" dirty="0"/>
          </a:p>
        </p:txBody>
      </p:sp>
      <p:sp>
        <p:nvSpPr>
          <p:cNvPr id="22" name="Text 19"/>
          <p:cNvSpPr/>
          <p:nvPr/>
        </p:nvSpPr>
        <p:spPr>
          <a:xfrm>
            <a:off x="4755556" y="2105422"/>
            <a:ext cx="27702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67"/>
              </a:spcAft>
              <a:buNone/>
            </a:pPr>
            <a:r>
              <a:rPr lang="en-US" sz="2266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위임</a:t>
            </a:r>
            <a:endParaRPr lang="en-US" sz="2266" dirty="0"/>
          </a:p>
        </p:txBody>
      </p:sp>
      <p:sp>
        <p:nvSpPr>
          <p:cNvPr id="23" name="Text 20"/>
          <p:cNvSpPr/>
          <p:nvPr/>
        </p:nvSpPr>
        <p:spPr>
          <a:xfrm>
            <a:off x="4755556" y="2583656"/>
            <a:ext cx="2770249" cy="1303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절차가 고정된 업무를 AI가 실행하고, 사람이 결과를 검수한다.</a:t>
            </a:r>
            <a:endParaRPr lang="en-US" sz="1866" dirty="0"/>
          </a:p>
        </p:txBody>
      </p:sp>
      <p:sp>
        <p:nvSpPr>
          <p:cNvPr id="24" name="Shape 21"/>
          <p:cNvSpPr/>
          <p:nvPr/>
        </p:nvSpPr>
        <p:spPr>
          <a:xfrm>
            <a:off x="4755556" y="4079280"/>
            <a:ext cx="2715930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55556" y="4238030"/>
            <a:ext cx="2770249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역할</a:t>
            </a:r>
            <a:pPr algn="l" indent="0" marL="0">
              <a:buNone/>
            </a:pPr>
            <a:r>
              <a:rPr lang="en-US" sz="1600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검수자</a:t>
            </a:r>
            <a:endParaRPr lang="en-US" sz="16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54983" y="2911475"/>
            <a:ext cx="507873" cy="20320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8262856" y="1229320"/>
            <a:ext cx="3282923" cy="3567509"/>
          </a:xfrm>
          <a:prstGeom prst="rect">
            <a:avLst/>
          </a:prstGeom>
          <a:solidFill>
            <a:srgbClr val="FFFFFF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8546352" y="1546820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8611820" y="1618655"/>
            <a:ext cx="246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66" dirty="0"/>
          </a:p>
        </p:txBody>
      </p:sp>
      <p:sp>
        <p:nvSpPr>
          <p:cNvPr id="30" name="Text 26"/>
          <p:cNvSpPr/>
          <p:nvPr/>
        </p:nvSpPr>
        <p:spPr>
          <a:xfrm>
            <a:off x="8546352" y="2105422"/>
            <a:ext cx="27702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67"/>
              </a:spcAft>
              <a:buNone/>
            </a:pPr>
            <a:r>
              <a:rPr lang="en-US" sz="2266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자율</a:t>
            </a:r>
            <a:endParaRPr lang="en-US" sz="2266" dirty="0"/>
          </a:p>
        </p:txBody>
      </p:sp>
      <p:sp>
        <p:nvSpPr>
          <p:cNvPr id="31" name="Text 27"/>
          <p:cNvSpPr/>
          <p:nvPr/>
        </p:nvSpPr>
        <p:spPr>
          <a:xfrm>
            <a:off x="8546352" y="2583656"/>
            <a:ext cx="2770249" cy="1303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실행과 판단을 맡고, 사람은 예외와 기준만 관리한다.</a:t>
            </a:r>
            <a:endParaRPr lang="en-US" sz="1866" dirty="0"/>
          </a:p>
        </p:txBody>
      </p:sp>
      <p:sp>
        <p:nvSpPr>
          <p:cNvPr id="32" name="Shape 28"/>
          <p:cNvSpPr/>
          <p:nvPr/>
        </p:nvSpPr>
        <p:spPr>
          <a:xfrm>
            <a:off x="8546352" y="4079280"/>
            <a:ext cx="2715930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8546352" y="4238030"/>
            <a:ext cx="2770249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역할</a:t>
            </a:r>
            <a:pPr algn="l" indent="0" marL="0">
              <a:buNone/>
            </a:pPr>
            <a:r>
              <a:rPr lang="en-US" sz="1600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설계자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43174" y="5169297"/>
            <a:ext cx="10902605" cy="842169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1"/>
          <p:cNvSpPr/>
          <p:nvPr/>
        </p:nvSpPr>
        <p:spPr>
          <a:xfrm>
            <a:off x="668567" y="5169297"/>
            <a:ext cx="0" cy="842169"/>
          </a:xfrm>
          <a:prstGeom prst="line">
            <a:avLst/>
          </a:prstGeom>
          <a:noFill/>
          <a:ln w="50794">
            <a:solidFill>
              <a:srgbClr val="1B66C9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98685" y="5406231"/>
            <a:ext cx="10447217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2단계로 넘어가는 문턱은 모델 성능이 아니라, 검수 기준과 책임 소재를 정의했는지다.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822920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3174" y="191294"/>
            <a:ext cx="440024" cy="440134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17172" y="284361"/>
            <a:ext cx="2978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1303210" y="189111"/>
            <a:ext cx="452568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조직이 먼저 준비해야 할 것</a:t>
            </a:r>
            <a:endParaRPr lang="en-US" sz="2933" dirty="0"/>
          </a:p>
        </p:txBody>
      </p:sp>
      <p:sp>
        <p:nvSpPr>
          <p:cNvPr id="6" name="Text 4"/>
          <p:cNvSpPr/>
          <p:nvPr/>
        </p:nvSpPr>
        <p:spPr>
          <a:xfrm>
            <a:off x="11291842" y="297061"/>
            <a:ext cx="2590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43174" y="1229320"/>
            <a:ext cx="5229108" cy="3499644"/>
          </a:xfrm>
          <a:prstGeom prst="rect">
            <a:avLst/>
          </a:prstGeom>
          <a:noFill/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55870" y="1242020"/>
            <a:ext cx="5203714" cy="575469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92746" y="1377355"/>
            <a:ext cx="9947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할 일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13262" y="1453555"/>
            <a:ext cx="62163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우선순위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655870" y="1817489"/>
            <a:ext cx="5203714" cy="2898775"/>
          </a:xfrm>
          <a:prstGeom prst="rect">
            <a:avLst/>
          </a:prstGeom>
          <a:noFill/>
          <a:ln/>
        </p:spPr>
        <p:txBody>
          <a:bodyPr wrap="square" lIns="135450" tIns="0" rIns="0" bIns="0" rtlCol="0" anchor="t"/>
          <a:lstStyle/>
          <a:p>
            <a:pPr algn="l" marL="135450" indent="-13545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반복도와 규칙성이 높은 업무부터 목록화한다</a:t>
            </a:r>
            <a:endParaRPr lang="en-US" sz="1600" dirty="0"/>
          </a:p>
          <a:p>
            <a:pPr algn="l" marL="135450" indent="-13545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최종 확인할 지점을 업무마다 정한다</a:t>
            </a:r>
            <a:endParaRPr lang="en-US" sz="1600" dirty="0"/>
          </a:p>
          <a:p>
            <a:pPr algn="l" marL="135450" indent="-13545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잘못 실행됐을 때 되돌릴 절차를 함께 만든다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26670" y="2492177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97469" y="2373709"/>
            <a:ext cx="4442111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반복도와 규칙성이 높은 업무부터 목록화한다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26670" y="3171230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97469" y="3052763"/>
            <a:ext cx="4286702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최종 확인할 지점을 업무마다 정한다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26670" y="3850283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197469" y="3731816"/>
            <a:ext cx="4351456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잘못 실행됐을 때 되돌릴 절차를 함께 만든다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278580" y="1235670"/>
            <a:ext cx="5267198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39430" y="1229320"/>
            <a:ext cx="0" cy="3499644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8580" y="4722614"/>
            <a:ext cx="5267198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3974" y="1229320"/>
            <a:ext cx="0" cy="3499644"/>
          </a:xfrm>
          <a:prstGeom prst="line">
            <a:avLst/>
          </a:prstGeom>
          <a:noFill/>
          <a:ln w="50794">
            <a:solidFill>
              <a:srgbClr val="E03B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9367" y="1242020"/>
            <a:ext cx="5203714" cy="575469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66242" y="1377355"/>
            <a:ext cx="164737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미루면 위험한 것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991483" y="1453555"/>
            <a:ext cx="31081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</a:t>
            </a:r>
            <a:endParaRPr lang="en-US" sz="1333" dirty="0"/>
          </a:p>
        </p:txBody>
      </p:sp>
      <p:sp>
        <p:nvSpPr>
          <p:cNvPr id="25" name="Text 23"/>
          <p:cNvSpPr/>
          <p:nvPr/>
        </p:nvSpPr>
        <p:spPr>
          <a:xfrm>
            <a:off x="6329367" y="1817489"/>
            <a:ext cx="5203714" cy="2898775"/>
          </a:xfrm>
          <a:prstGeom prst="rect">
            <a:avLst/>
          </a:prstGeom>
          <a:noFill/>
          <a:ln/>
        </p:spPr>
        <p:txBody>
          <a:bodyPr wrap="square" lIns="135450" tIns="0" rIns="0" bIns="0" rtlCol="0" anchor="t"/>
          <a:lstStyle/>
          <a:p>
            <a:pPr algn="l" marL="135450" indent="-13545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지점 없이 전체 업무에 한꺼번에 적용</a:t>
            </a:r>
            <a:endParaRPr lang="en-US" sz="1600" dirty="0"/>
          </a:p>
          <a:p>
            <a:pPr algn="l" marL="135450" indent="-13545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근거와 기록을 남기지 않는 자동화</a:t>
            </a:r>
            <a:endParaRPr lang="en-US" sz="1600" dirty="0"/>
          </a:p>
          <a:p>
            <a:pPr algn="l" marL="135450" indent="-13545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 재설계 없이 도구만 먼저 도입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600167" y="2492177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870966" y="2373709"/>
            <a:ext cx="4131293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지점 없이 전체 업무에 한꺼번에 적용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600167" y="3171230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70966" y="3052763"/>
            <a:ext cx="3846376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근거와 기록을 남기지 않는 자동화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600167" y="3850283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870966" y="3731816"/>
            <a:ext cx="34060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 재설계 없이 도구만 먼저 도입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43174" y="5101431"/>
            <a:ext cx="10902605" cy="910034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643174" y="5126831"/>
            <a:ext cx="10902605" cy="0"/>
          </a:xfrm>
          <a:prstGeom prst="line">
            <a:avLst/>
          </a:prstGeom>
          <a:noFill/>
          <a:ln w="50794">
            <a:solidFill>
              <a:srgbClr val="0B2C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3174" y="5986066"/>
            <a:ext cx="10902605" cy="0"/>
          </a:xfrm>
          <a:prstGeom prst="line">
            <a:avLst/>
          </a:prstGeom>
          <a:noFill/>
          <a:ln w="50794">
            <a:solidFill>
              <a:srgbClr val="0B2C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3973" y="5374481"/>
            <a:ext cx="683645" cy="363934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83198" y="5442148"/>
            <a:ext cx="352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</a:t>
            </a:r>
            <a:endParaRPr lang="en-US" sz="1466" dirty="0"/>
          </a:p>
        </p:txBody>
      </p:sp>
      <p:sp>
        <p:nvSpPr>
          <p:cNvPr id="37" name="Text 35"/>
          <p:cNvSpPr/>
          <p:nvPr/>
        </p:nvSpPr>
        <p:spPr>
          <a:xfrm>
            <a:off x="1834493" y="5372298"/>
            <a:ext cx="7770457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성패는 모델 성능이 아니라, 사람이 어디서 개입할지를 정하는 설계에서 갈린다.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75667"/>
            <a:ext cx="724711" cy="397669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261" y="660202"/>
            <a:ext cx="359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논의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43174" y="2315567"/>
            <a:ext cx="67650" cy="2222103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21846" y="2315567"/>
            <a:ext cx="4006035" cy="109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39"/>
              </a:lnSpc>
              <a:buNone/>
            </a:pPr>
            <a:r>
              <a:rPr lang="en-US" sz="7199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</a:t>
            </a:r>
            <a:endParaRPr lang="en-US" sz="7199" dirty="0"/>
          </a:p>
        </p:txBody>
      </p:sp>
      <p:sp>
        <p:nvSpPr>
          <p:cNvPr id="6" name="Text 4"/>
          <p:cNvSpPr/>
          <p:nvPr/>
        </p:nvSpPr>
        <p:spPr>
          <a:xfrm>
            <a:off x="1421846" y="3649663"/>
            <a:ext cx="400603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866"/>
              </a:spcBef>
              <a:buNone/>
            </a:pPr>
            <a:r>
              <a:rPr lang="en-US" sz="2000" dirty="0">
                <a:solidFill>
                  <a:srgbClr val="C5D2E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정하고 싶은 세 가지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60353" y="2315567"/>
            <a:ext cx="5485425" cy="22221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en-US" sz="1600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조직에서 가장 먼저 맡길 업무는 무엇인가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en-US" sz="1600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반드시 확인해야 하는 지점은 어디인가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en-US" sz="1600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성과는 무엇으로 측정할 것인가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60353" y="2914452"/>
            <a:ext cx="548542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60353" y="2315567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38518" y="2387402"/>
            <a:ext cx="2201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6635877" y="2315567"/>
            <a:ext cx="4571619" cy="389334"/>
          </a:xfrm>
          <a:prstGeom prst="rect">
            <a:avLst/>
          </a:prstGeom>
          <a:noFill/>
          <a:ln/>
        </p:spPr>
        <p:txBody>
          <a:bodyPr wrap="square" lIns="0" tIns="33862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조직에서 가장 먼저 맡길 업무는 무엇인가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060353" y="3722886"/>
            <a:ext cx="548542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60353" y="3124002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125821" y="3195836"/>
            <a:ext cx="246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66" dirty="0"/>
          </a:p>
        </p:txBody>
      </p:sp>
      <p:sp>
        <p:nvSpPr>
          <p:cNvPr id="15" name="Text 13"/>
          <p:cNvSpPr/>
          <p:nvPr/>
        </p:nvSpPr>
        <p:spPr>
          <a:xfrm>
            <a:off x="6635877" y="3124002"/>
            <a:ext cx="4506865" cy="389334"/>
          </a:xfrm>
          <a:prstGeom prst="rect">
            <a:avLst/>
          </a:prstGeom>
          <a:noFill/>
          <a:ln/>
        </p:spPr>
        <p:txBody>
          <a:bodyPr wrap="square" lIns="0" tIns="33862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반드시 확인해야 하는 지점은 어디인가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060353" y="4531320"/>
            <a:ext cx="548542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60353" y="3932436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125821" y="4004270"/>
            <a:ext cx="246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66" dirty="0"/>
          </a:p>
        </p:txBody>
      </p:sp>
      <p:sp>
        <p:nvSpPr>
          <p:cNvPr id="19" name="Text 17"/>
          <p:cNvSpPr/>
          <p:nvPr/>
        </p:nvSpPr>
        <p:spPr>
          <a:xfrm>
            <a:off x="6635877" y="3932436"/>
            <a:ext cx="3056380" cy="389334"/>
          </a:xfrm>
          <a:prstGeom prst="rect">
            <a:avLst/>
          </a:prstGeom>
          <a:noFill/>
          <a:ln/>
        </p:spPr>
        <p:txBody>
          <a:bodyPr wrap="square" lIns="0" tIns="33862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성과는 무엇으로 측정할 것인가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3174" y="5886252"/>
            <a:ext cx="1090260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3174" y="6095802"/>
            <a:ext cx="96017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10568123" y="6121202"/>
            <a:ext cx="9972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6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· 소속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2026-08-27T15:24:53Z</dcterms:created>
  <dcterms:modified xsi:type="dcterms:W3CDTF">2026-08-27T15:24:53Z</dcterms:modified>
</cp:coreProperties>
</file>