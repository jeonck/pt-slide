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3-2.svg" ContentType="image/svg+xml"/>
  <Override PartName="/ppt/media/image-3-4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image" Target="../media/image-3-3.png"/><Relationship Id="rId4" Type="http://schemas.openxmlformats.org/officeDocument/2006/relationships/image" Target="../media/image-3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C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3174" y="575667"/>
            <a:ext cx="1564685" cy="397669"/>
          </a:xfrm>
          <a:prstGeom prst="rect">
            <a:avLst/>
          </a:prstGeom>
          <a:solidFill>
            <a:srgbClr val="1B66C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829261" y="660202"/>
            <a:ext cx="1216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466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전환 브리핑</a:t>
            </a:r>
            <a:endParaRPr lang="en-US" sz="1466" dirty="0"/>
          </a:p>
        </p:txBody>
      </p:sp>
      <p:sp>
        <p:nvSpPr>
          <p:cNvPr id="4" name="Text 2"/>
          <p:cNvSpPr/>
          <p:nvPr/>
        </p:nvSpPr>
        <p:spPr>
          <a:xfrm>
            <a:off x="643174" y="2164953"/>
            <a:ext cx="67650" cy="2265363"/>
          </a:xfrm>
          <a:prstGeom prst="rect">
            <a:avLst/>
          </a:prstGeom>
          <a:solidFill>
            <a:srgbClr val="1B66C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049274" y="2164953"/>
            <a:ext cx="4869486" cy="16474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6485"/>
              </a:lnSpc>
              <a:buNone/>
            </a:pPr>
            <a:r>
              <a:rPr lang="en-US" sz="5066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인공지능의 미래와</a:t>
            </a:r>
            <a:endParaRPr lang="en-US" sz="5066" dirty="0"/>
          </a:p>
          <a:p>
            <a:pPr algn="l" indent="0" marL="0">
              <a:lnSpc>
                <a:spcPts val="6485"/>
              </a:lnSpc>
              <a:buNone/>
            </a:pPr>
            <a:r>
              <a:rPr lang="en-US" sz="5066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업무 자동화</a:t>
            </a:r>
            <a:endParaRPr lang="en-US" sz="5066" dirty="0"/>
          </a:p>
        </p:txBody>
      </p:sp>
      <p:sp>
        <p:nvSpPr>
          <p:cNvPr id="6" name="Text 4"/>
          <p:cNvSpPr/>
          <p:nvPr/>
        </p:nvSpPr>
        <p:spPr>
          <a:xfrm>
            <a:off x="1049274" y="4049316"/>
            <a:ext cx="4869486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000"/>
              </a:lnSpc>
              <a:spcBef>
                <a:spcPts val="1866"/>
              </a:spcBef>
              <a:buNone/>
            </a:pPr>
            <a:r>
              <a:rPr lang="en-US" sz="2000" dirty="0">
                <a:solidFill>
                  <a:srgbClr val="C5D2E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생성형 AI 이후, 일하는 방식은 어떻게 재편되는가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43174" y="5628283"/>
            <a:ext cx="10902605" cy="0"/>
          </a:xfrm>
          <a:prstGeom prst="line">
            <a:avLst/>
          </a:prstGeom>
          <a:noFill/>
          <a:ln w="12698">
            <a:solidFill>
              <a:srgbClr val="3A5B8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3174" y="5837833"/>
            <a:ext cx="1061962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533"/>
              </a:spcAft>
              <a:buNone/>
            </a:pPr>
            <a:r>
              <a:rPr lang="en-US" sz="1333" dirty="0">
                <a:solidFill>
                  <a:srgbClr val="8FA6C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</a:t>
            </a:r>
            <a:endParaRPr lang="en-US" sz="1333" dirty="0"/>
          </a:p>
        </p:txBody>
      </p:sp>
      <p:sp>
        <p:nvSpPr>
          <p:cNvPr id="9" name="Text 7"/>
          <p:cNvSpPr/>
          <p:nvPr/>
        </p:nvSpPr>
        <p:spPr>
          <a:xfrm>
            <a:off x="643174" y="6108700"/>
            <a:ext cx="1061962" cy="241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8F1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발표자 · 소속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2462986" y="5837833"/>
            <a:ext cx="932455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533"/>
              </a:spcAft>
              <a:buNone/>
            </a:pPr>
            <a:r>
              <a:rPr lang="en-US" sz="1333" dirty="0">
                <a:solidFill>
                  <a:srgbClr val="8FA6C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일자</a:t>
            </a:r>
            <a:endParaRPr lang="en-US" sz="1333" dirty="0"/>
          </a:p>
        </p:txBody>
      </p:sp>
      <p:sp>
        <p:nvSpPr>
          <p:cNvPr id="11" name="Text 9"/>
          <p:cNvSpPr/>
          <p:nvPr/>
        </p:nvSpPr>
        <p:spPr>
          <a:xfrm>
            <a:off x="2462986" y="6108700"/>
            <a:ext cx="932455" cy="241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8F1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2026. 08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155830" y="5837833"/>
            <a:ext cx="958356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533"/>
              </a:spcAft>
              <a:buNone/>
            </a:pPr>
            <a:r>
              <a:rPr lang="en-US" sz="1333" dirty="0">
                <a:solidFill>
                  <a:srgbClr val="8FA6C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구분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4155830" y="6108700"/>
            <a:ext cx="958356" cy="241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8F1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사내 공유용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88952" cy="822920"/>
          </a:xfrm>
          <a:prstGeom prst="rect">
            <a:avLst/>
          </a:prstGeom>
          <a:solidFill>
            <a:srgbClr val="0B2C5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43174" y="191294"/>
            <a:ext cx="440024" cy="440134"/>
          </a:xfrm>
          <a:prstGeom prst="rect">
            <a:avLst/>
          </a:prstGeom>
          <a:solidFill>
            <a:srgbClr val="1B66C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736217" y="284361"/>
            <a:ext cx="259015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733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733" dirty="0"/>
          </a:p>
        </p:txBody>
      </p:sp>
      <p:sp>
        <p:nvSpPr>
          <p:cNvPr id="5" name="Text 3"/>
          <p:cNvSpPr/>
          <p:nvPr/>
        </p:nvSpPr>
        <p:spPr>
          <a:xfrm>
            <a:off x="1303210" y="189111"/>
            <a:ext cx="3327941" cy="444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2933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무엇이 달라졌는가</a:t>
            </a:r>
            <a:endParaRPr lang="en-US" sz="2933" dirty="0"/>
          </a:p>
        </p:txBody>
      </p:sp>
      <p:sp>
        <p:nvSpPr>
          <p:cNvPr id="6" name="Text 4"/>
          <p:cNvSpPr/>
          <p:nvPr/>
        </p:nvSpPr>
        <p:spPr>
          <a:xfrm>
            <a:off x="11304539" y="297061"/>
            <a:ext cx="24606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466" b="1" dirty="0">
                <a:solidFill>
                  <a:srgbClr val="8FA6C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466" dirty="0"/>
          </a:p>
        </p:txBody>
      </p:sp>
      <p:sp>
        <p:nvSpPr>
          <p:cNvPr id="7" name="Text 5"/>
          <p:cNvSpPr/>
          <p:nvPr/>
        </p:nvSpPr>
        <p:spPr>
          <a:xfrm>
            <a:off x="643174" y="1296789"/>
            <a:ext cx="406298" cy="406400"/>
          </a:xfrm>
          <a:prstGeom prst="rect">
            <a:avLst/>
          </a:prstGeom>
          <a:solidFill>
            <a:srgbClr val="1B66C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738400" y="1385689"/>
            <a:ext cx="220163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466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466" dirty="0"/>
          </a:p>
        </p:txBody>
      </p:sp>
      <p:sp>
        <p:nvSpPr>
          <p:cNvPr id="9" name="Text 7"/>
          <p:cNvSpPr/>
          <p:nvPr/>
        </p:nvSpPr>
        <p:spPr>
          <a:xfrm>
            <a:off x="643174" y="1940123"/>
            <a:ext cx="3326929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533" b="1" dirty="0">
                <a:solidFill>
                  <a:srgbClr val="0B2C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도구에서 동료로</a:t>
            </a:r>
            <a:endParaRPr lang="en-US" sz="2533" dirty="0"/>
          </a:p>
        </p:txBody>
      </p:sp>
      <p:sp>
        <p:nvSpPr>
          <p:cNvPr id="10" name="Text 8"/>
          <p:cNvSpPr/>
          <p:nvPr/>
        </p:nvSpPr>
        <p:spPr>
          <a:xfrm>
            <a:off x="643174" y="2473523"/>
            <a:ext cx="3326929" cy="12340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000" dirty="0">
                <a:solidFill>
                  <a:srgbClr val="5C64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결과물을 제안하는 단계를 넘어, 정해진 절차를 스스로 수행하는 단계로 이동한다.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43174" y="3916958"/>
            <a:ext cx="3261695" cy="0"/>
          </a:xfrm>
          <a:prstGeom prst="line">
            <a:avLst/>
          </a:prstGeom>
          <a:noFill/>
          <a:ln w="12698">
            <a:solidFill>
              <a:srgbClr val="C5D2E3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43174" y="4109442"/>
            <a:ext cx="3326929" cy="284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spcAft>
                <a:spcPts val="400"/>
              </a:spcAft>
              <a:buNone/>
            </a:pPr>
            <a:r>
              <a:rPr lang="en-US" sz="1600" dirty="0">
                <a:solidFill>
                  <a:srgbClr val="5C64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이동 방향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43174" y="4444603"/>
            <a:ext cx="3326929" cy="284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0B2C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초안 보조 → 절차 실행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283591" y="1263055"/>
            <a:ext cx="0" cy="3465909"/>
          </a:xfrm>
          <a:prstGeom prst="line">
            <a:avLst/>
          </a:prstGeom>
          <a:noFill/>
          <a:ln w="12698">
            <a:solidFill>
              <a:srgbClr val="C5D2E3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4662314" y="1296789"/>
            <a:ext cx="406298" cy="406400"/>
          </a:xfrm>
          <a:prstGeom prst="rect">
            <a:avLst/>
          </a:prstGeom>
          <a:solidFill>
            <a:srgbClr val="1B66C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4744843" y="1385689"/>
            <a:ext cx="24606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466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466" dirty="0"/>
          </a:p>
        </p:txBody>
      </p:sp>
      <p:sp>
        <p:nvSpPr>
          <p:cNvPr id="17" name="Text 15"/>
          <p:cNvSpPr/>
          <p:nvPr/>
        </p:nvSpPr>
        <p:spPr>
          <a:xfrm>
            <a:off x="4662314" y="1940123"/>
            <a:ext cx="2934157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533" b="1" dirty="0">
                <a:solidFill>
                  <a:srgbClr val="0B2C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문서에서 프로세스로</a:t>
            </a:r>
            <a:endParaRPr lang="en-US" sz="2533" dirty="0"/>
          </a:p>
        </p:txBody>
      </p:sp>
      <p:sp>
        <p:nvSpPr>
          <p:cNvPr id="18" name="Text 16"/>
          <p:cNvSpPr/>
          <p:nvPr/>
        </p:nvSpPr>
        <p:spPr>
          <a:xfrm>
            <a:off x="4662314" y="2473523"/>
            <a:ext cx="2934157" cy="12340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000" dirty="0">
                <a:solidFill>
                  <a:srgbClr val="5C64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자동화 대상이 문서 한 건에서 조회·승인·보고로 이어지는 흐름 전체로 넓어진다.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4662314" y="3916958"/>
            <a:ext cx="2876624" cy="0"/>
          </a:xfrm>
          <a:prstGeom prst="line">
            <a:avLst/>
          </a:prstGeom>
          <a:noFill/>
          <a:ln w="12698">
            <a:solidFill>
              <a:srgbClr val="C5D2E3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4662314" y="4109442"/>
            <a:ext cx="2934157" cy="284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spcAft>
                <a:spcPts val="400"/>
              </a:spcAft>
              <a:buNone/>
            </a:pPr>
            <a:r>
              <a:rPr lang="en-US" sz="1600" dirty="0">
                <a:solidFill>
                  <a:srgbClr val="5C64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이동 방향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662314" y="4444603"/>
            <a:ext cx="2934157" cy="284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0B2C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문서 한 건 → 업무 흐름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7917661" y="1263055"/>
            <a:ext cx="0" cy="3465909"/>
          </a:xfrm>
          <a:prstGeom prst="line">
            <a:avLst/>
          </a:prstGeom>
          <a:noFill/>
          <a:ln w="12698">
            <a:solidFill>
              <a:srgbClr val="C5D2E3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8296383" y="1296789"/>
            <a:ext cx="406298" cy="406400"/>
          </a:xfrm>
          <a:prstGeom prst="rect">
            <a:avLst/>
          </a:prstGeom>
          <a:solidFill>
            <a:srgbClr val="1B66C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8378913" y="1385689"/>
            <a:ext cx="24606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466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466" dirty="0"/>
          </a:p>
        </p:txBody>
      </p:sp>
      <p:sp>
        <p:nvSpPr>
          <p:cNvPr id="25" name="Text 23"/>
          <p:cNvSpPr/>
          <p:nvPr/>
        </p:nvSpPr>
        <p:spPr>
          <a:xfrm>
            <a:off x="8296383" y="1940123"/>
            <a:ext cx="3313978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533" b="1" dirty="0">
                <a:solidFill>
                  <a:srgbClr val="0B2C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IT에서 현업으로</a:t>
            </a:r>
            <a:endParaRPr lang="en-US" sz="2533" dirty="0"/>
          </a:p>
        </p:txBody>
      </p:sp>
      <p:sp>
        <p:nvSpPr>
          <p:cNvPr id="26" name="Text 24"/>
          <p:cNvSpPr/>
          <p:nvPr/>
        </p:nvSpPr>
        <p:spPr>
          <a:xfrm>
            <a:off x="8296383" y="2473523"/>
            <a:ext cx="3313978" cy="12340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000" dirty="0">
                <a:solidFill>
                  <a:srgbClr val="5C64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자동화를 만드는 주체가 개발 조직에서 업무를 가장 잘 아는 담당자로 옮겨간다.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8296383" y="3916958"/>
            <a:ext cx="3248998" cy="0"/>
          </a:xfrm>
          <a:prstGeom prst="line">
            <a:avLst/>
          </a:prstGeom>
          <a:noFill/>
          <a:ln w="12698">
            <a:solidFill>
              <a:srgbClr val="C5D2E3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8296383" y="4109442"/>
            <a:ext cx="3313978" cy="284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spcAft>
                <a:spcPts val="400"/>
              </a:spcAft>
              <a:buNone/>
            </a:pPr>
            <a:r>
              <a:rPr lang="en-US" sz="1600" dirty="0">
                <a:solidFill>
                  <a:srgbClr val="5C64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이동 방향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8296383" y="4444603"/>
            <a:ext cx="3313978" cy="284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0B2C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개발 요청 → 현업 구성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643174" y="5135364"/>
            <a:ext cx="10902605" cy="842169"/>
          </a:xfrm>
          <a:prstGeom prst="rect">
            <a:avLst/>
          </a:prstGeom>
          <a:solidFill>
            <a:srgbClr val="E8F1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Shape 29"/>
          <p:cNvSpPr/>
          <p:nvPr/>
        </p:nvSpPr>
        <p:spPr>
          <a:xfrm>
            <a:off x="668567" y="5135364"/>
            <a:ext cx="0" cy="842169"/>
          </a:xfrm>
          <a:prstGeom prst="line">
            <a:avLst/>
          </a:prstGeom>
          <a:noFill/>
          <a:ln w="50794">
            <a:solidFill>
              <a:srgbClr val="1B66C9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998685" y="5372298"/>
            <a:ext cx="10447217" cy="368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000" b="1" dirty="0">
                <a:solidFill>
                  <a:srgbClr val="0B2C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질문이 바뀌었다. “AI가 무엇을 할 수 있는가”가 아니라 “어떤 업무를 맡길 것인가”.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88952" cy="822920"/>
          </a:xfrm>
          <a:prstGeom prst="rect">
            <a:avLst/>
          </a:prstGeom>
          <a:solidFill>
            <a:srgbClr val="0B2C5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43174" y="191294"/>
            <a:ext cx="440024" cy="440134"/>
          </a:xfrm>
          <a:prstGeom prst="rect">
            <a:avLst/>
          </a:prstGeom>
          <a:solidFill>
            <a:srgbClr val="1B66C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717172" y="284361"/>
            <a:ext cx="297868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733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733" dirty="0"/>
          </a:p>
        </p:txBody>
      </p:sp>
      <p:sp>
        <p:nvSpPr>
          <p:cNvPr id="5" name="Text 3"/>
          <p:cNvSpPr/>
          <p:nvPr/>
        </p:nvSpPr>
        <p:spPr>
          <a:xfrm>
            <a:off x="1303210" y="189111"/>
            <a:ext cx="4584974" cy="444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2933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업무 자동화는 3단계로 성숙한다</a:t>
            </a:r>
            <a:endParaRPr lang="en-US" sz="2933" dirty="0"/>
          </a:p>
        </p:txBody>
      </p:sp>
      <p:sp>
        <p:nvSpPr>
          <p:cNvPr id="6" name="Text 4"/>
          <p:cNvSpPr/>
          <p:nvPr/>
        </p:nvSpPr>
        <p:spPr>
          <a:xfrm>
            <a:off x="11304539" y="297061"/>
            <a:ext cx="24606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466" b="1" dirty="0">
                <a:solidFill>
                  <a:srgbClr val="8FA6C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466" dirty="0"/>
          </a:p>
        </p:txBody>
      </p:sp>
      <p:sp>
        <p:nvSpPr>
          <p:cNvPr id="7" name="Text 5"/>
          <p:cNvSpPr/>
          <p:nvPr/>
        </p:nvSpPr>
        <p:spPr>
          <a:xfrm>
            <a:off x="643174" y="1229320"/>
            <a:ext cx="3282923" cy="3567509"/>
          </a:xfrm>
          <a:prstGeom prst="rect">
            <a:avLst/>
          </a:prstGeom>
          <a:solidFill>
            <a:srgbClr val="FFFFFF"/>
          </a:solidFill>
          <a:ln w="12698">
            <a:solidFill>
              <a:srgbClr val="C5D2E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926670" y="1546820"/>
            <a:ext cx="372374" cy="372467"/>
          </a:xfrm>
          <a:prstGeom prst="rect">
            <a:avLst/>
          </a:prstGeom>
          <a:solidFill>
            <a:srgbClr val="1B66C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004835" y="1618655"/>
            <a:ext cx="220163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466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466" dirty="0"/>
          </a:p>
        </p:txBody>
      </p:sp>
      <p:sp>
        <p:nvSpPr>
          <p:cNvPr id="10" name="Text 8"/>
          <p:cNvSpPr/>
          <p:nvPr/>
        </p:nvSpPr>
        <p:spPr>
          <a:xfrm>
            <a:off x="926670" y="2105422"/>
            <a:ext cx="2770249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1067"/>
              </a:spcAft>
              <a:buNone/>
            </a:pPr>
            <a:r>
              <a:rPr lang="en-US" sz="2266" b="1" dirty="0">
                <a:solidFill>
                  <a:srgbClr val="0B2C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보조</a:t>
            </a:r>
            <a:endParaRPr lang="en-US" sz="2266" dirty="0"/>
          </a:p>
        </p:txBody>
      </p:sp>
      <p:sp>
        <p:nvSpPr>
          <p:cNvPr id="11" name="Text 9"/>
          <p:cNvSpPr/>
          <p:nvPr/>
        </p:nvSpPr>
        <p:spPr>
          <a:xfrm>
            <a:off x="926670" y="2583656"/>
            <a:ext cx="2770249" cy="13031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866" dirty="0">
                <a:solidFill>
                  <a:srgbClr val="5C64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사람이 실행하고 AI가 초안과 검색을 돕는다. 산출물의 책임은 사람에게 있다.</a:t>
            </a:r>
            <a:endParaRPr lang="en-US" sz="1866" dirty="0"/>
          </a:p>
        </p:txBody>
      </p:sp>
      <p:sp>
        <p:nvSpPr>
          <p:cNvPr id="12" name="Shape 10"/>
          <p:cNvSpPr/>
          <p:nvPr/>
        </p:nvSpPr>
        <p:spPr>
          <a:xfrm>
            <a:off x="926670" y="4079280"/>
            <a:ext cx="2715930" cy="0"/>
          </a:xfrm>
          <a:prstGeom prst="line">
            <a:avLst/>
          </a:prstGeom>
          <a:noFill/>
          <a:ln w="12698">
            <a:solidFill>
              <a:srgbClr val="C5D2E3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926670" y="4238030"/>
            <a:ext cx="2770249" cy="241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5C64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사람의 역할</a:t>
            </a:r>
            <a:pPr algn="l" indent="0" marL="0">
              <a:buNone/>
            </a:pPr>
            <a:r>
              <a:rPr lang="en-US" sz="1600" dirty="0">
                <a:solidFill>
                  <a:srgbClr val="0B2C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실행자</a:t>
            </a:r>
            <a:endParaRPr lang="en-US" sz="160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926096" y="2911475"/>
            <a:ext cx="507873" cy="203200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4433969" y="1229320"/>
            <a:ext cx="3321013" cy="3567509"/>
          </a:xfrm>
          <a:prstGeom prst="rect">
            <a:avLst/>
          </a:prstGeom>
          <a:solidFill>
            <a:srgbClr val="E8F1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Shape 13"/>
          <p:cNvSpPr/>
          <p:nvPr/>
        </p:nvSpPr>
        <p:spPr>
          <a:xfrm>
            <a:off x="4433969" y="1235670"/>
            <a:ext cx="3321013" cy="0"/>
          </a:xfrm>
          <a:prstGeom prst="line">
            <a:avLst/>
          </a:prstGeom>
          <a:noFill/>
          <a:ln w="12698">
            <a:solidFill>
              <a:srgbClr val="C5D2E3"/>
            </a:solidFill>
            <a:prstDash val="solid"/>
          </a:ln>
        </p:spPr>
        <p:txBody>
          <a:bodyPr/>
          <a:p/>
        </p:txBody>
      </p:sp>
      <p:sp>
        <p:nvSpPr>
          <p:cNvPr id="17" name="Shape 14"/>
          <p:cNvSpPr/>
          <p:nvPr/>
        </p:nvSpPr>
        <p:spPr>
          <a:xfrm>
            <a:off x="7748634" y="1229320"/>
            <a:ext cx="0" cy="3567509"/>
          </a:xfrm>
          <a:prstGeom prst="line">
            <a:avLst/>
          </a:prstGeom>
          <a:noFill/>
          <a:ln w="12698">
            <a:solidFill>
              <a:srgbClr val="C5D2E3"/>
            </a:solidFill>
            <a:prstDash val="solid"/>
          </a:ln>
        </p:spPr>
        <p:txBody>
          <a:bodyPr/>
          <a:p/>
        </p:txBody>
      </p:sp>
      <p:sp>
        <p:nvSpPr>
          <p:cNvPr id="18" name="Shape 15"/>
          <p:cNvSpPr/>
          <p:nvPr/>
        </p:nvSpPr>
        <p:spPr>
          <a:xfrm>
            <a:off x="4433969" y="4790480"/>
            <a:ext cx="3321013" cy="0"/>
          </a:xfrm>
          <a:prstGeom prst="line">
            <a:avLst/>
          </a:prstGeom>
          <a:noFill/>
          <a:ln w="12698">
            <a:solidFill>
              <a:srgbClr val="C5D2E3"/>
            </a:solidFill>
            <a:prstDash val="solid"/>
          </a:ln>
        </p:spPr>
        <p:txBody>
          <a:bodyPr/>
          <a:p/>
        </p:txBody>
      </p:sp>
      <p:sp>
        <p:nvSpPr>
          <p:cNvPr id="19" name="Shape 16"/>
          <p:cNvSpPr/>
          <p:nvPr/>
        </p:nvSpPr>
        <p:spPr>
          <a:xfrm>
            <a:off x="4459363" y="1229320"/>
            <a:ext cx="0" cy="3567509"/>
          </a:xfrm>
          <a:prstGeom prst="line">
            <a:avLst/>
          </a:prstGeom>
          <a:noFill/>
          <a:ln w="50794">
            <a:solidFill>
              <a:srgbClr val="1B66C9"/>
            </a:solidFill>
            <a:prstDash val="solid"/>
          </a:ln>
        </p:spPr>
        <p:txBody>
          <a:bodyPr/>
          <a:p/>
        </p:txBody>
      </p:sp>
      <p:sp>
        <p:nvSpPr>
          <p:cNvPr id="20" name="Text 17"/>
          <p:cNvSpPr/>
          <p:nvPr/>
        </p:nvSpPr>
        <p:spPr>
          <a:xfrm>
            <a:off x="4755556" y="1546820"/>
            <a:ext cx="372374" cy="372467"/>
          </a:xfrm>
          <a:prstGeom prst="rect">
            <a:avLst/>
          </a:prstGeom>
          <a:solidFill>
            <a:srgbClr val="1B66C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8"/>
          <p:cNvSpPr/>
          <p:nvPr/>
        </p:nvSpPr>
        <p:spPr>
          <a:xfrm>
            <a:off x="4821024" y="1618655"/>
            <a:ext cx="24606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466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466" dirty="0"/>
          </a:p>
        </p:txBody>
      </p:sp>
      <p:sp>
        <p:nvSpPr>
          <p:cNvPr id="22" name="Text 19"/>
          <p:cNvSpPr/>
          <p:nvPr/>
        </p:nvSpPr>
        <p:spPr>
          <a:xfrm>
            <a:off x="4755556" y="2105422"/>
            <a:ext cx="2770249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1067"/>
              </a:spcAft>
              <a:buNone/>
            </a:pPr>
            <a:r>
              <a:rPr lang="en-US" sz="2266" b="1" dirty="0">
                <a:solidFill>
                  <a:srgbClr val="0B2C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위임</a:t>
            </a:r>
            <a:endParaRPr lang="en-US" sz="2266" dirty="0"/>
          </a:p>
        </p:txBody>
      </p:sp>
      <p:sp>
        <p:nvSpPr>
          <p:cNvPr id="23" name="Text 20"/>
          <p:cNvSpPr/>
          <p:nvPr/>
        </p:nvSpPr>
        <p:spPr>
          <a:xfrm>
            <a:off x="4755556" y="2583656"/>
            <a:ext cx="2770249" cy="13031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866" dirty="0">
                <a:solidFill>
                  <a:srgbClr val="5C64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절차가 고정된 업무를 AI가 실행하고, 사람이 결과를 검수한다.</a:t>
            </a:r>
            <a:endParaRPr lang="en-US" sz="1866" dirty="0"/>
          </a:p>
        </p:txBody>
      </p:sp>
      <p:sp>
        <p:nvSpPr>
          <p:cNvPr id="24" name="Shape 21"/>
          <p:cNvSpPr/>
          <p:nvPr/>
        </p:nvSpPr>
        <p:spPr>
          <a:xfrm>
            <a:off x="4755556" y="4079280"/>
            <a:ext cx="2715930" cy="0"/>
          </a:xfrm>
          <a:prstGeom prst="line">
            <a:avLst/>
          </a:prstGeom>
          <a:noFill/>
          <a:ln w="12698">
            <a:solidFill>
              <a:srgbClr val="C5D2E3"/>
            </a:solidFill>
            <a:prstDash val="solid"/>
          </a:ln>
        </p:spPr>
        <p:txBody>
          <a:bodyPr/>
          <a:p/>
        </p:txBody>
      </p:sp>
      <p:sp>
        <p:nvSpPr>
          <p:cNvPr id="25" name="Text 22"/>
          <p:cNvSpPr/>
          <p:nvPr/>
        </p:nvSpPr>
        <p:spPr>
          <a:xfrm>
            <a:off x="4755556" y="4238030"/>
            <a:ext cx="2770249" cy="241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5C64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사람의 역할</a:t>
            </a:r>
            <a:pPr algn="l" indent="0" marL="0">
              <a:buNone/>
            </a:pPr>
            <a:r>
              <a:rPr lang="en-US" sz="1600" dirty="0">
                <a:solidFill>
                  <a:srgbClr val="0B2C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검수자</a:t>
            </a:r>
            <a:endParaRPr lang="en-US" sz="1600" dirty="0"/>
          </a:p>
        </p:txBody>
      </p:sp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754983" y="2911475"/>
            <a:ext cx="507873" cy="203200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8262856" y="1229320"/>
            <a:ext cx="3282923" cy="3567509"/>
          </a:xfrm>
          <a:prstGeom prst="rect">
            <a:avLst/>
          </a:prstGeom>
          <a:solidFill>
            <a:srgbClr val="FFFFFF"/>
          </a:solidFill>
          <a:ln w="12698">
            <a:solidFill>
              <a:srgbClr val="C5D2E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4"/>
          <p:cNvSpPr/>
          <p:nvPr/>
        </p:nvSpPr>
        <p:spPr>
          <a:xfrm>
            <a:off x="8546352" y="1546820"/>
            <a:ext cx="372374" cy="372467"/>
          </a:xfrm>
          <a:prstGeom prst="rect">
            <a:avLst/>
          </a:prstGeom>
          <a:solidFill>
            <a:srgbClr val="1B66C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5"/>
          <p:cNvSpPr/>
          <p:nvPr/>
        </p:nvSpPr>
        <p:spPr>
          <a:xfrm>
            <a:off x="8611820" y="1618655"/>
            <a:ext cx="24606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466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466" dirty="0"/>
          </a:p>
        </p:txBody>
      </p:sp>
      <p:sp>
        <p:nvSpPr>
          <p:cNvPr id="30" name="Text 26"/>
          <p:cNvSpPr/>
          <p:nvPr/>
        </p:nvSpPr>
        <p:spPr>
          <a:xfrm>
            <a:off x="8546352" y="2105422"/>
            <a:ext cx="2770249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1067"/>
              </a:spcAft>
              <a:buNone/>
            </a:pPr>
            <a:r>
              <a:rPr lang="en-US" sz="2266" b="1" dirty="0">
                <a:solidFill>
                  <a:srgbClr val="0B2C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자율</a:t>
            </a:r>
            <a:endParaRPr lang="en-US" sz="2266" dirty="0"/>
          </a:p>
        </p:txBody>
      </p:sp>
      <p:sp>
        <p:nvSpPr>
          <p:cNvPr id="31" name="Text 27"/>
          <p:cNvSpPr/>
          <p:nvPr/>
        </p:nvSpPr>
        <p:spPr>
          <a:xfrm>
            <a:off x="8546352" y="2583656"/>
            <a:ext cx="2770249" cy="13031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866" dirty="0">
                <a:solidFill>
                  <a:srgbClr val="5C64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AI가 실행과 판단을 맡고, 사람은 예외와 기준만 관리한다.</a:t>
            </a:r>
            <a:endParaRPr lang="en-US" sz="1866" dirty="0"/>
          </a:p>
        </p:txBody>
      </p:sp>
      <p:sp>
        <p:nvSpPr>
          <p:cNvPr id="32" name="Shape 28"/>
          <p:cNvSpPr/>
          <p:nvPr/>
        </p:nvSpPr>
        <p:spPr>
          <a:xfrm>
            <a:off x="8546352" y="4079280"/>
            <a:ext cx="2715930" cy="0"/>
          </a:xfrm>
          <a:prstGeom prst="line">
            <a:avLst/>
          </a:prstGeom>
          <a:noFill/>
          <a:ln w="12698">
            <a:solidFill>
              <a:srgbClr val="C5D2E3"/>
            </a:solidFill>
            <a:prstDash val="solid"/>
          </a:ln>
        </p:spPr>
        <p:txBody>
          <a:bodyPr/>
          <a:p/>
        </p:txBody>
      </p:sp>
      <p:sp>
        <p:nvSpPr>
          <p:cNvPr id="33" name="Text 29"/>
          <p:cNvSpPr/>
          <p:nvPr/>
        </p:nvSpPr>
        <p:spPr>
          <a:xfrm>
            <a:off x="8546352" y="4238030"/>
            <a:ext cx="2770249" cy="241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5C64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사람의 역할</a:t>
            </a:r>
            <a:pPr algn="l" indent="0" marL="0">
              <a:buNone/>
            </a:pPr>
            <a:r>
              <a:rPr lang="en-US" sz="1600" dirty="0">
                <a:solidFill>
                  <a:srgbClr val="0B2C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기준 설계자</a:t>
            </a:r>
            <a:endParaRPr lang="en-US" sz="1600" dirty="0"/>
          </a:p>
        </p:txBody>
      </p:sp>
      <p:sp>
        <p:nvSpPr>
          <p:cNvPr id="34" name="Text 30"/>
          <p:cNvSpPr/>
          <p:nvPr/>
        </p:nvSpPr>
        <p:spPr>
          <a:xfrm>
            <a:off x="643174" y="5169297"/>
            <a:ext cx="10902605" cy="842169"/>
          </a:xfrm>
          <a:prstGeom prst="rect">
            <a:avLst/>
          </a:prstGeom>
          <a:solidFill>
            <a:srgbClr val="E8F1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Shape 31"/>
          <p:cNvSpPr/>
          <p:nvPr/>
        </p:nvSpPr>
        <p:spPr>
          <a:xfrm>
            <a:off x="668567" y="5169297"/>
            <a:ext cx="0" cy="842169"/>
          </a:xfrm>
          <a:prstGeom prst="line">
            <a:avLst/>
          </a:prstGeom>
          <a:noFill/>
          <a:ln w="50794">
            <a:solidFill>
              <a:srgbClr val="1B66C9"/>
            </a:solidFill>
            <a:prstDash val="solid"/>
          </a:ln>
        </p:spPr>
        <p:txBody>
          <a:bodyPr/>
          <a:p/>
        </p:txBody>
      </p:sp>
      <p:sp>
        <p:nvSpPr>
          <p:cNvPr id="36" name="Text 32"/>
          <p:cNvSpPr/>
          <p:nvPr/>
        </p:nvSpPr>
        <p:spPr>
          <a:xfrm>
            <a:off x="998685" y="5406231"/>
            <a:ext cx="10447217" cy="368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000" b="1" dirty="0">
                <a:solidFill>
                  <a:srgbClr val="0B2C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2단계로 넘어가는 문턱은 모델 성능이 아니라, 검수 기준과 책임 소재를 정의했는지다.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88952" cy="822920"/>
          </a:xfrm>
          <a:prstGeom prst="rect">
            <a:avLst/>
          </a:prstGeom>
          <a:solidFill>
            <a:srgbClr val="0B2C5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43174" y="191294"/>
            <a:ext cx="440024" cy="440134"/>
          </a:xfrm>
          <a:prstGeom prst="rect">
            <a:avLst/>
          </a:prstGeom>
          <a:solidFill>
            <a:srgbClr val="1B66C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717172" y="284361"/>
            <a:ext cx="297868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733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733" dirty="0"/>
          </a:p>
        </p:txBody>
      </p:sp>
      <p:sp>
        <p:nvSpPr>
          <p:cNvPr id="5" name="Text 3"/>
          <p:cNvSpPr/>
          <p:nvPr/>
        </p:nvSpPr>
        <p:spPr>
          <a:xfrm>
            <a:off x="1303210" y="189111"/>
            <a:ext cx="4525684" cy="444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2933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도입 조직이 먼저 준비해야 할 것</a:t>
            </a:r>
            <a:endParaRPr lang="en-US" sz="2933" dirty="0"/>
          </a:p>
        </p:txBody>
      </p:sp>
      <p:sp>
        <p:nvSpPr>
          <p:cNvPr id="6" name="Text 4"/>
          <p:cNvSpPr/>
          <p:nvPr/>
        </p:nvSpPr>
        <p:spPr>
          <a:xfrm>
            <a:off x="11291842" y="297061"/>
            <a:ext cx="25901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466" b="1" dirty="0">
                <a:solidFill>
                  <a:srgbClr val="8FA6C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466" dirty="0"/>
          </a:p>
        </p:txBody>
      </p:sp>
      <p:sp>
        <p:nvSpPr>
          <p:cNvPr id="7" name="Text 5"/>
          <p:cNvSpPr/>
          <p:nvPr/>
        </p:nvSpPr>
        <p:spPr>
          <a:xfrm>
            <a:off x="643174" y="1229320"/>
            <a:ext cx="5229108" cy="3499644"/>
          </a:xfrm>
          <a:prstGeom prst="rect">
            <a:avLst/>
          </a:prstGeom>
          <a:noFill/>
          <a:ln w="12698">
            <a:solidFill>
              <a:srgbClr val="C5D2E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55870" y="1242020"/>
            <a:ext cx="5203714" cy="575469"/>
          </a:xfrm>
          <a:prstGeom prst="rect">
            <a:avLst/>
          </a:prstGeom>
          <a:solidFill>
            <a:srgbClr val="0B2C5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892746" y="1377355"/>
            <a:ext cx="99478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먼저 할 일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013262" y="1453555"/>
            <a:ext cx="621637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dirty="0">
                <a:solidFill>
                  <a:srgbClr val="8FA6C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우선순위</a:t>
            </a:r>
            <a:endParaRPr lang="en-US" sz="1333" dirty="0"/>
          </a:p>
        </p:txBody>
      </p:sp>
      <p:sp>
        <p:nvSpPr>
          <p:cNvPr id="11" name="Text 9"/>
          <p:cNvSpPr/>
          <p:nvPr/>
        </p:nvSpPr>
        <p:spPr>
          <a:xfrm>
            <a:off x="926670" y="2492177"/>
            <a:ext cx="101575" cy="101600"/>
          </a:xfrm>
          <a:prstGeom prst="rect">
            <a:avLst/>
          </a:prstGeom>
          <a:solidFill>
            <a:srgbClr val="1B66C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197469" y="2373709"/>
            <a:ext cx="4442111" cy="393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1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반복도와 규칙성이 높은 업무부터 목록화한다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926670" y="3171230"/>
            <a:ext cx="101575" cy="101600"/>
          </a:xfrm>
          <a:prstGeom prst="rect">
            <a:avLst/>
          </a:prstGeom>
          <a:solidFill>
            <a:srgbClr val="1B66C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1197469" y="3052763"/>
            <a:ext cx="4286702" cy="393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1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사람이 최종 확인할 지점을 업무마다 정한다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26670" y="3850283"/>
            <a:ext cx="101575" cy="101600"/>
          </a:xfrm>
          <a:prstGeom prst="rect">
            <a:avLst/>
          </a:prstGeom>
          <a:solidFill>
            <a:srgbClr val="1B66C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197469" y="3731816"/>
            <a:ext cx="4351456" cy="393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1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잘못 실행됐을 때 되돌릴 절차를 함께 만든다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6278580" y="1235670"/>
            <a:ext cx="5267198" cy="0"/>
          </a:xfrm>
          <a:prstGeom prst="line">
            <a:avLst/>
          </a:prstGeom>
          <a:noFill/>
          <a:ln w="12698">
            <a:solidFill>
              <a:srgbClr val="C5D2E3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11539430" y="1229320"/>
            <a:ext cx="0" cy="3499644"/>
          </a:xfrm>
          <a:prstGeom prst="line">
            <a:avLst/>
          </a:prstGeom>
          <a:noFill/>
          <a:ln w="12698">
            <a:solidFill>
              <a:srgbClr val="C5D2E3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6278580" y="4722614"/>
            <a:ext cx="5267198" cy="0"/>
          </a:xfrm>
          <a:prstGeom prst="line">
            <a:avLst/>
          </a:prstGeom>
          <a:noFill/>
          <a:ln w="12698">
            <a:solidFill>
              <a:srgbClr val="C5D2E3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6303974" y="1229320"/>
            <a:ext cx="0" cy="3499644"/>
          </a:xfrm>
          <a:prstGeom prst="line">
            <a:avLst/>
          </a:prstGeom>
          <a:noFill/>
          <a:ln w="50794">
            <a:solidFill>
              <a:srgbClr val="E03B3B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329367" y="1242020"/>
            <a:ext cx="5203714" cy="575469"/>
          </a:xfrm>
          <a:prstGeom prst="rect">
            <a:avLst/>
          </a:prstGeom>
          <a:solidFill>
            <a:srgbClr val="0B2C5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6566242" y="1377355"/>
            <a:ext cx="1647377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미루면 위험한 것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10991483" y="1453555"/>
            <a:ext cx="310818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dirty="0">
                <a:solidFill>
                  <a:srgbClr val="8FA6C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위험</a:t>
            </a:r>
            <a:endParaRPr lang="en-US" sz="1333" dirty="0"/>
          </a:p>
        </p:txBody>
      </p:sp>
      <p:sp>
        <p:nvSpPr>
          <p:cNvPr id="24" name="Text 22"/>
          <p:cNvSpPr/>
          <p:nvPr/>
        </p:nvSpPr>
        <p:spPr>
          <a:xfrm>
            <a:off x="6600167" y="2492177"/>
            <a:ext cx="101575" cy="101600"/>
          </a:xfrm>
          <a:prstGeom prst="rect">
            <a:avLst/>
          </a:prstGeom>
          <a:solidFill>
            <a:srgbClr val="1B66C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6870966" y="2373709"/>
            <a:ext cx="4131293" cy="393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1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검수 지점 없이 전체 업무에 한꺼번에 적용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6600167" y="3171230"/>
            <a:ext cx="101575" cy="101600"/>
          </a:xfrm>
          <a:prstGeom prst="rect">
            <a:avLst/>
          </a:prstGeom>
          <a:solidFill>
            <a:srgbClr val="1B66C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6870966" y="3052763"/>
            <a:ext cx="3846376" cy="393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1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실행 근거와 기록을 남기지 않는 자동화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6600167" y="3850283"/>
            <a:ext cx="101575" cy="101600"/>
          </a:xfrm>
          <a:prstGeom prst="rect">
            <a:avLst/>
          </a:prstGeom>
          <a:solidFill>
            <a:srgbClr val="1B66C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6870966" y="3731816"/>
            <a:ext cx="3406050" cy="393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1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직무 재설계 없이 도구만 먼저 도입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643174" y="5101431"/>
            <a:ext cx="10902605" cy="910034"/>
          </a:xfrm>
          <a:prstGeom prst="rect">
            <a:avLst/>
          </a:prstGeom>
          <a:solidFill>
            <a:srgbClr val="E8F1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Shape 29"/>
          <p:cNvSpPr/>
          <p:nvPr/>
        </p:nvSpPr>
        <p:spPr>
          <a:xfrm>
            <a:off x="643174" y="5126831"/>
            <a:ext cx="10902605" cy="0"/>
          </a:xfrm>
          <a:prstGeom prst="line">
            <a:avLst/>
          </a:prstGeom>
          <a:noFill/>
          <a:ln w="50794">
            <a:solidFill>
              <a:srgbClr val="0B2C5C"/>
            </a:solidFill>
            <a:prstDash val="solid"/>
          </a:ln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643174" y="5986066"/>
            <a:ext cx="10902605" cy="0"/>
          </a:xfrm>
          <a:prstGeom prst="line">
            <a:avLst/>
          </a:prstGeom>
          <a:noFill/>
          <a:ln w="50794">
            <a:solidFill>
              <a:srgbClr val="0B2C5C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913973" y="5374481"/>
            <a:ext cx="683645" cy="363934"/>
          </a:xfrm>
          <a:prstGeom prst="rect">
            <a:avLst/>
          </a:prstGeom>
          <a:solidFill>
            <a:srgbClr val="0B2C5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1083198" y="5442148"/>
            <a:ext cx="352099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466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요약</a:t>
            </a:r>
            <a:endParaRPr lang="en-US" sz="1466" dirty="0"/>
          </a:p>
        </p:txBody>
      </p:sp>
      <p:sp>
        <p:nvSpPr>
          <p:cNvPr id="35" name="Text 33"/>
          <p:cNvSpPr/>
          <p:nvPr/>
        </p:nvSpPr>
        <p:spPr>
          <a:xfrm>
            <a:off x="1834493" y="5372298"/>
            <a:ext cx="7770457" cy="368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000" b="1" dirty="0">
                <a:solidFill>
                  <a:srgbClr val="0B2C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성패는 모델 성능이 아니라, 사람이 어디서 개입할지를 정하는 설계에서 갈린다.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2C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3174" y="575667"/>
            <a:ext cx="724711" cy="397669"/>
          </a:xfrm>
          <a:prstGeom prst="rect">
            <a:avLst/>
          </a:prstGeom>
          <a:solidFill>
            <a:srgbClr val="1B66C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829261" y="660202"/>
            <a:ext cx="35958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466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논의</a:t>
            </a:r>
            <a:endParaRPr lang="en-US" sz="1466" dirty="0"/>
          </a:p>
        </p:txBody>
      </p:sp>
      <p:sp>
        <p:nvSpPr>
          <p:cNvPr id="4" name="Text 2"/>
          <p:cNvSpPr/>
          <p:nvPr/>
        </p:nvSpPr>
        <p:spPr>
          <a:xfrm>
            <a:off x="643174" y="2315567"/>
            <a:ext cx="67650" cy="2222103"/>
          </a:xfrm>
          <a:prstGeom prst="rect">
            <a:avLst/>
          </a:prstGeom>
          <a:solidFill>
            <a:srgbClr val="1B66C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421846" y="2315567"/>
            <a:ext cx="4006035" cy="10971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639"/>
              </a:lnSpc>
              <a:buNone/>
            </a:pPr>
            <a:r>
              <a:rPr lang="en-US" sz="7199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Q&amp;A</a:t>
            </a:r>
            <a:endParaRPr lang="en-US" sz="7199" dirty="0"/>
          </a:p>
        </p:txBody>
      </p:sp>
      <p:sp>
        <p:nvSpPr>
          <p:cNvPr id="6" name="Text 4"/>
          <p:cNvSpPr/>
          <p:nvPr/>
        </p:nvSpPr>
        <p:spPr>
          <a:xfrm>
            <a:off x="1421846" y="3649663"/>
            <a:ext cx="4006035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000"/>
              </a:lnSpc>
              <a:spcBef>
                <a:spcPts val="1866"/>
              </a:spcBef>
              <a:buNone/>
            </a:pPr>
            <a:r>
              <a:rPr lang="en-US" sz="2000" dirty="0">
                <a:solidFill>
                  <a:srgbClr val="C5D2E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함께 정하고 싶은 세 가지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060353" y="2914452"/>
            <a:ext cx="5485425" cy="0"/>
          </a:xfrm>
          <a:prstGeom prst="line">
            <a:avLst/>
          </a:prstGeom>
          <a:noFill/>
          <a:ln w="12698">
            <a:solidFill>
              <a:srgbClr val="3A5B8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060353" y="2315567"/>
            <a:ext cx="372374" cy="372467"/>
          </a:xfrm>
          <a:prstGeom prst="rect">
            <a:avLst/>
          </a:prstGeom>
          <a:solidFill>
            <a:srgbClr val="1B66C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6138518" y="2387402"/>
            <a:ext cx="220163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466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466" dirty="0"/>
          </a:p>
        </p:txBody>
      </p:sp>
      <p:sp>
        <p:nvSpPr>
          <p:cNvPr id="10" name="Text 8"/>
          <p:cNvSpPr/>
          <p:nvPr/>
        </p:nvSpPr>
        <p:spPr>
          <a:xfrm>
            <a:off x="6635877" y="2315567"/>
            <a:ext cx="4571619" cy="389334"/>
          </a:xfrm>
          <a:prstGeom prst="rect">
            <a:avLst/>
          </a:prstGeom>
          <a:noFill/>
          <a:ln/>
        </p:spPr>
        <p:txBody>
          <a:bodyPr wrap="none" lIns="0" tIns="33862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E8F1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우리 조직에서 가장 먼저 맡길 업무는 무엇인가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060353" y="3722886"/>
            <a:ext cx="5485425" cy="0"/>
          </a:xfrm>
          <a:prstGeom prst="line">
            <a:avLst/>
          </a:prstGeom>
          <a:noFill/>
          <a:ln w="12698">
            <a:solidFill>
              <a:srgbClr val="3A5B87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060353" y="3124002"/>
            <a:ext cx="372374" cy="372467"/>
          </a:xfrm>
          <a:prstGeom prst="rect">
            <a:avLst/>
          </a:prstGeom>
          <a:solidFill>
            <a:srgbClr val="1B66C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125821" y="3195836"/>
            <a:ext cx="24606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466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466" dirty="0"/>
          </a:p>
        </p:txBody>
      </p:sp>
      <p:sp>
        <p:nvSpPr>
          <p:cNvPr id="14" name="Text 12"/>
          <p:cNvSpPr/>
          <p:nvPr/>
        </p:nvSpPr>
        <p:spPr>
          <a:xfrm>
            <a:off x="6635877" y="3124002"/>
            <a:ext cx="4506865" cy="389334"/>
          </a:xfrm>
          <a:prstGeom prst="rect">
            <a:avLst/>
          </a:prstGeom>
          <a:noFill/>
          <a:ln/>
        </p:spPr>
        <p:txBody>
          <a:bodyPr wrap="none" lIns="0" tIns="33862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E8F1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사람이 반드시 확인해야 하는 지점은 어디인가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6060353" y="4531320"/>
            <a:ext cx="5485425" cy="0"/>
          </a:xfrm>
          <a:prstGeom prst="line">
            <a:avLst/>
          </a:prstGeom>
          <a:noFill/>
          <a:ln w="12698">
            <a:solidFill>
              <a:srgbClr val="3A5B87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060353" y="3932436"/>
            <a:ext cx="372374" cy="372467"/>
          </a:xfrm>
          <a:prstGeom prst="rect">
            <a:avLst/>
          </a:prstGeom>
          <a:solidFill>
            <a:srgbClr val="1B66C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125821" y="4004270"/>
            <a:ext cx="24606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466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466" dirty="0"/>
          </a:p>
        </p:txBody>
      </p:sp>
      <p:sp>
        <p:nvSpPr>
          <p:cNvPr id="18" name="Text 16"/>
          <p:cNvSpPr/>
          <p:nvPr/>
        </p:nvSpPr>
        <p:spPr>
          <a:xfrm>
            <a:off x="6635877" y="3932436"/>
            <a:ext cx="3056380" cy="389334"/>
          </a:xfrm>
          <a:prstGeom prst="rect">
            <a:avLst/>
          </a:prstGeom>
          <a:noFill/>
          <a:ln/>
        </p:spPr>
        <p:txBody>
          <a:bodyPr wrap="none" lIns="0" tIns="33862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E8F1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성과는 무엇으로 측정할 것인가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643174" y="5886252"/>
            <a:ext cx="10902605" cy="0"/>
          </a:xfrm>
          <a:prstGeom prst="line">
            <a:avLst/>
          </a:prstGeom>
          <a:noFill/>
          <a:ln w="12698">
            <a:solidFill>
              <a:srgbClr val="3A5B87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643174" y="6095802"/>
            <a:ext cx="960178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733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감사합니다</a:t>
            </a:r>
            <a:endParaRPr lang="en-US" sz="1733" dirty="0"/>
          </a:p>
        </p:txBody>
      </p:sp>
      <p:sp>
        <p:nvSpPr>
          <p:cNvPr id="21" name="Text 19"/>
          <p:cNvSpPr/>
          <p:nvPr/>
        </p:nvSpPr>
        <p:spPr>
          <a:xfrm>
            <a:off x="10568123" y="6121202"/>
            <a:ext cx="997209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466" dirty="0">
                <a:solidFill>
                  <a:srgbClr val="8FA6C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발표자 · 소속</a:t>
            </a:r>
            <a:endParaRPr lang="en-US" sz="1466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2026-08-27T16:58:38Z</dcterms:created>
  <dcterms:modified xsi:type="dcterms:W3CDTF">2026-08-27T16:58:38Z</dcterms:modified>
</cp:coreProperties>
</file>