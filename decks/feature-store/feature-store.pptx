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2-2.svg" ContentType="image/svg+xml"/>
  <Override PartName="/ppt/media/image-2-4.svg" ContentType="image/svg+xml"/>
  <Override PartName="/ppt/media/image-2-6.svg" ContentType="image/svg+xml"/>
  <Override PartName="/ppt/media/image-2-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57200"/>
            <a:ext cx="11327869" cy="4403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66"/>
              </a:lnSpc>
              <a:buNone/>
            </a:pPr>
            <a:r>
              <a:rPr lang="en-US" sz="2666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Store — adoption review</a:t>
            </a:r>
            <a:endParaRPr lang="en-US" sz="2666" dirty="0"/>
          </a:p>
        </p:txBody>
      </p:sp>
      <p:sp>
        <p:nvSpPr>
          <p:cNvPr id="3" name="Text 1"/>
          <p:cNvSpPr/>
          <p:nvPr/>
        </p:nvSpPr>
        <p:spPr>
          <a:xfrm>
            <a:off x="541599" y="999133"/>
            <a:ext cx="11327869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spcBef>
                <a:spcPts val="800"/>
              </a:spcBef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 PLATFORM / DECISION REVIEW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2805112"/>
            <a:ext cx="8288487" cy="883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80"/>
              </a:lnSpc>
              <a:buNone/>
            </a:pPr>
            <a:r>
              <a:rPr lang="en-US" sz="2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feature store is a decision about ownership,</a:t>
            </a:r>
            <a:endParaRPr lang="en-US" sz="2400" dirty="0"/>
          </a:p>
          <a:p>
            <a:pPr algn="l" indent="0" marL="0">
              <a:lnSpc>
                <a:spcPts val="3480"/>
              </a:lnSpc>
              <a:buNone/>
            </a:pPr>
            <a:r>
              <a:rPr lang="en-US" sz="2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about tooling.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1599" y="4959945"/>
            <a:ext cx="11105754" cy="0"/>
          </a:xfrm>
          <a:prstGeom prst="line">
            <a:avLst/>
          </a:prstGeom>
          <a:noFill/>
          <a:ln w="12698">
            <a:solidFill>
              <a:srgbClr val="C9CDD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1599" y="5203230"/>
            <a:ext cx="2279334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spcAft>
                <a:spcPts val="667"/>
              </a:spcAft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PREPARED BY</a:t>
            </a:r>
            <a:endParaRPr lang="en-US" sz="1466" dirty="0"/>
          </a:p>
        </p:txBody>
      </p:sp>
      <p:sp>
        <p:nvSpPr>
          <p:cNvPr id="7" name="Text 5"/>
          <p:cNvSpPr/>
          <p:nvPr/>
        </p:nvSpPr>
        <p:spPr>
          <a:xfrm>
            <a:off x="541599" y="5557838"/>
            <a:ext cx="2279334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PRESENTER · TEAM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3690412" y="5203230"/>
            <a:ext cx="984258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spcAft>
                <a:spcPts val="667"/>
              </a:spcAft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DATE</a:t>
            </a:r>
            <a:endParaRPr lang="en-US" sz="1466" dirty="0"/>
          </a:p>
        </p:txBody>
      </p:sp>
      <p:sp>
        <p:nvSpPr>
          <p:cNvPr id="9" name="Text 7"/>
          <p:cNvSpPr/>
          <p:nvPr/>
        </p:nvSpPr>
        <p:spPr>
          <a:xfrm>
            <a:off x="3690412" y="5557838"/>
            <a:ext cx="984258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2026.08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5569542" y="5203230"/>
            <a:ext cx="3172937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spcAft>
                <a:spcPts val="667"/>
              </a:spcAft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AUDIENCE</a:t>
            </a:r>
            <a:endParaRPr lang="en-US" sz="1466" dirty="0"/>
          </a:p>
        </p:txBody>
      </p:sp>
      <p:sp>
        <p:nvSpPr>
          <p:cNvPr id="11" name="Text 9"/>
          <p:cNvSpPr/>
          <p:nvPr/>
        </p:nvSpPr>
        <p:spPr>
          <a:xfrm>
            <a:off x="5569542" y="5557838"/>
            <a:ext cx="3172937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 PLATFORM &amp; DATA ENG</a:t>
            </a:r>
            <a:endParaRPr lang="en-US" sz="1866" dirty="0"/>
          </a:p>
        </p:txBody>
      </p:sp>
      <p:sp>
        <p:nvSpPr>
          <p:cNvPr id="12" name="Text 10"/>
          <p:cNvSpPr/>
          <p:nvPr/>
        </p:nvSpPr>
        <p:spPr>
          <a:xfrm>
            <a:off x="319484" y="6104731"/>
            <a:ext cx="11327869" cy="2452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933"/>
              </a:lnSpc>
              <a:buNone/>
            </a:pPr>
            <a:r>
              <a:rPr lang="en-US" sz="1333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STORE — ADOPTION REVIEW · SHEET 01/06 · FRAMEWORK ONLY,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57200"/>
            <a:ext cx="11327869" cy="4403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66"/>
              </a:lnSpc>
              <a:buNone/>
            </a:pPr>
            <a:r>
              <a:rPr lang="en-US" sz="2666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 a feature store solves is duplication, not storage</a:t>
            </a:r>
            <a:endParaRPr lang="en-US" sz="2666" dirty="0"/>
          </a:p>
        </p:txBody>
      </p:sp>
      <p:sp>
        <p:nvSpPr>
          <p:cNvPr id="3" name="Text 1"/>
          <p:cNvSpPr/>
          <p:nvPr/>
        </p:nvSpPr>
        <p:spPr>
          <a:xfrm>
            <a:off x="541599" y="999133"/>
            <a:ext cx="11327869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spcBef>
                <a:spcPts val="800"/>
              </a:spcBef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SOLVES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1540669"/>
            <a:ext cx="3851435" cy="704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73"/>
              </a:lnSpc>
              <a:spcAft>
                <a:spcPts val="1333"/>
              </a:spcAft>
              <a:buNone/>
            </a:pPr>
            <a:r>
              <a:rPr lang="en-US" sz="2133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same feature, written twice</a:t>
            </a:r>
            <a:endParaRPr lang="en-US" sz="2133" dirty="0"/>
          </a:p>
        </p:txBody>
      </p:sp>
      <p:sp>
        <p:nvSpPr>
          <p:cNvPr id="5" name="Text 3"/>
          <p:cNvSpPr/>
          <p:nvPr/>
        </p:nvSpPr>
        <p:spPr>
          <a:xfrm>
            <a:off x="541599" y="2413992"/>
            <a:ext cx="3851435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feature computed one way for training and another way for serving will drift apart.</a:t>
            </a:r>
            <a:endParaRPr lang="en-US" sz="1866" dirty="0"/>
          </a:p>
        </p:txBody>
      </p:sp>
      <p:sp>
        <p:nvSpPr>
          <p:cNvPr id="6" name="Text 4"/>
          <p:cNvSpPr/>
          <p:nvPr/>
        </p:nvSpPr>
        <p:spPr>
          <a:xfrm>
            <a:off x="541599" y="3648273"/>
            <a:ext cx="3851435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spcBef>
                <a:spcPts val="1600"/>
              </a:spcBef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failure is silent: the model does not error, it just gets quietly worse.</a:t>
            </a:r>
            <a:endParaRPr lang="en-US" sz="1866" dirty="0"/>
          </a:p>
        </p:txBody>
      </p:sp>
      <p:sp>
        <p:nvSpPr>
          <p:cNvPr id="7" name="Text 5"/>
          <p:cNvSpPr/>
          <p:nvPr/>
        </p:nvSpPr>
        <p:spPr>
          <a:xfrm>
            <a:off x="4689890" y="1851422"/>
            <a:ext cx="7096613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spcAft>
                <a:spcPts val="800"/>
              </a:spcAft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TRAINING PATH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4689890" y="2223095"/>
            <a:ext cx="2116005" cy="707628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819687" y="2405062"/>
            <a:ext cx="1856411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batch job</a:t>
            </a:r>
            <a:endParaRPr lang="en-US" sz="1866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05895" y="2492177"/>
            <a:ext cx="304724" cy="169267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110619" y="2223095"/>
            <a:ext cx="2116005" cy="707628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7240416" y="2405062"/>
            <a:ext cx="1856411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table</a:t>
            </a:r>
            <a:endParaRPr lang="en-US" sz="1866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26624" y="2492177"/>
            <a:ext cx="304724" cy="16926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9531348" y="2223095"/>
            <a:ext cx="2116005" cy="707628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1"/>
          <p:cNvSpPr/>
          <p:nvPr/>
        </p:nvSpPr>
        <p:spPr>
          <a:xfrm>
            <a:off x="9661145" y="2405062"/>
            <a:ext cx="1856411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</a:t>
            </a:r>
            <a:endParaRPr lang="en-US" sz="1866" dirty="0"/>
          </a:p>
        </p:txBody>
      </p:sp>
      <p:sp>
        <p:nvSpPr>
          <p:cNvPr id="16" name="Text 12"/>
          <p:cNvSpPr/>
          <p:nvPr/>
        </p:nvSpPr>
        <p:spPr>
          <a:xfrm>
            <a:off x="4689890" y="3303191"/>
            <a:ext cx="7096613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spcAft>
                <a:spcPts val="800"/>
              </a:spcAft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SERVING PATH</a:t>
            </a:r>
            <a:endParaRPr lang="en-US" sz="1466" dirty="0"/>
          </a:p>
        </p:txBody>
      </p:sp>
      <p:sp>
        <p:nvSpPr>
          <p:cNvPr id="17" name="Text 13"/>
          <p:cNvSpPr/>
          <p:nvPr/>
        </p:nvSpPr>
        <p:spPr>
          <a:xfrm>
            <a:off x="4689890" y="3674864"/>
            <a:ext cx="2116005" cy="707628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4"/>
          <p:cNvSpPr/>
          <p:nvPr/>
        </p:nvSpPr>
        <p:spPr>
          <a:xfrm>
            <a:off x="4819687" y="3856831"/>
            <a:ext cx="1856411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code</a:t>
            </a:r>
            <a:endParaRPr lang="en-US" sz="1866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805895" y="3943945"/>
            <a:ext cx="304724" cy="169267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110619" y="3674864"/>
            <a:ext cx="2116005" cy="707628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6"/>
          <p:cNvSpPr/>
          <p:nvPr/>
        </p:nvSpPr>
        <p:spPr>
          <a:xfrm>
            <a:off x="7240416" y="3856831"/>
            <a:ext cx="1856411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</a:t>
            </a:r>
            <a:endParaRPr lang="en-US" sz="1866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226624" y="3943945"/>
            <a:ext cx="304724" cy="169267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531348" y="3674864"/>
            <a:ext cx="2116005" cy="707628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18"/>
          <p:cNvSpPr/>
          <p:nvPr/>
        </p:nvSpPr>
        <p:spPr>
          <a:xfrm>
            <a:off x="9661145" y="3856831"/>
            <a:ext cx="1856411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</a:t>
            </a:r>
            <a:endParaRPr lang="en-US" sz="1866" dirty="0"/>
          </a:p>
        </p:txBody>
      </p:sp>
      <p:sp>
        <p:nvSpPr>
          <p:cNvPr id="25" name="Shape 19"/>
          <p:cNvSpPr/>
          <p:nvPr/>
        </p:nvSpPr>
        <p:spPr>
          <a:xfrm>
            <a:off x="4689890" y="4693642"/>
            <a:ext cx="6957463" cy="0"/>
          </a:xfrm>
          <a:prstGeom prst="line">
            <a:avLst/>
          </a:prstGeom>
          <a:noFill/>
          <a:ln w="12698">
            <a:solidFill>
              <a:srgbClr val="C9CDD3"/>
            </a:solidFill>
            <a:prstDash val="solid"/>
          </a:ln>
        </p:spPr>
        <p:txBody>
          <a:bodyPr/>
          <a:p/>
        </p:txBody>
      </p:sp>
      <p:sp>
        <p:nvSpPr>
          <p:cNvPr id="26" name="Text 20"/>
          <p:cNvSpPr/>
          <p:nvPr/>
        </p:nvSpPr>
        <p:spPr>
          <a:xfrm>
            <a:off x="4689890" y="4903192"/>
            <a:ext cx="7096613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definition, two implementations — and nothing compares them.</a:t>
            </a:r>
            <a:endParaRPr lang="en-US" sz="1866" dirty="0"/>
          </a:p>
        </p:txBody>
      </p:sp>
      <p:sp>
        <p:nvSpPr>
          <p:cNvPr id="27" name="Text 21"/>
          <p:cNvSpPr/>
          <p:nvPr/>
        </p:nvSpPr>
        <p:spPr>
          <a:xfrm>
            <a:off x="319484" y="6104731"/>
            <a:ext cx="11327869" cy="2452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933"/>
              </a:lnSpc>
              <a:buNone/>
            </a:pPr>
            <a:r>
              <a:rPr lang="en-US" sz="1333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STORE — ADOPTION REVIEW · SHEET 02/06 · FRAMEWORK ONLY,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57200"/>
            <a:ext cx="11327869" cy="4403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66"/>
              </a:lnSpc>
              <a:buNone/>
            </a:pPr>
            <a:r>
              <a:rPr lang="en-US" sz="2666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feature store is three services, and you may only need one</a:t>
            </a:r>
            <a:endParaRPr lang="en-US" sz="2666" dirty="0"/>
          </a:p>
        </p:txBody>
      </p:sp>
      <p:sp>
        <p:nvSpPr>
          <p:cNvPr id="3" name="Text 1"/>
          <p:cNvSpPr/>
          <p:nvPr/>
        </p:nvSpPr>
        <p:spPr>
          <a:xfrm>
            <a:off x="541599" y="999133"/>
            <a:ext cx="11327869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spcBef>
                <a:spcPts val="800"/>
              </a:spcBef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IS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1540669"/>
            <a:ext cx="3544001" cy="4360862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91171" y="1773436"/>
            <a:ext cx="372374" cy="372467"/>
          </a:xfrm>
          <a:prstGeom prst="rect">
            <a:avLst/>
          </a:prstGeom>
          <a:solidFill>
            <a:srgbClr val="1F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62987" y="1817489"/>
            <a:ext cx="233114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91171" y="2332038"/>
            <a:ext cx="3105754" cy="3520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73"/>
              </a:lnSpc>
              <a:spcAft>
                <a:spcPts val="1067"/>
              </a:spcAft>
              <a:buNone/>
            </a:pPr>
            <a:r>
              <a:rPr lang="en-US" sz="2133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Registry</a:t>
            </a:r>
            <a:endParaRPr lang="en-US" sz="2133" dirty="0"/>
          </a:p>
        </p:txBody>
      </p:sp>
      <p:sp>
        <p:nvSpPr>
          <p:cNvPr id="8" name="Text 6"/>
          <p:cNvSpPr/>
          <p:nvPr/>
        </p:nvSpPr>
        <p:spPr>
          <a:xfrm>
            <a:off x="791171" y="2819400"/>
            <a:ext cx="3105754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spcAft>
                <a:spcPts val="1600"/>
              </a:spcAft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place where a feature is defined, owned and discoverable.</a:t>
            </a:r>
            <a:endParaRPr lang="en-US" sz="1866" dirty="0"/>
          </a:p>
        </p:txBody>
      </p:sp>
      <p:sp>
        <p:nvSpPr>
          <p:cNvPr id="9" name="Shape 7"/>
          <p:cNvSpPr/>
          <p:nvPr/>
        </p:nvSpPr>
        <p:spPr>
          <a:xfrm>
            <a:off x="791171" y="4090591"/>
            <a:ext cx="3044857" cy="0"/>
          </a:xfrm>
          <a:prstGeom prst="line">
            <a:avLst/>
          </a:prstGeom>
          <a:noFill/>
          <a:ln w="12698">
            <a:solidFill>
              <a:srgbClr val="C9CDD3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91171" y="4283075"/>
            <a:ext cx="3105754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spcAft>
                <a:spcPts val="667"/>
              </a:spcAft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NEED IT WHEN</a:t>
            </a:r>
            <a:endParaRPr lang="en-US" sz="1466" dirty="0"/>
          </a:p>
        </p:txBody>
      </p:sp>
      <p:sp>
        <p:nvSpPr>
          <p:cNvPr id="11" name="Text 9"/>
          <p:cNvSpPr/>
          <p:nvPr/>
        </p:nvSpPr>
        <p:spPr>
          <a:xfrm>
            <a:off x="791171" y="4637683"/>
            <a:ext cx="3105754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need it as soon as two teams use the same feature.</a:t>
            </a:r>
            <a:endParaRPr lang="en-US" sz="1866" dirty="0"/>
          </a:p>
        </p:txBody>
      </p:sp>
      <p:sp>
        <p:nvSpPr>
          <p:cNvPr id="12" name="Text 10"/>
          <p:cNvSpPr/>
          <p:nvPr/>
        </p:nvSpPr>
        <p:spPr>
          <a:xfrm>
            <a:off x="4322475" y="1540669"/>
            <a:ext cx="3544001" cy="4360862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572047" y="1773436"/>
            <a:ext cx="372374" cy="372467"/>
          </a:xfrm>
          <a:prstGeom prst="rect">
            <a:avLst/>
          </a:prstGeom>
          <a:solidFill>
            <a:srgbClr val="1F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624819" y="1817489"/>
            <a:ext cx="271966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72047" y="2332038"/>
            <a:ext cx="3105754" cy="3520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73"/>
              </a:lnSpc>
              <a:spcAft>
                <a:spcPts val="1067"/>
              </a:spcAft>
              <a:buNone/>
            </a:pPr>
            <a:r>
              <a:rPr lang="en-US" sz="2133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Offline store</a:t>
            </a:r>
            <a:endParaRPr lang="en-US" sz="2133" dirty="0"/>
          </a:p>
        </p:txBody>
      </p:sp>
      <p:sp>
        <p:nvSpPr>
          <p:cNvPr id="16" name="Text 14"/>
          <p:cNvSpPr/>
          <p:nvPr/>
        </p:nvSpPr>
        <p:spPr>
          <a:xfrm>
            <a:off x="4572047" y="2819400"/>
            <a:ext cx="3105754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spcAft>
                <a:spcPts val="1600"/>
              </a:spcAft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Point-in-time correct history, used to build training sets.</a:t>
            </a:r>
            <a:endParaRPr lang="en-US" sz="1866" dirty="0"/>
          </a:p>
        </p:txBody>
      </p:sp>
      <p:sp>
        <p:nvSpPr>
          <p:cNvPr id="17" name="Shape 15"/>
          <p:cNvSpPr/>
          <p:nvPr/>
        </p:nvSpPr>
        <p:spPr>
          <a:xfrm>
            <a:off x="4572047" y="4434284"/>
            <a:ext cx="3044857" cy="0"/>
          </a:xfrm>
          <a:prstGeom prst="line">
            <a:avLst/>
          </a:prstGeom>
          <a:noFill/>
          <a:ln w="12698">
            <a:solidFill>
              <a:srgbClr val="C9CDD3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572047" y="4626769"/>
            <a:ext cx="3105754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spcAft>
                <a:spcPts val="667"/>
              </a:spcAft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NEED IT WHEN</a:t>
            </a:r>
            <a:endParaRPr lang="en-US" sz="1466" dirty="0"/>
          </a:p>
        </p:txBody>
      </p:sp>
      <p:sp>
        <p:nvSpPr>
          <p:cNvPr id="19" name="Text 17"/>
          <p:cNvSpPr/>
          <p:nvPr/>
        </p:nvSpPr>
        <p:spPr>
          <a:xfrm>
            <a:off x="4572047" y="4981377"/>
            <a:ext cx="3105754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need it if backfills keep leaking future data.</a:t>
            </a:r>
            <a:endParaRPr lang="en-US" sz="1866" dirty="0"/>
          </a:p>
        </p:txBody>
      </p:sp>
      <p:sp>
        <p:nvSpPr>
          <p:cNvPr id="20" name="Text 18"/>
          <p:cNvSpPr/>
          <p:nvPr/>
        </p:nvSpPr>
        <p:spPr>
          <a:xfrm>
            <a:off x="8103352" y="1540669"/>
            <a:ext cx="3544001" cy="4360862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8352924" y="1773436"/>
            <a:ext cx="372374" cy="372467"/>
          </a:xfrm>
          <a:prstGeom prst="rect">
            <a:avLst/>
          </a:prstGeom>
          <a:solidFill>
            <a:srgbClr val="1F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405695" y="1817489"/>
            <a:ext cx="271966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52924" y="2332038"/>
            <a:ext cx="3105754" cy="3520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73"/>
              </a:lnSpc>
              <a:spcAft>
                <a:spcPts val="1067"/>
              </a:spcAft>
              <a:buNone/>
            </a:pPr>
            <a:r>
              <a:rPr lang="en-US" sz="2133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Online store</a:t>
            </a:r>
            <a:endParaRPr lang="en-US" sz="2133" dirty="0"/>
          </a:p>
        </p:txBody>
      </p:sp>
      <p:sp>
        <p:nvSpPr>
          <p:cNvPr id="24" name="Text 22"/>
          <p:cNvSpPr/>
          <p:nvPr/>
        </p:nvSpPr>
        <p:spPr>
          <a:xfrm>
            <a:off x="8352924" y="2819400"/>
            <a:ext cx="3105754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spcAft>
                <a:spcPts val="1600"/>
              </a:spcAft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Low-latency reads of the same values at serving time.</a:t>
            </a:r>
            <a:endParaRPr lang="en-US" sz="1866" dirty="0"/>
          </a:p>
        </p:txBody>
      </p:sp>
      <p:sp>
        <p:nvSpPr>
          <p:cNvPr id="25" name="Shape 23"/>
          <p:cNvSpPr/>
          <p:nvPr/>
        </p:nvSpPr>
        <p:spPr>
          <a:xfrm>
            <a:off x="8352924" y="4434284"/>
            <a:ext cx="3044857" cy="0"/>
          </a:xfrm>
          <a:prstGeom prst="line">
            <a:avLst/>
          </a:prstGeom>
          <a:noFill/>
          <a:ln w="12698">
            <a:solidFill>
              <a:srgbClr val="C9CDD3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352924" y="4626769"/>
            <a:ext cx="3105754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spcAft>
                <a:spcPts val="667"/>
              </a:spcAft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NEED IT WHEN</a:t>
            </a:r>
            <a:endParaRPr lang="en-US" sz="1466" dirty="0"/>
          </a:p>
        </p:txBody>
      </p:sp>
      <p:sp>
        <p:nvSpPr>
          <p:cNvPr id="27" name="Text 25"/>
          <p:cNvSpPr/>
          <p:nvPr/>
        </p:nvSpPr>
        <p:spPr>
          <a:xfrm>
            <a:off x="8352924" y="4981377"/>
            <a:ext cx="3105754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need it only if models serve online requests.</a:t>
            </a:r>
            <a:endParaRPr lang="en-US" sz="1866" dirty="0"/>
          </a:p>
        </p:txBody>
      </p:sp>
      <p:sp>
        <p:nvSpPr>
          <p:cNvPr id="28" name="Text 26"/>
          <p:cNvSpPr/>
          <p:nvPr/>
        </p:nvSpPr>
        <p:spPr>
          <a:xfrm>
            <a:off x="319484" y="6104731"/>
            <a:ext cx="11327869" cy="2452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933"/>
              </a:lnSpc>
              <a:buNone/>
            </a:pPr>
            <a:r>
              <a:rPr lang="en-US" sz="1333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STORE — ADOPTION REVIEW · SHEET 03/06 · FRAMEWORK ONLY,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57200"/>
            <a:ext cx="11327869" cy="4403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66"/>
              </a:lnSpc>
              <a:buNone/>
            </a:pPr>
            <a:r>
              <a:rPr lang="en-US" sz="2666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Adoption depends on reuse and on whether serving is online</a:t>
            </a:r>
            <a:endParaRPr lang="en-US" sz="2666" dirty="0"/>
          </a:p>
        </p:txBody>
      </p:sp>
      <p:sp>
        <p:nvSpPr>
          <p:cNvPr id="3" name="Text 1"/>
          <p:cNvSpPr/>
          <p:nvPr/>
        </p:nvSpPr>
        <p:spPr>
          <a:xfrm>
            <a:off x="541599" y="999133"/>
            <a:ext cx="11327869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spcBef>
                <a:spcPts val="800"/>
              </a:spcBef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IT IS WORTH IT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1540669"/>
            <a:ext cx="3624797" cy="704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73"/>
              </a:lnSpc>
              <a:spcAft>
                <a:spcPts val="1333"/>
              </a:spcAft>
              <a:buNone/>
            </a:pPr>
            <a:r>
              <a:rPr lang="en-US" sz="2133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conditions, and both must hold</a:t>
            </a:r>
            <a:endParaRPr lang="en-US" sz="2133" dirty="0"/>
          </a:p>
        </p:txBody>
      </p:sp>
      <p:sp>
        <p:nvSpPr>
          <p:cNvPr id="5" name="Text 3"/>
          <p:cNvSpPr/>
          <p:nvPr/>
        </p:nvSpPr>
        <p:spPr>
          <a:xfrm>
            <a:off x="541599" y="2413992"/>
            <a:ext cx="362479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Reuse alone is a registry problem. Online serving alone is a caching problem.</a:t>
            </a:r>
            <a:endParaRPr lang="en-US" sz="1866" dirty="0"/>
          </a:p>
        </p:txBody>
      </p:sp>
      <p:sp>
        <p:nvSpPr>
          <p:cNvPr id="6" name="Text 4"/>
          <p:cNvSpPr/>
          <p:nvPr/>
        </p:nvSpPr>
        <p:spPr>
          <a:xfrm>
            <a:off x="541599" y="3648273"/>
            <a:ext cx="3624797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spcBef>
                <a:spcPts val="1600"/>
              </a:spcBef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together do they justify running all three services.</a:t>
            </a:r>
            <a:endParaRPr lang="en-US" sz="1866" dirty="0"/>
          </a:p>
        </p:txBody>
      </p:sp>
      <p:sp>
        <p:nvSpPr>
          <p:cNvPr id="7" name="Text 5"/>
          <p:cNvSpPr/>
          <p:nvPr/>
        </p:nvSpPr>
        <p:spPr>
          <a:xfrm>
            <a:off x="4467695" y="1540669"/>
            <a:ext cx="7323251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spcAft>
                <a:spcPts val="800"/>
              </a:spcAft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↑ ONLINE SERVING NEED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4467695" y="1912342"/>
            <a:ext cx="3505117" cy="1724025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717267" y="2195314"/>
            <a:ext cx="3066093" cy="3520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73"/>
              </a:lnSpc>
              <a:spcAft>
                <a:spcPts val="933"/>
              </a:spcAft>
              <a:buNone/>
            </a:pPr>
            <a:r>
              <a:rPr lang="en-US" sz="2133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Cache, not a platform</a:t>
            </a:r>
            <a:endParaRPr lang="en-US" sz="2133" dirty="0"/>
          </a:p>
        </p:txBody>
      </p:sp>
      <p:sp>
        <p:nvSpPr>
          <p:cNvPr id="10" name="Text 8"/>
          <p:cNvSpPr/>
          <p:nvPr/>
        </p:nvSpPr>
        <p:spPr>
          <a:xfrm>
            <a:off x="4717267" y="2665809"/>
            <a:ext cx="3066093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model serving online does not need a store.</a:t>
            </a:r>
            <a:endParaRPr lang="en-US" sz="1866" dirty="0"/>
          </a:p>
        </p:txBody>
      </p:sp>
      <p:sp>
        <p:nvSpPr>
          <p:cNvPr id="11" name="Text 9"/>
          <p:cNvSpPr/>
          <p:nvPr/>
        </p:nvSpPr>
        <p:spPr>
          <a:xfrm>
            <a:off x="8142037" y="1912342"/>
            <a:ext cx="3505316" cy="1724025"/>
          </a:xfrm>
          <a:prstGeom prst="rect">
            <a:avLst/>
          </a:prstGeom>
          <a:solidFill>
            <a:srgbClr val="1F3A5F"/>
          </a:solidFill>
          <a:ln w="12698">
            <a:solidFill>
              <a:srgbClr val="1F3A5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391609" y="2195314"/>
            <a:ext cx="3066295" cy="3520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73"/>
              </a:lnSpc>
              <a:spcAft>
                <a:spcPts val="933"/>
              </a:spcAft>
              <a:buNone/>
            </a:pPr>
            <a:r>
              <a:rPr lang="en-US" sz="21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Adopt all three</a:t>
            </a:r>
            <a:endParaRPr lang="en-US" sz="2133" dirty="0"/>
          </a:p>
        </p:txBody>
      </p:sp>
      <p:sp>
        <p:nvSpPr>
          <p:cNvPr id="13" name="Text 11"/>
          <p:cNvSpPr/>
          <p:nvPr/>
        </p:nvSpPr>
        <p:spPr>
          <a:xfrm>
            <a:off x="8391609" y="2665809"/>
            <a:ext cx="3066295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is the case the thing was built for.</a:t>
            </a:r>
            <a:endParaRPr lang="en-US" sz="1866" dirty="0"/>
          </a:p>
        </p:txBody>
      </p:sp>
      <p:sp>
        <p:nvSpPr>
          <p:cNvPr id="14" name="Text 12"/>
          <p:cNvSpPr/>
          <p:nvPr/>
        </p:nvSpPr>
        <p:spPr>
          <a:xfrm>
            <a:off x="4467695" y="3805634"/>
            <a:ext cx="3505117" cy="1724223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717267" y="4088805"/>
            <a:ext cx="3066093" cy="3520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73"/>
              </a:lnSpc>
              <a:spcAft>
                <a:spcPts val="933"/>
              </a:spcAft>
              <a:buNone/>
            </a:pPr>
            <a:r>
              <a:rPr lang="en-US" sz="2133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not adopt</a:t>
            </a:r>
            <a:endParaRPr lang="en-US" sz="2133" dirty="0"/>
          </a:p>
        </p:txBody>
      </p:sp>
      <p:sp>
        <p:nvSpPr>
          <p:cNvPr id="16" name="Text 14"/>
          <p:cNvSpPr/>
          <p:nvPr/>
        </p:nvSpPr>
        <p:spPr>
          <a:xfrm>
            <a:off x="4717267" y="4559300"/>
            <a:ext cx="3066093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table and a scheduled job are enough.</a:t>
            </a:r>
            <a:endParaRPr lang="en-US" sz="1866" dirty="0"/>
          </a:p>
        </p:txBody>
      </p:sp>
      <p:sp>
        <p:nvSpPr>
          <p:cNvPr id="17" name="Text 15"/>
          <p:cNvSpPr/>
          <p:nvPr/>
        </p:nvSpPr>
        <p:spPr>
          <a:xfrm>
            <a:off x="8142037" y="3805634"/>
            <a:ext cx="3505316" cy="1724223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391609" y="3912791"/>
            <a:ext cx="3066295" cy="704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Aft>
                <a:spcPts val="933"/>
              </a:spcAft>
              <a:buNone/>
            </a:pPr>
            <a:r>
              <a:rPr lang="en-US" sz="2133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Adopt the registry only</a:t>
            </a:r>
            <a:endParaRPr lang="en-US" sz="2133" dirty="0"/>
          </a:p>
        </p:txBody>
      </p:sp>
      <p:sp>
        <p:nvSpPr>
          <p:cNvPr id="19" name="Text 17"/>
          <p:cNvSpPr/>
          <p:nvPr/>
        </p:nvSpPr>
        <p:spPr>
          <a:xfrm>
            <a:off x="8391609" y="4735314"/>
            <a:ext cx="3066295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definitions, without an online store.</a:t>
            </a:r>
            <a:endParaRPr lang="en-US" sz="1866" dirty="0"/>
          </a:p>
        </p:txBody>
      </p:sp>
      <p:sp>
        <p:nvSpPr>
          <p:cNvPr id="20" name="Text 18"/>
          <p:cNvSpPr/>
          <p:nvPr/>
        </p:nvSpPr>
        <p:spPr>
          <a:xfrm>
            <a:off x="4324102" y="5631458"/>
            <a:ext cx="7323251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126"/>
              </a:lnSpc>
              <a:spcBef>
                <a:spcPts val="800"/>
              </a:spcBef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REUSE ACROSS TEAMS →</a:t>
            </a:r>
            <a:endParaRPr lang="en-US" sz="1466" dirty="0"/>
          </a:p>
        </p:txBody>
      </p:sp>
      <p:sp>
        <p:nvSpPr>
          <p:cNvPr id="21" name="Text 19"/>
          <p:cNvSpPr/>
          <p:nvPr/>
        </p:nvSpPr>
        <p:spPr>
          <a:xfrm>
            <a:off x="319484" y="6104731"/>
            <a:ext cx="11327869" cy="2452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933"/>
              </a:lnSpc>
              <a:buNone/>
            </a:pPr>
            <a:r>
              <a:rPr lang="en-US" sz="1333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STORE — ADOPTION REVIEW · SHEET 04/06 · FRAMEWORK ONLY,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57200"/>
            <a:ext cx="11327869" cy="4403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66"/>
              </a:lnSpc>
              <a:buNone/>
            </a:pPr>
            <a:r>
              <a:rPr lang="en-US" sz="2666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cost is a new critical dependency in the serving path</a:t>
            </a:r>
            <a:endParaRPr lang="en-US" sz="2666" dirty="0"/>
          </a:p>
        </p:txBody>
      </p:sp>
      <p:sp>
        <p:nvSpPr>
          <p:cNvPr id="3" name="Text 1"/>
          <p:cNvSpPr/>
          <p:nvPr/>
        </p:nvSpPr>
        <p:spPr>
          <a:xfrm>
            <a:off x="541599" y="999133"/>
            <a:ext cx="11327869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spcBef>
                <a:spcPts val="800"/>
              </a:spcBef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COSTS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1540669"/>
            <a:ext cx="5434439" cy="2061964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91171" y="1773436"/>
            <a:ext cx="372374" cy="372467"/>
          </a:xfrm>
          <a:prstGeom prst="rect">
            <a:avLst/>
          </a:prstGeom>
          <a:solidFill>
            <a:srgbClr val="1F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62987" y="1817489"/>
            <a:ext cx="233114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49633" y="1783556"/>
            <a:ext cx="4118342" cy="3520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73"/>
              </a:lnSpc>
              <a:buNone/>
            </a:pPr>
            <a:r>
              <a:rPr lang="en-US" sz="2133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latency budget you now own</a:t>
            </a:r>
            <a:endParaRPr lang="en-US" sz="2133" dirty="0"/>
          </a:p>
        </p:txBody>
      </p:sp>
      <p:sp>
        <p:nvSpPr>
          <p:cNvPr id="8" name="Text 6"/>
          <p:cNvSpPr/>
          <p:nvPr/>
        </p:nvSpPr>
        <p:spPr>
          <a:xfrm>
            <a:off x="791171" y="2298303"/>
            <a:ext cx="5034001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online read sits inside the request path.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6212914" y="1540669"/>
            <a:ext cx="5434439" cy="2061964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462486" y="1939131"/>
            <a:ext cx="372374" cy="372467"/>
          </a:xfrm>
          <a:prstGeom prst="rect">
            <a:avLst/>
          </a:prstGeom>
          <a:solidFill>
            <a:srgbClr val="1F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515257" y="1983184"/>
            <a:ext cx="271966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20947" y="1773436"/>
            <a:ext cx="4464370" cy="704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buNone/>
            </a:pPr>
            <a:r>
              <a:rPr lang="en-US" sz="2133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new page in the on-call rotation</a:t>
            </a:r>
            <a:endParaRPr lang="en-US" sz="2133" dirty="0"/>
          </a:p>
        </p:txBody>
      </p:sp>
      <p:sp>
        <p:nvSpPr>
          <p:cNvPr id="13" name="Text 11"/>
          <p:cNvSpPr/>
          <p:nvPr/>
        </p:nvSpPr>
        <p:spPr>
          <a:xfrm>
            <a:off x="6462486" y="2629892"/>
            <a:ext cx="5034001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store failing means every model failing.</a:t>
            </a:r>
            <a:endParaRPr lang="en-US" sz="1866" dirty="0"/>
          </a:p>
        </p:txBody>
      </p:sp>
      <p:sp>
        <p:nvSpPr>
          <p:cNvPr id="14" name="Text 12"/>
          <p:cNvSpPr/>
          <p:nvPr/>
        </p:nvSpPr>
        <p:spPr>
          <a:xfrm>
            <a:off x="541599" y="3839567"/>
            <a:ext cx="5434439" cy="2061964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91171" y="4072334"/>
            <a:ext cx="372374" cy="372467"/>
          </a:xfrm>
          <a:prstGeom prst="rect">
            <a:avLst/>
          </a:prstGeom>
          <a:solidFill>
            <a:srgbClr val="1F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43942" y="4116387"/>
            <a:ext cx="271966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49633" y="4082455"/>
            <a:ext cx="2654906" cy="3520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73"/>
              </a:lnSpc>
              <a:buNone/>
            </a:pPr>
            <a:r>
              <a:rPr lang="en-US" sz="2133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Backfill correctness</a:t>
            </a:r>
            <a:endParaRPr lang="en-US" sz="2133" dirty="0"/>
          </a:p>
        </p:txBody>
      </p:sp>
      <p:sp>
        <p:nvSpPr>
          <p:cNvPr id="18" name="Text 16"/>
          <p:cNvSpPr/>
          <p:nvPr/>
        </p:nvSpPr>
        <p:spPr>
          <a:xfrm>
            <a:off x="791171" y="4597202"/>
            <a:ext cx="5034001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Point-in-time joins are easy to get subtly wrong.</a:t>
            </a:r>
            <a:endParaRPr lang="en-US" sz="1866" dirty="0"/>
          </a:p>
        </p:txBody>
      </p:sp>
      <p:sp>
        <p:nvSpPr>
          <p:cNvPr id="19" name="Text 17"/>
          <p:cNvSpPr/>
          <p:nvPr/>
        </p:nvSpPr>
        <p:spPr>
          <a:xfrm>
            <a:off x="6212914" y="3839567"/>
            <a:ext cx="5434439" cy="2061964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462486" y="4072334"/>
            <a:ext cx="372374" cy="372467"/>
          </a:xfrm>
          <a:prstGeom prst="rect">
            <a:avLst/>
          </a:prstGeom>
          <a:solidFill>
            <a:srgbClr val="1F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508908" y="4116387"/>
            <a:ext cx="284917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020947" y="4082455"/>
            <a:ext cx="4286702" cy="3520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73"/>
              </a:lnSpc>
              <a:buNone/>
            </a:pPr>
            <a:r>
              <a:rPr lang="en-US" sz="2133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Migration of what already exists</a:t>
            </a:r>
            <a:endParaRPr lang="en-US" sz="2133" dirty="0"/>
          </a:p>
        </p:txBody>
      </p:sp>
      <p:sp>
        <p:nvSpPr>
          <p:cNvPr id="23" name="Text 21"/>
          <p:cNvSpPr/>
          <p:nvPr/>
        </p:nvSpPr>
        <p:spPr>
          <a:xfrm>
            <a:off x="6462486" y="4597202"/>
            <a:ext cx="5034001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Existing features must move, or you run both.</a:t>
            </a:r>
            <a:endParaRPr lang="en-US" sz="1866" dirty="0"/>
          </a:p>
        </p:txBody>
      </p:sp>
      <p:sp>
        <p:nvSpPr>
          <p:cNvPr id="24" name="Text 22"/>
          <p:cNvSpPr/>
          <p:nvPr/>
        </p:nvSpPr>
        <p:spPr>
          <a:xfrm>
            <a:off x="319484" y="6104731"/>
            <a:ext cx="11327869" cy="2452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933"/>
              </a:lnSpc>
              <a:buNone/>
            </a:pPr>
            <a:r>
              <a:rPr lang="en-US" sz="1333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STORE — ADOPTION REVIEW · SHEET 05/06 · FRAMEWORK ONLY,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57200"/>
            <a:ext cx="11327869" cy="4403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66"/>
              </a:lnSpc>
              <a:buNone/>
            </a:pPr>
            <a:r>
              <a:rPr lang="en-US" sz="2666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need to decide before building or buying</a:t>
            </a:r>
            <a:endParaRPr lang="en-US" sz="2666" dirty="0"/>
          </a:p>
        </p:txBody>
      </p:sp>
      <p:sp>
        <p:nvSpPr>
          <p:cNvPr id="3" name="Text 1"/>
          <p:cNvSpPr/>
          <p:nvPr/>
        </p:nvSpPr>
        <p:spPr>
          <a:xfrm>
            <a:off x="541599" y="999133"/>
            <a:ext cx="11327869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spcBef>
                <a:spcPts val="800"/>
              </a:spcBef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DISCUSSION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2316956"/>
            <a:ext cx="372374" cy="372467"/>
          </a:xfrm>
          <a:prstGeom prst="rect">
            <a:avLst/>
          </a:prstGeom>
          <a:solidFill>
            <a:srgbClr val="1F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13415" y="2361009"/>
            <a:ext cx="233114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84772" y="2294533"/>
            <a:ext cx="7097017" cy="4173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86"/>
              </a:lnSpc>
              <a:buNone/>
            </a:pPr>
            <a:r>
              <a:rPr lang="en-US" sz="22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many teams share a feature definition today?</a:t>
            </a:r>
            <a:endParaRPr lang="en-US" sz="2266" dirty="0"/>
          </a:p>
        </p:txBody>
      </p:sp>
      <p:sp>
        <p:nvSpPr>
          <p:cNvPr id="7" name="Shape 5"/>
          <p:cNvSpPr/>
          <p:nvPr/>
        </p:nvSpPr>
        <p:spPr>
          <a:xfrm>
            <a:off x="541599" y="2972197"/>
            <a:ext cx="11105754" cy="0"/>
          </a:xfrm>
          <a:prstGeom prst="line">
            <a:avLst/>
          </a:prstGeom>
          <a:noFill/>
          <a:ln w="12698">
            <a:solidFill>
              <a:srgbClr val="C9CDD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1599" y="3254970"/>
            <a:ext cx="372374" cy="372467"/>
          </a:xfrm>
          <a:prstGeom prst="rect">
            <a:avLst/>
          </a:prstGeom>
          <a:solidFill>
            <a:srgbClr val="1F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94370" y="3299023"/>
            <a:ext cx="271966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4772" y="3232547"/>
            <a:ext cx="6281119" cy="4173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86"/>
              </a:lnSpc>
              <a:buNone/>
            </a:pPr>
            <a:r>
              <a:rPr lang="en-US" sz="22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any of our models serve online requests?</a:t>
            </a:r>
            <a:endParaRPr lang="en-US" sz="2266" dirty="0"/>
          </a:p>
        </p:txBody>
      </p:sp>
      <p:sp>
        <p:nvSpPr>
          <p:cNvPr id="11" name="Shape 9"/>
          <p:cNvSpPr/>
          <p:nvPr/>
        </p:nvSpPr>
        <p:spPr>
          <a:xfrm>
            <a:off x="541599" y="3910211"/>
            <a:ext cx="11105754" cy="0"/>
          </a:xfrm>
          <a:prstGeom prst="line">
            <a:avLst/>
          </a:prstGeom>
          <a:noFill/>
          <a:ln w="12698">
            <a:solidFill>
              <a:srgbClr val="C9CDD3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41599" y="4192984"/>
            <a:ext cx="372374" cy="372467"/>
          </a:xfrm>
          <a:prstGeom prst="rect">
            <a:avLst/>
          </a:prstGeom>
          <a:solidFill>
            <a:srgbClr val="1F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94370" y="4237038"/>
            <a:ext cx="271966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4772" y="4170561"/>
            <a:ext cx="7252426" cy="4173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86"/>
              </a:lnSpc>
              <a:buNone/>
            </a:pPr>
            <a:r>
              <a:rPr lang="en-US" sz="22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would carry the page when the store is down?</a:t>
            </a:r>
            <a:endParaRPr lang="en-US" sz="2266" dirty="0"/>
          </a:p>
        </p:txBody>
      </p:sp>
      <p:sp>
        <p:nvSpPr>
          <p:cNvPr id="15" name="Shape 13"/>
          <p:cNvSpPr/>
          <p:nvPr/>
        </p:nvSpPr>
        <p:spPr>
          <a:xfrm>
            <a:off x="541599" y="5348288"/>
            <a:ext cx="11105754" cy="0"/>
          </a:xfrm>
          <a:prstGeom prst="line">
            <a:avLst/>
          </a:prstGeom>
          <a:noFill/>
          <a:ln w="12698">
            <a:solidFill>
              <a:srgbClr val="C9CDD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41599" y="5557838"/>
            <a:ext cx="1217372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Thank you</a:t>
            </a:r>
            <a:endParaRPr lang="en-US" sz="1866" dirty="0"/>
          </a:p>
        </p:txBody>
      </p:sp>
      <p:sp>
        <p:nvSpPr>
          <p:cNvPr id="17" name="Text 15"/>
          <p:cNvSpPr/>
          <p:nvPr/>
        </p:nvSpPr>
        <p:spPr>
          <a:xfrm>
            <a:off x="9690852" y="5621337"/>
            <a:ext cx="1995631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PRESENTER · TEAM</a:t>
            </a:r>
            <a:endParaRPr lang="en-US" sz="1466" dirty="0"/>
          </a:p>
        </p:txBody>
      </p:sp>
      <p:sp>
        <p:nvSpPr>
          <p:cNvPr id="18" name="Text 16"/>
          <p:cNvSpPr/>
          <p:nvPr/>
        </p:nvSpPr>
        <p:spPr>
          <a:xfrm>
            <a:off x="319484" y="6104731"/>
            <a:ext cx="11327869" cy="2452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933"/>
              </a:lnSpc>
              <a:buNone/>
            </a:pPr>
            <a:r>
              <a:rPr lang="en-US" sz="1333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STORE — ADOPTION REVIEW · SHEET 06/06 · FRAMEWORK ONLY, NO EXTERNAL DATA</a:t>
            </a:r>
            <a:endParaRPr lang="en-US" sz="133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2026-08-27T16:56:29Z</dcterms:created>
  <dcterms:modified xsi:type="dcterms:W3CDTF">2026-08-27T16:56:29Z</dcterms:modified>
</cp:coreProperties>
</file>