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-4-2.svg" ContentType="image/svg+xml"/>
  <Override PartName="/ppt/media/image-4-4.svg" ContentType="image/svg+xml"/>
  <Override PartName="/ppt/media/image-4-6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image" Target="../media/image-4-3.png"/><Relationship Id="rId4" Type="http://schemas.openxmlformats.org/officeDocument/2006/relationships/image" Target="../media/image-4-4.svg"/><Relationship Id="rId5" Type="http://schemas.openxmlformats.org/officeDocument/2006/relationships/image" Target="../media/image-4-5.png"/><Relationship Id="rId6" Type="http://schemas.openxmlformats.org/officeDocument/2006/relationships/image" Target="../media/image-4-6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DE6D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96086" y="703659"/>
            <a:ext cx="4396581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200"/>
              </a:lnSpc>
              <a:buNone/>
            </a:pPr>
            <a:r>
              <a:rPr lang="en-US" sz="1466" b="1" dirty="0">
                <a:solidFill>
                  <a:srgbClr val="6B5D46"/>
                </a:solidFill>
                <a:latin typeface="EBGaramond" pitchFamily="34" charset="0"/>
                <a:ea typeface="EBGaramond" pitchFamily="34" charset="-122"/>
                <a:cs typeface="EBGaramond" pitchFamily="34" charset="-120"/>
              </a:rPr>
              <a:t>RESTORE DRILL · A POSITION PAPER</a:t>
            </a:r>
            <a:endParaRPr lang="en-US" sz="1466" dirty="0"/>
          </a:p>
        </p:txBody>
      </p:sp>
      <p:sp>
        <p:nvSpPr>
          <p:cNvPr id="3" name="Text 1"/>
          <p:cNvSpPr/>
          <p:nvPr/>
        </p:nvSpPr>
        <p:spPr>
          <a:xfrm>
            <a:off x="5806615" y="1186259"/>
            <a:ext cx="575523" cy="12700"/>
          </a:xfrm>
          <a:prstGeom prst="rect">
            <a:avLst/>
          </a:prstGeom>
          <a:solidFill>
            <a:srgbClr val="A889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1848245" y="1571427"/>
            <a:ext cx="8492462" cy="19371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7626"/>
              </a:lnSpc>
              <a:buNone/>
            </a:pPr>
            <a:r>
              <a:rPr lang="en-US" sz="5866" dirty="0">
                <a:solidFill>
                  <a:srgbClr val="3A2E1F"/>
                </a:solidFill>
                <a:latin typeface="PlayfairDisplay" pitchFamily="34" charset="0"/>
                <a:ea typeface="PlayfairDisplay" pitchFamily="34" charset="-122"/>
                <a:cs typeface="PlayfairDisplay" pitchFamily="34" charset="-120"/>
              </a:rPr>
              <a:t>A backup you have never</a:t>
            </a:r>
            <a:endParaRPr lang="en-US" sz="5866" dirty="0"/>
          </a:p>
          <a:p>
            <a:pPr algn="ctr" indent="0" marL="0">
              <a:lnSpc>
                <a:spcPts val="7626"/>
              </a:lnSpc>
              <a:buNone/>
            </a:pPr>
            <a:r>
              <a:rPr lang="en-US" sz="5866" dirty="0">
                <a:solidFill>
                  <a:srgbClr val="3A2E1F"/>
                </a:solidFill>
                <a:latin typeface="PlayfairDisplay" pitchFamily="34" charset="0"/>
                <a:ea typeface="PlayfairDisplay" pitchFamily="34" charset="-122"/>
                <a:cs typeface="PlayfairDisplay" pitchFamily="34" charset="-120"/>
              </a:rPr>
              <a:t>restored is not a backup.</a:t>
            </a:r>
            <a:endParaRPr lang="en-US" sz="5866" dirty="0"/>
          </a:p>
        </p:txBody>
      </p:sp>
      <p:sp>
        <p:nvSpPr>
          <p:cNvPr id="5" name="Text 3"/>
          <p:cNvSpPr/>
          <p:nvPr/>
        </p:nvSpPr>
        <p:spPr>
          <a:xfrm>
            <a:off x="4401632" y="3881041"/>
            <a:ext cx="3385688" cy="12700"/>
          </a:xfrm>
          <a:prstGeom prst="rect">
            <a:avLst/>
          </a:prstGeom>
          <a:solidFill>
            <a:srgbClr val="A889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2122844" y="4198541"/>
            <a:ext cx="7943066" cy="812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3200"/>
              </a:lnSpc>
              <a:buNone/>
            </a:pPr>
            <a:r>
              <a:rPr lang="en-US" sz="2000" i="1" dirty="0">
                <a:solidFill>
                  <a:srgbClr val="3A2E1F"/>
                </a:solidFill>
                <a:latin typeface="EBGaramond" pitchFamily="34" charset="0"/>
                <a:ea typeface="EBGaramond" pitchFamily="34" charset="-122"/>
                <a:cs typeface="EBGaramond" pitchFamily="34" charset="-120"/>
              </a:rPr>
              <a:t>RPO and RTO written into a document are a claim. A restore drill is the only evidence — and the gap between them is where recovery plans die.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4953190" y="5417741"/>
            <a:ext cx="2282572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200"/>
              </a:lnSpc>
              <a:spcBef>
                <a:spcPts val="3200"/>
              </a:spcBef>
              <a:buNone/>
            </a:pPr>
            <a:r>
              <a:rPr lang="en-US" sz="1466" b="1" dirty="0">
                <a:solidFill>
                  <a:srgbClr val="6B5D46"/>
                </a:solidFill>
                <a:latin typeface="EBGaramond" pitchFamily="34" charset="0"/>
                <a:ea typeface="EBGaramond" pitchFamily="34" charset="-122"/>
                <a:cs typeface="EBGaramond" pitchFamily="34" charset="-120"/>
              </a:rPr>
              <a:t>PRESENTER · TEAM</a:t>
            </a:r>
            <a:endParaRPr lang="en-US" sz="1466" dirty="0"/>
          </a:p>
        </p:txBody>
      </p:sp>
      <p:sp>
        <p:nvSpPr>
          <p:cNvPr id="8" name="Text 6"/>
          <p:cNvSpPr/>
          <p:nvPr/>
        </p:nvSpPr>
        <p:spPr>
          <a:xfrm>
            <a:off x="847672" y="6096198"/>
            <a:ext cx="10291808" cy="2538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ts val="2000"/>
              </a:lnSpc>
              <a:buNone/>
            </a:pPr>
            <a:r>
              <a:rPr lang="en-US" sz="1333" i="1" dirty="0">
                <a:solidFill>
                  <a:srgbClr val="6B5D46"/>
                </a:solidFill>
                <a:latin typeface="EBGaramond" pitchFamily="34" charset="0"/>
                <a:ea typeface="EBGaramond" pitchFamily="34" charset="-122"/>
                <a:cs typeface="EBGaramond" pitchFamily="34" charset="-120"/>
              </a:rPr>
              <a:t>No RPO or RTO figures are asserted in this deck — those numbers are yours to set and to measure.</a:t>
            </a:r>
            <a:endParaRPr lang="en-US" sz="1333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DE6D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48572" y="541734"/>
            <a:ext cx="10291808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200"/>
              </a:lnSpc>
              <a:buNone/>
            </a:pPr>
            <a:r>
              <a:rPr lang="en-US" sz="1466" b="1" dirty="0">
                <a:solidFill>
                  <a:srgbClr val="6B5D46"/>
                </a:solidFill>
                <a:latin typeface="EBGaramond" pitchFamily="34" charset="0"/>
                <a:ea typeface="EBGaramond" pitchFamily="34" charset="-122"/>
                <a:cs typeface="EBGaramond" pitchFamily="34" charset="-120"/>
              </a:rPr>
              <a:t>THE SILENT FAILURES</a:t>
            </a:r>
            <a:endParaRPr lang="en-US" sz="1466" dirty="0"/>
          </a:p>
        </p:txBody>
      </p:sp>
      <p:sp>
        <p:nvSpPr>
          <p:cNvPr id="3" name="Text 1"/>
          <p:cNvSpPr/>
          <p:nvPr/>
        </p:nvSpPr>
        <p:spPr>
          <a:xfrm>
            <a:off x="948572" y="956469"/>
            <a:ext cx="10291808" cy="594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4679"/>
              </a:lnSpc>
              <a:spcBef>
                <a:spcPts val="1067"/>
              </a:spcBef>
              <a:buNone/>
            </a:pPr>
            <a:r>
              <a:rPr lang="en-US" sz="3466" dirty="0">
                <a:solidFill>
                  <a:srgbClr val="3A2E1F"/>
                </a:solidFill>
                <a:latin typeface="PlayfairDisplay" pitchFamily="34" charset="0"/>
                <a:ea typeface="PlayfairDisplay" pitchFamily="34" charset="-122"/>
                <a:cs typeface="PlayfairDisplay" pitchFamily="34" charset="-120"/>
              </a:rPr>
              <a:t>What a backup fails at, silently</a:t>
            </a:r>
            <a:endParaRPr lang="en-US" sz="3466" dirty="0"/>
          </a:p>
        </p:txBody>
      </p:sp>
      <p:sp>
        <p:nvSpPr>
          <p:cNvPr id="4" name="Text 2"/>
          <p:cNvSpPr/>
          <p:nvPr/>
        </p:nvSpPr>
        <p:spPr>
          <a:xfrm>
            <a:off x="5806615" y="1753989"/>
            <a:ext cx="575523" cy="12700"/>
          </a:xfrm>
          <a:prstGeom prst="rect">
            <a:avLst/>
          </a:prstGeom>
          <a:solidFill>
            <a:srgbClr val="A889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6088128" y="2105223"/>
            <a:ext cx="0" cy="1540867"/>
          </a:xfrm>
          <a:prstGeom prst="line">
            <a:avLst/>
          </a:prstGeom>
          <a:noFill/>
          <a:ln w="12698">
            <a:solidFill>
              <a:srgbClr val="A8893E"/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1049472" y="3639741"/>
            <a:ext cx="5045004" cy="0"/>
          </a:xfrm>
          <a:prstGeom prst="line">
            <a:avLst/>
          </a:prstGeom>
          <a:noFill/>
          <a:ln w="12698">
            <a:solidFill>
              <a:srgbClr val="A8893E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1792788" y="2435027"/>
            <a:ext cx="3545676" cy="36552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880"/>
              </a:lnSpc>
              <a:buNone/>
            </a:pPr>
            <a:r>
              <a:rPr lang="en-US" sz="2133" dirty="0">
                <a:solidFill>
                  <a:srgbClr val="3A2E1F"/>
                </a:solidFill>
                <a:latin typeface="PlayfairDisplay" pitchFamily="34" charset="0"/>
                <a:ea typeface="PlayfairDisplay" pitchFamily="34" charset="-122"/>
                <a:cs typeface="PlayfairDisplay" pitchFamily="34" charset="-120"/>
              </a:rPr>
              <a:t>Media nobody has read back</a:t>
            </a:r>
            <a:endParaRPr lang="en-US" sz="2133" dirty="0"/>
          </a:p>
        </p:txBody>
      </p:sp>
      <p:sp>
        <p:nvSpPr>
          <p:cNvPr id="8" name="Text 6"/>
          <p:cNvSpPr/>
          <p:nvPr/>
        </p:nvSpPr>
        <p:spPr>
          <a:xfrm>
            <a:off x="1726617" y="2935883"/>
            <a:ext cx="3678016" cy="36750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893"/>
              </a:lnSpc>
              <a:spcBef>
                <a:spcPts val="1067"/>
              </a:spcBef>
              <a:buNone/>
            </a:pPr>
            <a:r>
              <a:rPr lang="en-US" sz="1866" dirty="0">
                <a:solidFill>
                  <a:srgbClr val="3A2E1F"/>
                </a:solidFill>
                <a:latin typeface="EBGaramond" pitchFamily="34" charset="0"/>
                <a:ea typeface="EBGaramond" pitchFamily="34" charset="-122"/>
                <a:cs typeface="EBGaramond" pitchFamily="34" charset="-120"/>
              </a:rPr>
              <a:t>The job succeeded. The bytes never did.</a:t>
            </a:r>
            <a:endParaRPr lang="en-US" sz="1866" dirty="0"/>
          </a:p>
        </p:txBody>
      </p:sp>
      <p:sp>
        <p:nvSpPr>
          <p:cNvPr id="9" name="Shape 7"/>
          <p:cNvSpPr/>
          <p:nvPr/>
        </p:nvSpPr>
        <p:spPr>
          <a:xfrm>
            <a:off x="11133132" y="2105223"/>
            <a:ext cx="0" cy="1540867"/>
          </a:xfrm>
          <a:prstGeom prst="line">
            <a:avLst/>
          </a:prstGeom>
          <a:noFill/>
          <a:ln w="12698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6094476" y="3639741"/>
            <a:ext cx="5045004" cy="0"/>
          </a:xfrm>
          <a:prstGeom prst="line">
            <a:avLst/>
          </a:prstGeom>
          <a:noFill/>
          <a:ln w="12698">
            <a:solidFill>
              <a:srgbClr val="A8893E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738638" y="2435027"/>
            <a:ext cx="3743984" cy="36552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880"/>
              </a:lnSpc>
              <a:buNone/>
            </a:pPr>
            <a:r>
              <a:rPr lang="en-US" sz="2133" dirty="0">
                <a:solidFill>
                  <a:srgbClr val="3A2E1F"/>
                </a:solidFill>
                <a:latin typeface="PlayfairDisplay" pitchFamily="34" charset="0"/>
                <a:ea typeface="PlayfairDisplay" pitchFamily="34" charset="-122"/>
                <a:cs typeface="PlayfairDisplay" pitchFamily="34" charset="-120"/>
              </a:rPr>
              <a:t>A schema left out of the dump</a:t>
            </a:r>
            <a:endParaRPr lang="en-US" sz="2133" dirty="0"/>
          </a:p>
        </p:txBody>
      </p:sp>
      <p:sp>
        <p:nvSpPr>
          <p:cNvPr id="12" name="Text 10"/>
          <p:cNvSpPr/>
          <p:nvPr/>
        </p:nvSpPr>
        <p:spPr>
          <a:xfrm>
            <a:off x="6726294" y="2935883"/>
            <a:ext cx="3768672" cy="36750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893"/>
              </a:lnSpc>
              <a:spcBef>
                <a:spcPts val="1067"/>
              </a:spcBef>
              <a:buNone/>
            </a:pPr>
            <a:r>
              <a:rPr lang="en-US" sz="1866" dirty="0">
                <a:solidFill>
                  <a:srgbClr val="3A2E1F"/>
                </a:solidFill>
                <a:latin typeface="EBGaramond" pitchFamily="34" charset="0"/>
                <a:ea typeface="EBGaramond" pitchFamily="34" charset="-122"/>
                <a:cs typeface="EBGaramond" pitchFamily="34" charset="-120"/>
              </a:rPr>
              <a:t>Rows come back. The database does not.</a:t>
            </a:r>
            <a:endParaRPr lang="en-US" sz="1866" dirty="0"/>
          </a:p>
        </p:txBody>
      </p:sp>
      <p:sp>
        <p:nvSpPr>
          <p:cNvPr id="13" name="Shape 11"/>
          <p:cNvSpPr/>
          <p:nvPr/>
        </p:nvSpPr>
        <p:spPr>
          <a:xfrm>
            <a:off x="6088128" y="3646091"/>
            <a:ext cx="0" cy="1540867"/>
          </a:xfrm>
          <a:prstGeom prst="line">
            <a:avLst/>
          </a:prstGeom>
          <a:noFill/>
          <a:ln w="12698">
            <a:solidFill>
              <a:srgbClr val="A8893E"/>
            </a:solidFill>
            <a:prstDash val="solid"/>
          </a:ln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1049472" y="5180608"/>
            <a:ext cx="5045004" cy="0"/>
          </a:xfrm>
          <a:prstGeom prst="line">
            <a:avLst/>
          </a:prstGeom>
          <a:noFill/>
          <a:ln w="12698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1641830" y="3975894"/>
            <a:ext cx="3847590" cy="36552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880"/>
              </a:lnSpc>
              <a:buNone/>
            </a:pPr>
            <a:r>
              <a:rPr lang="en-US" sz="2133" dirty="0">
                <a:solidFill>
                  <a:srgbClr val="3A2E1F"/>
                </a:solidFill>
                <a:latin typeface="PlayfairDisplay" pitchFamily="34" charset="0"/>
                <a:ea typeface="PlayfairDisplay" pitchFamily="34" charset="-122"/>
                <a:cs typeface="PlayfairDisplay" pitchFamily="34" charset="-120"/>
              </a:rPr>
              <a:t>A dependency that is down too</a:t>
            </a:r>
            <a:endParaRPr lang="en-US" sz="2133" dirty="0"/>
          </a:p>
        </p:txBody>
      </p:sp>
      <p:sp>
        <p:nvSpPr>
          <p:cNvPr id="16" name="Text 14"/>
          <p:cNvSpPr/>
          <p:nvPr/>
        </p:nvSpPr>
        <p:spPr>
          <a:xfrm>
            <a:off x="1733093" y="4476750"/>
            <a:ext cx="3665066" cy="36750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893"/>
              </a:lnSpc>
              <a:spcBef>
                <a:spcPts val="1067"/>
              </a:spcBef>
              <a:buNone/>
            </a:pPr>
            <a:r>
              <a:rPr lang="en-US" sz="1866" dirty="0">
                <a:solidFill>
                  <a:srgbClr val="3A2E1F"/>
                </a:solidFill>
                <a:latin typeface="EBGaramond" pitchFamily="34" charset="0"/>
                <a:ea typeface="EBGaramond" pitchFamily="34" charset="-122"/>
                <a:cs typeface="EBGaramond" pitchFamily="34" charset="-120"/>
              </a:rPr>
              <a:t>The restore needs what the outage took.</a:t>
            </a:r>
            <a:endParaRPr lang="en-US" sz="1866" dirty="0"/>
          </a:p>
        </p:txBody>
      </p:sp>
      <p:sp>
        <p:nvSpPr>
          <p:cNvPr id="17" name="Shape 15"/>
          <p:cNvSpPr/>
          <p:nvPr/>
        </p:nvSpPr>
        <p:spPr>
          <a:xfrm>
            <a:off x="11133132" y="3646091"/>
            <a:ext cx="0" cy="1540867"/>
          </a:xfrm>
          <a:prstGeom prst="line">
            <a:avLst/>
          </a:prstGeom>
          <a:noFill/>
          <a:ln w="12698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6094476" y="5180608"/>
            <a:ext cx="5045004" cy="0"/>
          </a:xfrm>
          <a:prstGeom prst="line">
            <a:avLst/>
          </a:prstGeom>
          <a:noFill/>
          <a:ln w="12698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6614189" y="3975894"/>
            <a:ext cx="3992882" cy="36552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880"/>
              </a:lnSpc>
              <a:buNone/>
            </a:pPr>
            <a:r>
              <a:rPr lang="en-US" sz="2133" dirty="0">
                <a:solidFill>
                  <a:srgbClr val="3A2E1F"/>
                </a:solidFill>
                <a:latin typeface="PlayfairDisplay" pitchFamily="34" charset="0"/>
                <a:ea typeface="PlayfairDisplay" pitchFamily="34" charset="-122"/>
                <a:cs typeface="PlayfairDisplay" pitchFamily="34" charset="-120"/>
              </a:rPr>
              <a:t>Credentials nobody on shift has</a:t>
            </a:r>
            <a:endParaRPr lang="en-US" sz="2133" dirty="0"/>
          </a:p>
        </p:txBody>
      </p:sp>
      <p:sp>
        <p:nvSpPr>
          <p:cNvPr id="20" name="Text 18"/>
          <p:cNvSpPr/>
          <p:nvPr/>
        </p:nvSpPr>
        <p:spPr>
          <a:xfrm>
            <a:off x="6914080" y="4476750"/>
            <a:ext cx="3393100" cy="36750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893"/>
              </a:lnSpc>
              <a:spcBef>
                <a:spcPts val="1067"/>
              </a:spcBef>
              <a:buNone/>
            </a:pPr>
            <a:r>
              <a:rPr lang="en-US" sz="1866" dirty="0">
                <a:solidFill>
                  <a:srgbClr val="3A2E1F"/>
                </a:solidFill>
                <a:latin typeface="EBGaramond" pitchFamily="34" charset="0"/>
                <a:ea typeface="EBGaramond" pitchFamily="34" charset="-122"/>
                <a:cs typeface="EBGaramond" pitchFamily="34" charset="-120"/>
              </a:rPr>
              <a:t>The path exists. Nobody can walk it.</a:t>
            </a:r>
            <a:endParaRPr lang="en-US" sz="1866" dirty="0"/>
          </a:p>
        </p:txBody>
      </p:sp>
      <p:sp>
        <p:nvSpPr>
          <p:cNvPr id="21" name="Text 19"/>
          <p:cNvSpPr/>
          <p:nvPr/>
        </p:nvSpPr>
        <p:spPr>
          <a:xfrm>
            <a:off x="948572" y="5491758"/>
            <a:ext cx="10291808" cy="36750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893"/>
              </a:lnSpc>
              <a:spcBef>
                <a:spcPts val="2400"/>
              </a:spcBef>
              <a:buNone/>
            </a:pPr>
            <a:r>
              <a:rPr lang="en-US" sz="1866" i="1" dirty="0">
                <a:solidFill>
                  <a:srgbClr val="3A2E1F"/>
                </a:solidFill>
                <a:latin typeface="EBGaramond" pitchFamily="34" charset="0"/>
                <a:ea typeface="EBGaramond" pitchFamily="34" charset="-122"/>
                <a:cs typeface="EBGaramond" pitchFamily="34" charset="-120"/>
              </a:rPr>
              <a:t>None of these announce themselves. All of them wait.</a:t>
            </a:r>
            <a:endParaRPr lang="en-US" sz="1866" dirty="0"/>
          </a:p>
        </p:txBody>
      </p:sp>
      <p:sp>
        <p:nvSpPr>
          <p:cNvPr id="22" name="Text 20"/>
          <p:cNvSpPr/>
          <p:nvPr/>
        </p:nvSpPr>
        <p:spPr>
          <a:xfrm>
            <a:off x="847672" y="6096198"/>
            <a:ext cx="10291808" cy="2538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ts val="2000"/>
              </a:lnSpc>
              <a:buNone/>
            </a:pPr>
            <a:r>
              <a:rPr lang="en-US" sz="1333" i="1" dirty="0">
                <a:solidFill>
                  <a:srgbClr val="6B5D46"/>
                </a:solidFill>
                <a:latin typeface="EBGaramond" pitchFamily="34" charset="0"/>
                <a:ea typeface="EBGaramond" pitchFamily="34" charset="-122"/>
                <a:cs typeface="EBGaramond" pitchFamily="34" charset="-120"/>
              </a:rPr>
              <a:t>No RPO or RTO figures are asserted in this deck — those numbers are yours to set and to measure.</a:t>
            </a:r>
            <a:endParaRPr lang="en-US" sz="1333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DE6D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48572" y="541734"/>
            <a:ext cx="10291808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200"/>
              </a:lnSpc>
              <a:buNone/>
            </a:pPr>
            <a:r>
              <a:rPr lang="en-US" sz="1466" b="1" dirty="0">
                <a:solidFill>
                  <a:srgbClr val="6B5D46"/>
                </a:solidFill>
                <a:latin typeface="EBGaramond" pitchFamily="34" charset="0"/>
                <a:ea typeface="EBGaramond" pitchFamily="34" charset="-122"/>
                <a:cs typeface="EBGaramond" pitchFamily="34" charset="-120"/>
              </a:rPr>
              <a:t>THE SHAPE OF THE DATA</a:t>
            </a:r>
            <a:endParaRPr lang="en-US" sz="1466" dirty="0"/>
          </a:p>
        </p:txBody>
      </p:sp>
      <p:sp>
        <p:nvSpPr>
          <p:cNvPr id="3" name="Text 1"/>
          <p:cNvSpPr/>
          <p:nvPr/>
        </p:nvSpPr>
        <p:spPr>
          <a:xfrm>
            <a:off x="948572" y="956469"/>
            <a:ext cx="10291808" cy="594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4679"/>
              </a:lnSpc>
              <a:spcBef>
                <a:spcPts val="1067"/>
              </a:spcBef>
              <a:buNone/>
            </a:pPr>
            <a:r>
              <a:rPr lang="en-US" sz="3466" dirty="0">
                <a:solidFill>
                  <a:srgbClr val="3A2E1F"/>
                </a:solidFill>
                <a:latin typeface="PlayfairDisplay" pitchFamily="34" charset="0"/>
                <a:ea typeface="PlayfairDisplay" pitchFamily="34" charset="-122"/>
                <a:cs typeface="PlayfairDisplay" pitchFamily="34" charset="-120"/>
              </a:rPr>
              <a:t>A drill proves nothing against a toy dataset</a:t>
            </a:r>
            <a:endParaRPr lang="en-US" sz="3466" dirty="0"/>
          </a:p>
        </p:txBody>
      </p:sp>
      <p:sp>
        <p:nvSpPr>
          <p:cNvPr id="4" name="Text 2"/>
          <p:cNvSpPr/>
          <p:nvPr/>
        </p:nvSpPr>
        <p:spPr>
          <a:xfrm>
            <a:off x="5806615" y="1753989"/>
            <a:ext cx="575523" cy="12700"/>
          </a:xfrm>
          <a:prstGeom prst="rect">
            <a:avLst/>
          </a:prstGeom>
          <a:solidFill>
            <a:srgbClr val="A889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004164" y="2443361"/>
            <a:ext cx="4621398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200"/>
              </a:lnSpc>
              <a:buNone/>
            </a:pPr>
            <a:r>
              <a:rPr lang="en-US" sz="1466" b="1" dirty="0">
                <a:solidFill>
                  <a:srgbClr val="6B5D46"/>
                </a:solidFill>
                <a:latin typeface="EBGaramond" pitchFamily="34" charset="0"/>
                <a:ea typeface="EBGaramond" pitchFamily="34" charset="-122"/>
                <a:cs typeface="EBGaramond" pitchFamily="34" charset="-120"/>
              </a:rPr>
              <a:t>A SAMPLE RESTORE</a:t>
            </a:r>
            <a:endParaRPr lang="en-US" sz="1466" dirty="0"/>
          </a:p>
        </p:txBody>
      </p:sp>
      <p:sp>
        <p:nvSpPr>
          <p:cNvPr id="6" name="Text 4"/>
          <p:cNvSpPr/>
          <p:nvPr/>
        </p:nvSpPr>
        <p:spPr>
          <a:xfrm>
            <a:off x="3027002" y="2892028"/>
            <a:ext cx="575523" cy="12700"/>
          </a:xfrm>
          <a:prstGeom prst="rect">
            <a:avLst/>
          </a:prstGeom>
          <a:solidFill>
            <a:srgbClr val="A889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1004164" y="3141662"/>
            <a:ext cx="4621398" cy="36750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893"/>
              </a:lnSpc>
              <a:buNone/>
            </a:pPr>
            <a:r>
              <a:rPr lang="en-US" sz="1866" dirty="0">
                <a:solidFill>
                  <a:srgbClr val="3A2E1F"/>
                </a:solidFill>
                <a:latin typeface="EBGaramond" pitchFamily="34" charset="0"/>
                <a:ea typeface="EBGaramond" pitchFamily="34" charset="-122"/>
                <a:cs typeface="EBGaramond" pitchFamily="34" charset="-120"/>
              </a:rPr>
              <a:t>It proves the command exists.</a:t>
            </a:r>
            <a:endParaRPr lang="en-US" sz="1866" dirty="0"/>
          </a:p>
        </p:txBody>
      </p:sp>
      <p:sp>
        <p:nvSpPr>
          <p:cNvPr id="8" name="Text 6"/>
          <p:cNvSpPr/>
          <p:nvPr/>
        </p:nvSpPr>
        <p:spPr>
          <a:xfrm>
            <a:off x="1004164" y="3712369"/>
            <a:ext cx="4621398" cy="36750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893"/>
              </a:lnSpc>
              <a:spcBef>
                <a:spcPts val="1600"/>
              </a:spcBef>
              <a:buNone/>
            </a:pPr>
            <a:r>
              <a:rPr lang="en-US" sz="1866" dirty="0">
                <a:solidFill>
                  <a:srgbClr val="3A2E1F"/>
                </a:solidFill>
                <a:latin typeface="EBGaramond" pitchFamily="34" charset="0"/>
                <a:ea typeface="EBGaramond" pitchFamily="34" charset="-122"/>
                <a:cs typeface="EBGaramond" pitchFamily="34" charset="-120"/>
              </a:rPr>
              <a:t>It proves someone on the team can type it.</a:t>
            </a:r>
            <a:endParaRPr lang="en-US" sz="1866" dirty="0"/>
          </a:p>
        </p:txBody>
      </p:sp>
      <p:sp>
        <p:nvSpPr>
          <p:cNvPr id="9" name="Text 7"/>
          <p:cNvSpPr/>
          <p:nvPr/>
        </p:nvSpPr>
        <p:spPr>
          <a:xfrm>
            <a:off x="6088128" y="2443361"/>
            <a:ext cx="12697" cy="2371527"/>
          </a:xfrm>
          <a:prstGeom prst="rect">
            <a:avLst/>
          </a:prstGeom>
          <a:solidFill>
            <a:srgbClr val="A889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6563390" y="2443361"/>
            <a:ext cx="4621398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200"/>
              </a:lnSpc>
              <a:buNone/>
            </a:pPr>
            <a:r>
              <a:rPr lang="en-US" sz="1466" b="1" dirty="0">
                <a:solidFill>
                  <a:srgbClr val="6B5D46"/>
                </a:solidFill>
                <a:latin typeface="EBGaramond" pitchFamily="34" charset="0"/>
                <a:ea typeface="EBGaramond" pitchFamily="34" charset="-122"/>
                <a:cs typeface="EBGaramond" pitchFamily="34" charset="-120"/>
              </a:rPr>
              <a:t>A PRODUCTION-SHAPED RESTORE</a:t>
            </a:r>
            <a:endParaRPr lang="en-US" sz="1466" dirty="0"/>
          </a:p>
        </p:txBody>
      </p:sp>
      <p:sp>
        <p:nvSpPr>
          <p:cNvPr id="11" name="Text 9"/>
          <p:cNvSpPr/>
          <p:nvPr/>
        </p:nvSpPr>
        <p:spPr>
          <a:xfrm>
            <a:off x="8586228" y="2892028"/>
            <a:ext cx="575523" cy="12700"/>
          </a:xfrm>
          <a:prstGeom prst="rect">
            <a:avLst/>
          </a:prstGeom>
          <a:solidFill>
            <a:srgbClr val="A889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6563390" y="3141662"/>
            <a:ext cx="4621398" cy="73501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2893"/>
              </a:lnSpc>
              <a:buNone/>
            </a:pPr>
            <a:r>
              <a:rPr lang="en-US" sz="1866" dirty="0">
                <a:solidFill>
                  <a:srgbClr val="3A2E1F"/>
                </a:solidFill>
                <a:latin typeface="EBGaramond" pitchFamily="34" charset="0"/>
                <a:ea typeface="EBGaramond" pitchFamily="34" charset="-122"/>
                <a:cs typeface="EBGaramond" pitchFamily="34" charset="-120"/>
              </a:rPr>
              <a:t>It proves the volume moves in the time you promised.</a:t>
            </a:r>
            <a:endParaRPr lang="en-US" sz="1866" dirty="0"/>
          </a:p>
        </p:txBody>
      </p:sp>
      <p:sp>
        <p:nvSpPr>
          <p:cNvPr id="13" name="Text 11"/>
          <p:cNvSpPr/>
          <p:nvPr/>
        </p:nvSpPr>
        <p:spPr>
          <a:xfrm>
            <a:off x="6563390" y="4079875"/>
            <a:ext cx="4621398" cy="73501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2893"/>
              </a:lnSpc>
              <a:spcBef>
                <a:spcPts val="1600"/>
              </a:spcBef>
              <a:buNone/>
            </a:pPr>
            <a:r>
              <a:rPr lang="en-US" sz="1866" dirty="0">
                <a:solidFill>
                  <a:srgbClr val="3A2E1F"/>
                </a:solidFill>
                <a:latin typeface="EBGaramond" pitchFamily="34" charset="0"/>
                <a:ea typeface="EBGaramond" pitchFamily="34" charset="-122"/>
                <a:cs typeface="EBGaramond" pitchFamily="34" charset="-120"/>
              </a:rPr>
              <a:t>It proves the schema, the permissions and the dependencies come back with it.</a:t>
            </a:r>
            <a:endParaRPr lang="en-US" sz="1866" dirty="0"/>
          </a:p>
        </p:txBody>
      </p:sp>
      <p:sp>
        <p:nvSpPr>
          <p:cNvPr id="14" name="Text 12"/>
          <p:cNvSpPr/>
          <p:nvPr/>
        </p:nvSpPr>
        <p:spPr>
          <a:xfrm>
            <a:off x="948572" y="5491758"/>
            <a:ext cx="10291808" cy="36750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893"/>
              </a:lnSpc>
              <a:spcBef>
                <a:spcPts val="2400"/>
              </a:spcBef>
              <a:buNone/>
            </a:pPr>
            <a:r>
              <a:rPr lang="en-US" sz="1866" i="1" dirty="0">
                <a:solidFill>
                  <a:srgbClr val="3A2E1F"/>
                </a:solidFill>
                <a:latin typeface="EBGaramond" pitchFamily="34" charset="0"/>
                <a:ea typeface="EBGaramond" pitchFamily="34" charset="-122"/>
                <a:cs typeface="EBGaramond" pitchFamily="34" charset="-120"/>
              </a:rPr>
              <a:t>Everything that breaks at real size is invisible at sample size.</a:t>
            </a:r>
            <a:endParaRPr lang="en-US" sz="1866" dirty="0"/>
          </a:p>
        </p:txBody>
      </p:sp>
      <p:sp>
        <p:nvSpPr>
          <p:cNvPr id="15" name="Text 13"/>
          <p:cNvSpPr/>
          <p:nvPr/>
        </p:nvSpPr>
        <p:spPr>
          <a:xfrm>
            <a:off x="847672" y="6096198"/>
            <a:ext cx="10291808" cy="2538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ts val="2000"/>
              </a:lnSpc>
              <a:buNone/>
            </a:pPr>
            <a:r>
              <a:rPr lang="en-US" sz="1333" i="1" dirty="0">
                <a:solidFill>
                  <a:srgbClr val="6B5D46"/>
                </a:solidFill>
                <a:latin typeface="EBGaramond" pitchFamily="34" charset="0"/>
                <a:ea typeface="EBGaramond" pitchFamily="34" charset="-122"/>
                <a:cs typeface="EBGaramond" pitchFamily="34" charset="-120"/>
              </a:rPr>
              <a:t>No RPO or RTO figures are asserted in this deck — those numbers are yours to set and to measure.</a:t>
            </a:r>
            <a:endParaRPr lang="en-US" sz="1333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DE6D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48572" y="541734"/>
            <a:ext cx="10291808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200"/>
              </a:lnSpc>
              <a:buNone/>
            </a:pPr>
            <a:r>
              <a:rPr lang="en-US" sz="1466" b="1" dirty="0">
                <a:solidFill>
                  <a:srgbClr val="6B5D46"/>
                </a:solidFill>
                <a:latin typeface="EBGaramond" pitchFamily="34" charset="0"/>
                <a:ea typeface="EBGaramond" pitchFamily="34" charset="-122"/>
                <a:cs typeface="EBGaramond" pitchFamily="34" charset="-120"/>
              </a:rPr>
              <a:t>WHAT THE DRILL PRODUCES</a:t>
            </a:r>
            <a:endParaRPr lang="en-US" sz="1466" dirty="0"/>
          </a:p>
        </p:txBody>
      </p:sp>
      <p:sp>
        <p:nvSpPr>
          <p:cNvPr id="3" name="Text 1"/>
          <p:cNvSpPr/>
          <p:nvPr/>
        </p:nvSpPr>
        <p:spPr>
          <a:xfrm>
            <a:off x="948572" y="956469"/>
            <a:ext cx="10291808" cy="594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4679"/>
              </a:lnSpc>
              <a:spcBef>
                <a:spcPts val="1067"/>
              </a:spcBef>
              <a:buNone/>
            </a:pPr>
            <a:r>
              <a:rPr lang="en-US" sz="3466" dirty="0">
                <a:solidFill>
                  <a:srgbClr val="3A2E1F"/>
                </a:solidFill>
                <a:latin typeface="PlayfairDisplay" pitchFamily="34" charset="0"/>
                <a:ea typeface="PlayfairDisplay" pitchFamily="34" charset="-122"/>
                <a:cs typeface="PlayfairDisplay" pitchFamily="34" charset="-120"/>
              </a:rPr>
              <a:t>The drill’s product is a corrected runbook</a:t>
            </a:r>
            <a:endParaRPr lang="en-US" sz="3466" dirty="0"/>
          </a:p>
        </p:txBody>
      </p:sp>
      <p:sp>
        <p:nvSpPr>
          <p:cNvPr id="4" name="Text 2"/>
          <p:cNvSpPr/>
          <p:nvPr/>
        </p:nvSpPr>
        <p:spPr>
          <a:xfrm>
            <a:off x="5806615" y="1753989"/>
            <a:ext cx="575523" cy="12700"/>
          </a:xfrm>
          <a:prstGeom prst="rect">
            <a:avLst/>
          </a:prstGeom>
          <a:solidFill>
            <a:srgbClr val="A889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049274" y="2545358"/>
            <a:ext cx="2268764" cy="2201267"/>
          </a:xfrm>
          <a:prstGeom prst="rect">
            <a:avLst/>
          </a:prstGeom>
          <a:noFill/>
          <a:ln w="12698">
            <a:solidFill>
              <a:srgbClr val="A889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1997369" y="2836664"/>
            <a:ext cx="372374" cy="372467"/>
          </a:xfrm>
          <a:prstGeom prst="roundRect">
            <a:avLst>
              <a:gd name="adj" fmla="val 327372"/>
            </a:avLst>
          </a:prstGeom>
          <a:noFill/>
          <a:ln w="12698">
            <a:solidFill>
              <a:srgbClr val="A889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2151080" y="2880717"/>
            <a:ext cx="64754" cy="2843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240"/>
              </a:lnSpc>
              <a:buNone/>
            </a:pPr>
            <a:r>
              <a:rPr lang="en-US" sz="1600" dirty="0">
                <a:solidFill>
                  <a:srgbClr val="3A2E1F"/>
                </a:solidFill>
                <a:latin typeface="PlayfairDisplay" pitchFamily="34" charset="0"/>
                <a:ea typeface="PlayfairDisplay" pitchFamily="34" charset="-122"/>
                <a:cs typeface="PlayfairDisplay" pitchFamily="34" charset="-120"/>
              </a:rPr>
              <a:t>I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535512" y="3378398"/>
            <a:ext cx="1296088" cy="33198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613"/>
              </a:lnSpc>
              <a:spcBef>
                <a:spcPts val="1333"/>
              </a:spcBef>
              <a:buNone/>
            </a:pPr>
            <a:r>
              <a:rPr lang="en-US" sz="1866" b="1" dirty="0">
                <a:solidFill>
                  <a:srgbClr val="3A2E1F"/>
                </a:solidFill>
                <a:latin typeface="EBGaramond" pitchFamily="34" charset="0"/>
                <a:ea typeface="EBGaramond" pitchFamily="34" charset="-122"/>
                <a:cs typeface="EBGaramond" pitchFamily="34" charset="-120"/>
              </a:rPr>
              <a:t>DECLARE</a:t>
            </a:r>
            <a:endParaRPr lang="en-US" sz="1866" dirty="0"/>
          </a:p>
        </p:txBody>
      </p:sp>
      <p:sp>
        <p:nvSpPr>
          <p:cNvPr id="9" name="Text 7"/>
          <p:cNvSpPr/>
          <p:nvPr/>
        </p:nvSpPr>
        <p:spPr>
          <a:xfrm>
            <a:off x="1229346" y="3845719"/>
            <a:ext cx="1908618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2400"/>
              </a:lnSpc>
              <a:spcBef>
                <a:spcPts val="1067"/>
              </a:spcBef>
              <a:buNone/>
            </a:pPr>
            <a:r>
              <a:rPr lang="en-US" sz="1600" dirty="0">
                <a:solidFill>
                  <a:srgbClr val="6B5D46"/>
                </a:solidFill>
                <a:latin typeface="EBGaramond" pitchFamily="34" charset="0"/>
                <a:ea typeface="EBGaramond" pitchFamily="34" charset="-122"/>
                <a:cs typeface="EBGaramond" pitchFamily="34" charset="-120"/>
              </a:rPr>
              <a:t>The restore you claim you can do.</a:t>
            </a:r>
            <a:endParaRPr lang="en-US" sz="16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318037" y="3578423"/>
            <a:ext cx="338450" cy="135334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3656487" y="2545358"/>
            <a:ext cx="2268764" cy="2201267"/>
          </a:xfrm>
          <a:prstGeom prst="rect">
            <a:avLst/>
          </a:prstGeom>
          <a:noFill/>
          <a:ln w="12698">
            <a:solidFill>
              <a:srgbClr val="A889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9"/>
          <p:cNvSpPr/>
          <p:nvPr/>
        </p:nvSpPr>
        <p:spPr>
          <a:xfrm>
            <a:off x="4604583" y="2836664"/>
            <a:ext cx="372374" cy="372467"/>
          </a:xfrm>
          <a:prstGeom prst="roundRect">
            <a:avLst>
              <a:gd name="adj" fmla="val 327372"/>
            </a:avLst>
          </a:prstGeom>
          <a:noFill/>
          <a:ln w="12698">
            <a:solidFill>
              <a:srgbClr val="A889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0"/>
          <p:cNvSpPr/>
          <p:nvPr/>
        </p:nvSpPr>
        <p:spPr>
          <a:xfrm>
            <a:off x="4725917" y="2880717"/>
            <a:ext cx="129508" cy="2843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240"/>
              </a:lnSpc>
              <a:buNone/>
            </a:pPr>
            <a:r>
              <a:rPr lang="en-US" sz="1600" dirty="0">
                <a:solidFill>
                  <a:srgbClr val="3A2E1F"/>
                </a:solidFill>
                <a:latin typeface="PlayfairDisplay" pitchFamily="34" charset="0"/>
                <a:ea typeface="PlayfairDisplay" pitchFamily="34" charset="-122"/>
                <a:cs typeface="PlayfairDisplay" pitchFamily="34" charset="-120"/>
              </a:rPr>
              <a:t>II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4476006" y="3378398"/>
            <a:ext cx="629528" cy="33198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613"/>
              </a:lnSpc>
              <a:spcBef>
                <a:spcPts val="1333"/>
              </a:spcBef>
              <a:buNone/>
            </a:pPr>
            <a:r>
              <a:rPr lang="en-US" sz="1866" b="1" dirty="0">
                <a:solidFill>
                  <a:srgbClr val="3A2E1F"/>
                </a:solidFill>
                <a:latin typeface="EBGaramond" pitchFamily="34" charset="0"/>
                <a:ea typeface="EBGaramond" pitchFamily="34" charset="-122"/>
                <a:cs typeface="EBGaramond" pitchFamily="34" charset="-120"/>
              </a:rPr>
              <a:t>RUN</a:t>
            </a:r>
            <a:endParaRPr lang="en-US" sz="1866" dirty="0"/>
          </a:p>
        </p:txBody>
      </p:sp>
      <p:sp>
        <p:nvSpPr>
          <p:cNvPr id="15" name="Text 12"/>
          <p:cNvSpPr/>
          <p:nvPr/>
        </p:nvSpPr>
        <p:spPr>
          <a:xfrm>
            <a:off x="3836560" y="3845719"/>
            <a:ext cx="1908618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2400"/>
              </a:lnSpc>
              <a:spcBef>
                <a:spcPts val="1067"/>
              </a:spcBef>
              <a:buNone/>
            </a:pPr>
            <a:r>
              <a:rPr lang="en-US" sz="1600" dirty="0">
                <a:solidFill>
                  <a:srgbClr val="6B5D46"/>
                </a:solidFill>
                <a:latin typeface="EBGaramond" pitchFamily="34" charset="0"/>
                <a:ea typeface="EBGaramond" pitchFamily="34" charset="-122"/>
                <a:cs typeface="EBGaramond" pitchFamily="34" charset="-120"/>
              </a:rPr>
              <a:t>Timed, by the shift that would really do it.</a:t>
            </a:r>
            <a:endParaRPr lang="en-US" sz="1600" dirty="0"/>
          </a:p>
        </p:txBody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925251" y="3578423"/>
            <a:ext cx="338450" cy="135334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6263701" y="2545358"/>
            <a:ext cx="2268764" cy="2201267"/>
          </a:xfrm>
          <a:prstGeom prst="rect">
            <a:avLst/>
          </a:prstGeom>
          <a:noFill/>
          <a:ln w="12698">
            <a:solidFill>
              <a:srgbClr val="A889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4"/>
          <p:cNvSpPr/>
          <p:nvPr/>
        </p:nvSpPr>
        <p:spPr>
          <a:xfrm>
            <a:off x="7211797" y="2836664"/>
            <a:ext cx="372374" cy="372467"/>
          </a:xfrm>
          <a:prstGeom prst="roundRect">
            <a:avLst>
              <a:gd name="adj" fmla="val 327372"/>
            </a:avLst>
          </a:prstGeom>
          <a:noFill/>
          <a:ln w="12698">
            <a:solidFill>
              <a:srgbClr val="A889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5"/>
          <p:cNvSpPr/>
          <p:nvPr/>
        </p:nvSpPr>
        <p:spPr>
          <a:xfrm>
            <a:off x="7300754" y="2880717"/>
            <a:ext cx="194261" cy="2843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240"/>
              </a:lnSpc>
              <a:buNone/>
            </a:pPr>
            <a:r>
              <a:rPr lang="en-US" sz="1600" dirty="0">
                <a:solidFill>
                  <a:srgbClr val="3A2E1F"/>
                </a:solidFill>
                <a:latin typeface="PlayfairDisplay" pitchFamily="34" charset="0"/>
                <a:ea typeface="PlayfairDisplay" pitchFamily="34" charset="-122"/>
                <a:cs typeface="PlayfairDisplay" pitchFamily="34" charset="-120"/>
              </a:rPr>
              <a:t>III</a:t>
            </a:r>
            <a:endParaRPr lang="en-US" sz="1600" dirty="0"/>
          </a:p>
        </p:txBody>
      </p:sp>
      <p:sp>
        <p:nvSpPr>
          <p:cNvPr id="20" name="Text 16"/>
          <p:cNvSpPr/>
          <p:nvPr/>
        </p:nvSpPr>
        <p:spPr>
          <a:xfrm>
            <a:off x="6807409" y="3378398"/>
            <a:ext cx="1181150" cy="33198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613"/>
              </a:lnSpc>
              <a:spcBef>
                <a:spcPts val="1333"/>
              </a:spcBef>
              <a:buNone/>
            </a:pPr>
            <a:r>
              <a:rPr lang="en-US" sz="1866" b="1" dirty="0">
                <a:solidFill>
                  <a:srgbClr val="3A2E1F"/>
                </a:solidFill>
                <a:latin typeface="EBGaramond" pitchFamily="34" charset="0"/>
                <a:ea typeface="EBGaramond" pitchFamily="34" charset="-122"/>
                <a:cs typeface="EBGaramond" pitchFamily="34" charset="-120"/>
              </a:rPr>
              <a:t>RECORD</a:t>
            </a:r>
            <a:endParaRPr lang="en-US" sz="1866" dirty="0"/>
          </a:p>
        </p:txBody>
      </p:sp>
      <p:sp>
        <p:nvSpPr>
          <p:cNvPr id="21" name="Text 17"/>
          <p:cNvSpPr/>
          <p:nvPr/>
        </p:nvSpPr>
        <p:spPr>
          <a:xfrm>
            <a:off x="6443774" y="3845719"/>
            <a:ext cx="1908618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2400"/>
              </a:lnSpc>
              <a:spcBef>
                <a:spcPts val="1067"/>
              </a:spcBef>
              <a:buNone/>
            </a:pPr>
            <a:r>
              <a:rPr lang="en-US" sz="1600" dirty="0">
                <a:solidFill>
                  <a:srgbClr val="6B5D46"/>
                </a:solidFill>
                <a:latin typeface="EBGaramond" pitchFamily="34" charset="0"/>
                <a:ea typeface="EBGaramond" pitchFamily="34" charset="-122"/>
                <a:cs typeface="EBGaramond" pitchFamily="34" charset="-120"/>
              </a:rPr>
              <a:t>What the runbook said, and what happened.</a:t>
            </a:r>
            <a:endParaRPr lang="en-US" sz="1600" dirty="0"/>
          </a:p>
        </p:txBody>
      </p:sp>
      <p:pic>
        <p:nvPicPr>
          <p:cNvPr id="22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532465" y="3578423"/>
            <a:ext cx="338450" cy="135334"/>
          </a:xfrm>
          <a:prstGeom prst="rect">
            <a:avLst/>
          </a:prstGeom>
        </p:spPr>
      </p:pic>
      <p:sp>
        <p:nvSpPr>
          <p:cNvPr id="23" name="Text 18"/>
          <p:cNvSpPr/>
          <p:nvPr/>
        </p:nvSpPr>
        <p:spPr>
          <a:xfrm>
            <a:off x="8870915" y="2545358"/>
            <a:ext cx="2268764" cy="2201267"/>
          </a:xfrm>
          <a:prstGeom prst="rect">
            <a:avLst/>
          </a:prstGeom>
          <a:solidFill>
            <a:srgbClr val="F4EFE3"/>
          </a:solidFill>
          <a:ln w="12698">
            <a:solidFill>
              <a:srgbClr val="A889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19"/>
          <p:cNvSpPr/>
          <p:nvPr/>
        </p:nvSpPr>
        <p:spPr>
          <a:xfrm>
            <a:off x="9819010" y="2836664"/>
            <a:ext cx="372374" cy="372467"/>
          </a:xfrm>
          <a:prstGeom prst="roundRect">
            <a:avLst>
              <a:gd name="adj" fmla="val 327372"/>
            </a:avLst>
          </a:prstGeom>
          <a:noFill/>
          <a:ln w="12698">
            <a:solidFill>
              <a:srgbClr val="A889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0"/>
          <p:cNvSpPr/>
          <p:nvPr/>
        </p:nvSpPr>
        <p:spPr>
          <a:xfrm>
            <a:off x="9907967" y="2880717"/>
            <a:ext cx="194261" cy="2843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240"/>
              </a:lnSpc>
              <a:buNone/>
            </a:pPr>
            <a:r>
              <a:rPr lang="en-US" sz="1600" dirty="0">
                <a:solidFill>
                  <a:srgbClr val="3A2E1F"/>
                </a:solidFill>
                <a:latin typeface="PlayfairDisplay" pitchFamily="34" charset="0"/>
                <a:ea typeface="PlayfairDisplay" pitchFamily="34" charset="-122"/>
                <a:cs typeface="PlayfairDisplay" pitchFamily="34" charset="-120"/>
              </a:rPr>
              <a:t>IV</a:t>
            </a:r>
            <a:endParaRPr lang="en-US" sz="1600" dirty="0"/>
          </a:p>
        </p:txBody>
      </p:sp>
      <p:sp>
        <p:nvSpPr>
          <p:cNvPr id="26" name="Text 21"/>
          <p:cNvSpPr/>
          <p:nvPr/>
        </p:nvSpPr>
        <p:spPr>
          <a:xfrm>
            <a:off x="9324776" y="3378398"/>
            <a:ext cx="1360842" cy="33198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613"/>
              </a:lnSpc>
              <a:spcBef>
                <a:spcPts val="1333"/>
              </a:spcBef>
              <a:buNone/>
            </a:pPr>
            <a:r>
              <a:rPr lang="en-US" sz="1866" b="1" dirty="0">
                <a:solidFill>
                  <a:srgbClr val="3A2E1F"/>
                </a:solidFill>
                <a:latin typeface="EBGaramond" pitchFamily="34" charset="0"/>
                <a:ea typeface="EBGaramond" pitchFamily="34" charset="-122"/>
                <a:cs typeface="EBGaramond" pitchFamily="34" charset="-120"/>
              </a:rPr>
              <a:t>CORRECT</a:t>
            </a:r>
            <a:endParaRPr lang="en-US" sz="1866" dirty="0"/>
          </a:p>
        </p:txBody>
      </p:sp>
      <p:sp>
        <p:nvSpPr>
          <p:cNvPr id="27" name="Text 22"/>
          <p:cNvSpPr/>
          <p:nvPr/>
        </p:nvSpPr>
        <p:spPr>
          <a:xfrm>
            <a:off x="9050987" y="3845719"/>
            <a:ext cx="1908618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2400"/>
              </a:lnSpc>
              <a:spcBef>
                <a:spcPts val="1067"/>
              </a:spcBef>
              <a:buNone/>
            </a:pPr>
            <a:r>
              <a:rPr lang="en-US" sz="1600" dirty="0">
                <a:solidFill>
                  <a:srgbClr val="6B5D46"/>
                </a:solidFill>
                <a:latin typeface="EBGaramond" pitchFamily="34" charset="0"/>
                <a:ea typeface="EBGaramond" pitchFamily="34" charset="-122"/>
                <a:cs typeface="EBGaramond" pitchFamily="34" charset="-120"/>
              </a:rPr>
              <a:t>Edit the runbook before the drill is closed.</a:t>
            </a:r>
            <a:endParaRPr lang="en-US" sz="1600" dirty="0"/>
          </a:p>
        </p:txBody>
      </p:sp>
      <p:sp>
        <p:nvSpPr>
          <p:cNvPr id="28" name="Text 23"/>
          <p:cNvSpPr/>
          <p:nvPr/>
        </p:nvSpPr>
        <p:spPr>
          <a:xfrm>
            <a:off x="948572" y="5491758"/>
            <a:ext cx="10291808" cy="36750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893"/>
              </a:lnSpc>
              <a:spcBef>
                <a:spcPts val="2400"/>
              </a:spcBef>
              <a:buNone/>
            </a:pPr>
            <a:r>
              <a:rPr lang="en-US" sz="1866" i="1" dirty="0">
                <a:solidFill>
                  <a:srgbClr val="3A2E1F"/>
                </a:solidFill>
                <a:latin typeface="EBGaramond" pitchFamily="34" charset="0"/>
                <a:ea typeface="EBGaramond" pitchFamily="34" charset="-122"/>
                <a:cs typeface="EBGaramond" pitchFamily="34" charset="-120"/>
              </a:rPr>
              <a:t>A drill that ends in a pass has thrown away its only output.</a:t>
            </a:r>
            <a:endParaRPr lang="en-US" sz="1866" dirty="0"/>
          </a:p>
        </p:txBody>
      </p:sp>
      <p:sp>
        <p:nvSpPr>
          <p:cNvPr id="29" name="Text 24"/>
          <p:cNvSpPr/>
          <p:nvPr/>
        </p:nvSpPr>
        <p:spPr>
          <a:xfrm>
            <a:off x="847672" y="6096198"/>
            <a:ext cx="10291808" cy="2538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ts val="2000"/>
              </a:lnSpc>
              <a:buNone/>
            </a:pPr>
            <a:r>
              <a:rPr lang="en-US" sz="1333" i="1" dirty="0">
                <a:solidFill>
                  <a:srgbClr val="6B5D46"/>
                </a:solidFill>
                <a:latin typeface="EBGaramond" pitchFamily="34" charset="0"/>
                <a:ea typeface="EBGaramond" pitchFamily="34" charset="-122"/>
                <a:cs typeface="EBGaramond" pitchFamily="34" charset="-120"/>
              </a:rPr>
              <a:t>No RPO or RTO figures are asserted in this deck — those numbers are yours to set and to measure.</a:t>
            </a:r>
            <a:endParaRPr lang="en-US" sz="1333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DE6D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48572" y="541734"/>
            <a:ext cx="10291808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200"/>
              </a:lnSpc>
              <a:buNone/>
            </a:pPr>
            <a:r>
              <a:rPr lang="en-US" sz="1466" b="1" dirty="0">
                <a:solidFill>
                  <a:srgbClr val="6B5D46"/>
                </a:solidFill>
                <a:latin typeface="EBGaramond" pitchFamily="34" charset="0"/>
                <a:ea typeface="EBGaramond" pitchFamily="34" charset="-122"/>
                <a:cs typeface="EBGaramond" pitchFamily="34" charset="-120"/>
              </a:rPr>
              <a:t>DECISIONS</a:t>
            </a:r>
            <a:endParaRPr lang="en-US" sz="1466" dirty="0"/>
          </a:p>
        </p:txBody>
      </p:sp>
      <p:sp>
        <p:nvSpPr>
          <p:cNvPr id="3" name="Text 1"/>
          <p:cNvSpPr/>
          <p:nvPr/>
        </p:nvSpPr>
        <p:spPr>
          <a:xfrm>
            <a:off x="948572" y="922734"/>
            <a:ext cx="10291808" cy="594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4679"/>
              </a:lnSpc>
              <a:spcBef>
                <a:spcPts val="800"/>
              </a:spcBef>
              <a:buNone/>
            </a:pPr>
            <a:r>
              <a:rPr lang="en-US" sz="3466" dirty="0">
                <a:solidFill>
                  <a:srgbClr val="3A2E1F"/>
                </a:solidFill>
                <a:latin typeface="PlayfairDisplay" pitchFamily="34" charset="0"/>
                <a:ea typeface="PlayfairDisplay" pitchFamily="34" charset="-122"/>
                <a:cs typeface="PlayfairDisplay" pitchFamily="34" charset="-120"/>
              </a:rPr>
              <a:t>What we need to decide</a:t>
            </a:r>
            <a:endParaRPr lang="en-US" sz="3466" dirty="0"/>
          </a:p>
        </p:txBody>
      </p:sp>
      <p:sp>
        <p:nvSpPr>
          <p:cNvPr id="4" name="Text 2"/>
          <p:cNvSpPr/>
          <p:nvPr/>
        </p:nvSpPr>
        <p:spPr>
          <a:xfrm>
            <a:off x="5806615" y="1686322"/>
            <a:ext cx="575523" cy="12700"/>
          </a:xfrm>
          <a:prstGeom prst="rect">
            <a:avLst/>
          </a:prstGeom>
          <a:solidFill>
            <a:srgbClr val="A889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948572" y="2003822"/>
            <a:ext cx="10291808" cy="2538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1333" b="1" dirty="0">
                <a:solidFill>
                  <a:srgbClr val="6B5D46"/>
                </a:solidFill>
                <a:latin typeface="EBGaramond" pitchFamily="34" charset="0"/>
                <a:ea typeface="EBGaramond" pitchFamily="34" charset="-122"/>
                <a:cs typeface="EBGaramond" pitchFamily="34" charset="-120"/>
              </a:rPr>
              <a:t>I</a:t>
            </a:r>
            <a:endParaRPr lang="en-US" sz="1333" dirty="0"/>
          </a:p>
        </p:txBody>
      </p:sp>
      <p:sp>
        <p:nvSpPr>
          <p:cNvPr id="6" name="Text 4"/>
          <p:cNvSpPr/>
          <p:nvPr/>
        </p:nvSpPr>
        <p:spPr>
          <a:xfrm>
            <a:off x="948572" y="2325291"/>
            <a:ext cx="10291808" cy="43418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3420"/>
              </a:lnSpc>
              <a:spcBef>
                <a:spcPts val="533"/>
              </a:spcBef>
              <a:buNone/>
            </a:pPr>
            <a:r>
              <a:rPr lang="en-US" sz="2533" dirty="0">
                <a:solidFill>
                  <a:srgbClr val="3A2E1F"/>
                </a:solidFill>
                <a:latin typeface="PlayfairDisplay" pitchFamily="34" charset="0"/>
                <a:ea typeface="PlayfairDisplay" pitchFamily="34" charset="-122"/>
                <a:cs typeface="PlayfairDisplay" pitchFamily="34" charset="-120"/>
              </a:rPr>
              <a:t>Does the drill go on the calendar?</a:t>
            </a:r>
            <a:endParaRPr lang="en-US" sz="2533" dirty="0"/>
          </a:p>
        </p:txBody>
      </p:sp>
      <p:sp>
        <p:nvSpPr>
          <p:cNvPr id="7" name="Text 5"/>
          <p:cNvSpPr/>
          <p:nvPr/>
        </p:nvSpPr>
        <p:spPr>
          <a:xfrm>
            <a:off x="2122844" y="2827139"/>
            <a:ext cx="7943066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400"/>
              </a:lnSpc>
              <a:spcBef>
                <a:spcPts val="533"/>
              </a:spcBef>
              <a:buNone/>
            </a:pPr>
            <a:r>
              <a:rPr lang="en-US" sz="1600" i="1" dirty="0">
                <a:solidFill>
                  <a:srgbClr val="6B5D46"/>
                </a:solidFill>
                <a:latin typeface="EBGaramond" pitchFamily="34" charset="0"/>
                <a:ea typeface="EBGaramond" pitchFamily="34" charset="-122"/>
                <a:cs typeface="EBGaramond" pitchFamily="34" charset="-120"/>
              </a:rPr>
              <a:t>A date and an owner, or it stays an intention.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948572" y="3367484"/>
            <a:ext cx="10291808" cy="2538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1333" b="1" dirty="0">
                <a:solidFill>
                  <a:srgbClr val="6B5D46"/>
                </a:solidFill>
                <a:latin typeface="EBGaramond" pitchFamily="34" charset="0"/>
                <a:ea typeface="EBGaramond" pitchFamily="34" charset="-122"/>
                <a:cs typeface="EBGaramond" pitchFamily="34" charset="-120"/>
              </a:rPr>
              <a:t>II</a:t>
            </a:r>
            <a:endParaRPr lang="en-US" sz="1333" dirty="0"/>
          </a:p>
        </p:txBody>
      </p:sp>
      <p:sp>
        <p:nvSpPr>
          <p:cNvPr id="9" name="Text 7"/>
          <p:cNvSpPr/>
          <p:nvPr/>
        </p:nvSpPr>
        <p:spPr>
          <a:xfrm>
            <a:off x="948572" y="3688953"/>
            <a:ext cx="10291808" cy="43418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3420"/>
              </a:lnSpc>
              <a:spcBef>
                <a:spcPts val="533"/>
              </a:spcBef>
              <a:buNone/>
            </a:pPr>
            <a:r>
              <a:rPr lang="en-US" sz="2533" dirty="0">
                <a:solidFill>
                  <a:srgbClr val="3A2E1F"/>
                </a:solidFill>
                <a:latin typeface="PlayfairDisplay" pitchFamily="34" charset="0"/>
                <a:ea typeface="PlayfairDisplay" pitchFamily="34" charset="-122"/>
                <a:cs typeface="PlayfairDisplay" pitchFamily="34" charset="-120"/>
              </a:rPr>
              <a:t>What stops while the drill runs?</a:t>
            </a:r>
            <a:endParaRPr lang="en-US" sz="2533" dirty="0"/>
          </a:p>
        </p:txBody>
      </p:sp>
      <p:sp>
        <p:nvSpPr>
          <p:cNvPr id="10" name="Text 8"/>
          <p:cNvSpPr/>
          <p:nvPr/>
        </p:nvSpPr>
        <p:spPr>
          <a:xfrm>
            <a:off x="2122844" y="4190802"/>
            <a:ext cx="7943066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400"/>
              </a:lnSpc>
              <a:spcBef>
                <a:spcPts val="533"/>
              </a:spcBef>
              <a:buNone/>
            </a:pPr>
            <a:r>
              <a:rPr lang="en-US" sz="1600" i="1" dirty="0">
                <a:solidFill>
                  <a:srgbClr val="6B5D46"/>
                </a:solidFill>
                <a:latin typeface="EBGaramond" pitchFamily="34" charset="0"/>
                <a:ea typeface="EBGaramond" pitchFamily="34" charset="-122"/>
                <a:cs typeface="EBGaramond" pitchFamily="34" charset="-120"/>
              </a:rPr>
              <a:t>Name the service that goes quiet, and who is told before it does.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948572" y="4731147"/>
            <a:ext cx="10291808" cy="2538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1333" b="1" dirty="0">
                <a:solidFill>
                  <a:srgbClr val="6B5D46"/>
                </a:solidFill>
                <a:latin typeface="EBGaramond" pitchFamily="34" charset="0"/>
                <a:ea typeface="EBGaramond" pitchFamily="34" charset="-122"/>
                <a:cs typeface="EBGaramond" pitchFamily="34" charset="-120"/>
              </a:rPr>
              <a:t>III</a:t>
            </a:r>
            <a:endParaRPr lang="en-US" sz="1333" dirty="0"/>
          </a:p>
        </p:txBody>
      </p:sp>
      <p:sp>
        <p:nvSpPr>
          <p:cNvPr id="12" name="Text 10"/>
          <p:cNvSpPr/>
          <p:nvPr/>
        </p:nvSpPr>
        <p:spPr>
          <a:xfrm>
            <a:off x="948572" y="5052616"/>
            <a:ext cx="10291808" cy="43418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3420"/>
              </a:lnSpc>
              <a:spcBef>
                <a:spcPts val="533"/>
              </a:spcBef>
              <a:buNone/>
            </a:pPr>
            <a:r>
              <a:rPr lang="en-US" sz="2533" dirty="0">
                <a:solidFill>
                  <a:srgbClr val="3A2E1F"/>
                </a:solidFill>
                <a:latin typeface="PlayfairDisplay" pitchFamily="34" charset="0"/>
                <a:ea typeface="PlayfairDisplay" pitchFamily="34" charset="-122"/>
                <a:cs typeface="PlayfairDisplay" pitchFamily="34" charset="-120"/>
              </a:rPr>
              <a:t>Who signs the numbers we publish?</a:t>
            </a:r>
            <a:endParaRPr lang="en-US" sz="2533" dirty="0"/>
          </a:p>
        </p:txBody>
      </p:sp>
      <p:sp>
        <p:nvSpPr>
          <p:cNvPr id="13" name="Text 11"/>
          <p:cNvSpPr/>
          <p:nvPr/>
        </p:nvSpPr>
        <p:spPr>
          <a:xfrm>
            <a:off x="2122844" y="5554464"/>
            <a:ext cx="7943066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400"/>
              </a:lnSpc>
              <a:spcBef>
                <a:spcPts val="533"/>
              </a:spcBef>
              <a:buNone/>
            </a:pPr>
            <a:r>
              <a:rPr lang="en-US" sz="1600" i="1" dirty="0">
                <a:solidFill>
                  <a:srgbClr val="6B5D46"/>
                </a:solidFill>
                <a:latin typeface="EBGaramond" pitchFamily="34" charset="0"/>
                <a:ea typeface="EBGaramond" pitchFamily="34" charset="-122"/>
                <a:cs typeface="EBGaramond" pitchFamily="34" charset="-120"/>
              </a:rPr>
              <a:t>The signature belongs to whoever watched them measured.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847672" y="6096198"/>
            <a:ext cx="10291808" cy="2538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ts val="2000"/>
              </a:lnSpc>
              <a:buNone/>
            </a:pPr>
            <a:r>
              <a:rPr lang="en-US" sz="1333" i="1" dirty="0">
                <a:solidFill>
                  <a:srgbClr val="6B5D46"/>
                </a:solidFill>
                <a:latin typeface="EBGaramond" pitchFamily="34" charset="0"/>
                <a:ea typeface="EBGaramond" pitchFamily="34" charset="-122"/>
                <a:cs typeface="EBGaramond" pitchFamily="34" charset="-120"/>
              </a:rPr>
              <a:t>No RPO or RTO figures are asserted in this deck — those numbers are yours to set and to measure.</a:t>
            </a:r>
            <a:endParaRPr lang="en-US" sz="1333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2026-08-27T18:52:25Z</dcterms:created>
  <dcterms:modified xsi:type="dcterms:W3CDTF">2026-08-27T18:52:25Z</dcterms:modified>
</cp:coreProperties>
</file>