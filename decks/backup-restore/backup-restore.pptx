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96086" y="703659"/>
            <a:ext cx="4396581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RESTORE DRILL · A POSITION PAPER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5806615" y="1186259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848245" y="1571427"/>
            <a:ext cx="8492462" cy="1937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626"/>
              </a:lnSpc>
              <a:buNone/>
            </a:pPr>
            <a:r>
              <a:rPr lang="en-US" sz="58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A backup you have never</a:t>
            </a:r>
            <a:endParaRPr lang="en-US" sz="5866" dirty="0"/>
          </a:p>
          <a:p>
            <a:pPr algn="ctr" indent="0" marL="0">
              <a:lnSpc>
                <a:spcPts val="7626"/>
              </a:lnSpc>
              <a:buNone/>
            </a:pPr>
            <a:r>
              <a:rPr lang="en-US" sz="58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restored is not a backup.</a:t>
            </a:r>
            <a:endParaRPr lang="en-US" sz="5866" dirty="0"/>
          </a:p>
        </p:txBody>
      </p:sp>
      <p:sp>
        <p:nvSpPr>
          <p:cNvPr id="5" name="Text 3"/>
          <p:cNvSpPr/>
          <p:nvPr/>
        </p:nvSpPr>
        <p:spPr>
          <a:xfrm>
            <a:off x="4401632" y="3881041"/>
            <a:ext cx="3385688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122844" y="4198541"/>
            <a:ext cx="7943066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000" i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RPO and RTO written into a document are a claim. A restore drill is the only evidence — and the gap between them is where recovery plans die.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953190" y="5417741"/>
            <a:ext cx="2282572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spcBef>
                <a:spcPts val="3200"/>
              </a:spcBef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PRESENTER · TEAM</a:t>
            </a:r>
            <a:endParaRPr lang="en-US" sz="1466" dirty="0"/>
          </a:p>
        </p:txBody>
      </p:sp>
      <p:sp>
        <p:nvSpPr>
          <p:cNvPr id="8" name="Text 6"/>
          <p:cNvSpPr/>
          <p:nvPr/>
        </p:nvSpPr>
        <p:spPr>
          <a:xfrm>
            <a:off x="847672" y="6096198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 RPO or RTO figures are asserted in this deck — those numbers are yours to set and to measure.</a:t>
            </a:r>
            <a:endParaRPr lang="en-US" sz="13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72" y="541734"/>
            <a:ext cx="102918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SILENT FAILURES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48572" y="956469"/>
            <a:ext cx="10291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79"/>
              </a:lnSpc>
              <a:spcBef>
                <a:spcPts val="1067"/>
              </a:spcBef>
              <a:buNone/>
            </a:pPr>
            <a:r>
              <a:rPr lang="en-US" sz="34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What a backup fails at, silently</a:t>
            </a:r>
            <a:endParaRPr lang="en-US" sz="3466" dirty="0"/>
          </a:p>
        </p:txBody>
      </p:sp>
      <p:sp>
        <p:nvSpPr>
          <p:cNvPr id="4" name="Text 2"/>
          <p:cNvSpPr/>
          <p:nvPr/>
        </p:nvSpPr>
        <p:spPr>
          <a:xfrm>
            <a:off x="5806615" y="1753989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9472" y="2105223"/>
            <a:ext cx="10090008" cy="308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Media nobody has read back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job succeeded. The bytes never did.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schema left out of the dump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Rows come back. The database does not.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dependency that is down too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restore needs what the outage took.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Credentials nobody on shift has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path exists. Nobody can walk it.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88128" y="2105223"/>
            <a:ext cx="0" cy="1540867"/>
          </a:xfrm>
          <a:prstGeom prst="line">
            <a:avLst/>
          </a:prstGeom>
          <a:noFill/>
          <a:ln w="12698">
            <a:solidFill>
              <a:srgbClr val="A8893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49472" y="3639741"/>
            <a:ext cx="5045004" cy="0"/>
          </a:xfrm>
          <a:prstGeom prst="line">
            <a:avLst/>
          </a:prstGeom>
          <a:noFill/>
          <a:ln w="12698">
            <a:solidFill>
              <a:srgbClr val="A889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2788" y="2435027"/>
            <a:ext cx="3545676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Media nobody has read back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726617" y="2935883"/>
            <a:ext cx="3678016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job succeeded. The bytes never did.</a:t>
            </a:r>
            <a:endParaRPr lang="en-US" sz="1866" dirty="0"/>
          </a:p>
        </p:txBody>
      </p:sp>
      <p:sp>
        <p:nvSpPr>
          <p:cNvPr id="10" name="Shape 8"/>
          <p:cNvSpPr/>
          <p:nvPr/>
        </p:nvSpPr>
        <p:spPr>
          <a:xfrm>
            <a:off x="11133132" y="2105223"/>
            <a:ext cx="0" cy="1540867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4476" y="3639741"/>
            <a:ext cx="5045004" cy="0"/>
          </a:xfrm>
          <a:prstGeom prst="line">
            <a:avLst/>
          </a:prstGeom>
          <a:noFill/>
          <a:ln w="12698">
            <a:solidFill>
              <a:srgbClr val="A889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38638" y="2435027"/>
            <a:ext cx="3743984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A schema left out of the dump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6726294" y="2935883"/>
            <a:ext cx="3768672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Rows come back. The database does not.</a:t>
            </a:r>
            <a:endParaRPr lang="en-US" sz="1866" dirty="0"/>
          </a:p>
        </p:txBody>
      </p:sp>
      <p:sp>
        <p:nvSpPr>
          <p:cNvPr id="14" name="Shape 12"/>
          <p:cNvSpPr/>
          <p:nvPr/>
        </p:nvSpPr>
        <p:spPr>
          <a:xfrm>
            <a:off x="6088128" y="3646091"/>
            <a:ext cx="0" cy="1540867"/>
          </a:xfrm>
          <a:prstGeom prst="line">
            <a:avLst/>
          </a:prstGeom>
          <a:noFill/>
          <a:ln w="12698">
            <a:solidFill>
              <a:srgbClr val="A889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9472" y="5180608"/>
            <a:ext cx="504500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1830" y="3975894"/>
            <a:ext cx="3847590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A dependency that is down too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1733093" y="4476750"/>
            <a:ext cx="3665066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restore needs what the outage took.</a:t>
            </a:r>
            <a:endParaRPr lang="en-US" sz="1866" dirty="0"/>
          </a:p>
        </p:txBody>
      </p:sp>
      <p:sp>
        <p:nvSpPr>
          <p:cNvPr id="18" name="Shape 16"/>
          <p:cNvSpPr/>
          <p:nvPr/>
        </p:nvSpPr>
        <p:spPr>
          <a:xfrm>
            <a:off x="11133132" y="3646091"/>
            <a:ext cx="0" cy="1540867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4476" y="5180608"/>
            <a:ext cx="5045004" cy="0"/>
          </a:xfrm>
          <a:prstGeom prst="line">
            <a:avLst/>
          </a:prstGeom>
          <a:noFill/>
          <a:ln w="12698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4189" y="3975894"/>
            <a:ext cx="3992882" cy="365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80"/>
              </a:lnSpc>
              <a:buNone/>
            </a:pPr>
            <a:r>
              <a:rPr lang="en-US" sz="21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Credentials nobody on shift has</a:t>
            </a:r>
            <a:endParaRPr lang="en-US" sz="2133" dirty="0"/>
          </a:p>
        </p:txBody>
      </p:sp>
      <p:sp>
        <p:nvSpPr>
          <p:cNvPr id="21" name="Text 19"/>
          <p:cNvSpPr/>
          <p:nvPr/>
        </p:nvSpPr>
        <p:spPr>
          <a:xfrm>
            <a:off x="6914080" y="4476750"/>
            <a:ext cx="3393100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067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path exists. Nobody can walk it.</a:t>
            </a:r>
            <a:endParaRPr lang="en-US" sz="1866" dirty="0"/>
          </a:p>
        </p:txBody>
      </p:sp>
      <p:sp>
        <p:nvSpPr>
          <p:cNvPr id="22" name="Text 20"/>
          <p:cNvSpPr/>
          <p:nvPr/>
        </p:nvSpPr>
        <p:spPr>
          <a:xfrm>
            <a:off x="948572" y="5491758"/>
            <a:ext cx="1029180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2400"/>
              </a:spcBef>
              <a:buNone/>
            </a:pPr>
            <a:r>
              <a:rPr lang="en-US" sz="1866" i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None of these announce themselves. All of them wait.</a:t>
            </a:r>
            <a:endParaRPr lang="en-US" sz="1866" dirty="0"/>
          </a:p>
        </p:txBody>
      </p:sp>
      <p:sp>
        <p:nvSpPr>
          <p:cNvPr id="23" name="Text 21"/>
          <p:cNvSpPr/>
          <p:nvPr/>
        </p:nvSpPr>
        <p:spPr>
          <a:xfrm>
            <a:off x="847672" y="6096198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 RPO or RTO figures are asserted in this deck — those numbers are yours to set and to measure.</a:t>
            </a:r>
            <a:endParaRPr lang="en-US" sz="133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72" y="541734"/>
            <a:ext cx="102918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SHAPE OF THE DATA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48572" y="956469"/>
            <a:ext cx="10291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79"/>
              </a:lnSpc>
              <a:spcBef>
                <a:spcPts val="1067"/>
              </a:spcBef>
              <a:buNone/>
            </a:pPr>
            <a:r>
              <a:rPr lang="en-US" sz="34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A drill proves nothing against a toy dataset</a:t>
            </a:r>
            <a:endParaRPr lang="en-US" sz="3466" dirty="0"/>
          </a:p>
        </p:txBody>
      </p:sp>
      <p:sp>
        <p:nvSpPr>
          <p:cNvPr id="4" name="Text 2"/>
          <p:cNvSpPr/>
          <p:nvPr/>
        </p:nvSpPr>
        <p:spPr>
          <a:xfrm>
            <a:off x="5806615" y="1753989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04164" y="2443361"/>
            <a:ext cx="462139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SAMPLE RESTORE</a:t>
            </a:r>
            <a:endParaRPr lang="en-US" sz="1466" dirty="0"/>
          </a:p>
        </p:txBody>
      </p:sp>
      <p:sp>
        <p:nvSpPr>
          <p:cNvPr id="6" name="Text 4"/>
          <p:cNvSpPr/>
          <p:nvPr/>
        </p:nvSpPr>
        <p:spPr>
          <a:xfrm>
            <a:off x="3027002" y="2892028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04164" y="3141662"/>
            <a:ext cx="462139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It proves the command exists.</a:t>
            </a:r>
            <a:endParaRPr lang="en-US" sz="1866" dirty="0"/>
          </a:p>
        </p:txBody>
      </p:sp>
      <p:sp>
        <p:nvSpPr>
          <p:cNvPr id="8" name="Text 6"/>
          <p:cNvSpPr/>
          <p:nvPr/>
        </p:nvSpPr>
        <p:spPr>
          <a:xfrm>
            <a:off x="1004164" y="3712369"/>
            <a:ext cx="462139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600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It proves someone on the team can type it.</a:t>
            </a:r>
            <a:endParaRPr lang="en-US" sz="1866" dirty="0"/>
          </a:p>
        </p:txBody>
      </p:sp>
      <p:sp>
        <p:nvSpPr>
          <p:cNvPr id="9" name="Text 7"/>
          <p:cNvSpPr/>
          <p:nvPr/>
        </p:nvSpPr>
        <p:spPr>
          <a:xfrm>
            <a:off x="6088128" y="2443361"/>
            <a:ext cx="12697" cy="2371527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563390" y="2443361"/>
            <a:ext cx="462139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PRODUCTION-SHAPED RESTORE</a:t>
            </a:r>
            <a:endParaRPr lang="en-US" sz="1466" dirty="0"/>
          </a:p>
        </p:txBody>
      </p:sp>
      <p:sp>
        <p:nvSpPr>
          <p:cNvPr id="11" name="Text 9"/>
          <p:cNvSpPr/>
          <p:nvPr/>
        </p:nvSpPr>
        <p:spPr>
          <a:xfrm>
            <a:off x="8586228" y="2892028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563390" y="3141662"/>
            <a:ext cx="4621398" cy="73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It proves the volume moves in the time you promised.</a:t>
            </a:r>
            <a:endParaRPr lang="en-US" sz="1866" dirty="0"/>
          </a:p>
        </p:txBody>
      </p:sp>
      <p:sp>
        <p:nvSpPr>
          <p:cNvPr id="13" name="Text 11"/>
          <p:cNvSpPr/>
          <p:nvPr/>
        </p:nvSpPr>
        <p:spPr>
          <a:xfrm>
            <a:off x="6563390" y="4079875"/>
            <a:ext cx="4621398" cy="7350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1600"/>
              </a:spcBef>
              <a:buNone/>
            </a:pPr>
            <a:r>
              <a:rPr lang="en-US" sz="1866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It proves the schema, the permissions and the dependencies come back with it.</a:t>
            </a:r>
            <a:endParaRPr lang="en-US" sz="1866" dirty="0"/>
          </a:p>
        </p:txBody>
      </p:sp>
      <p:sp>
        <p:nvSpPr>
          <p:cNvPr id="14" name="Text 12"/>
          <p:cNvSpPr/>
          <p:nvPr/>
        </p:nvSpPr>
        <p:spPr>
          <a:xfrm>
            <a:off x="948572" y="5491758"/>
            <a:ext cx="1029180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2400"/>
              </a:spcBef>
              <a:buNone/>
            </a:pPr>
            <a:r>
              <a:rPr lang="en-US" sz="1866" i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Everything that breaks at real size is invisible at sample size.</a:t>
            </a:r>
            <a:endParaRPr lang="en-US" sz="1866" dirty="0"/>
          </a:p>
        </p:txBody>
      </p:sp>
      <p:sp>
        <p:nvSpPr>
          <p:cNvPr id="15" name="Text 13"/>
          <p:cNvSpPr/>
          <p:nvPr/>
        </p:nvSpPr>
        <p:spPr>
          <a:xfrm>
            <a:off x="847672" y="6096198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 RPO or RTO figures are asserted in this deck — those numbers are yours to set and to measure.</a:t>
            </a:r>
            <a:endParaRPr lang="en-US" sz="1333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72" y="541734"/>
            <a:ext cx="102918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WHAT THE DRILL PRODUCES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48572" y="956469"/>
            <a:ext cx="10291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79"/>
              </a:lnSpc>
              <a:spcBef>
                <a:spcPts val="1067"/>
              </a:spcBef>
              <a:buNone/>
            </a:pPr>
            <a:r>
              <a:rPr lang="en-US" sz="34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The drill’s product is a corrected runbook</a:t>
            </a:r>
            <a:endParaRPr lang="en-US" sz="3466" dirty="0"/>
          </a:p>
        </p:txBody>
      </p:sp>
      <p:sp>
        <p:nvSpPr>
          <p:cNvPr id="4" name="Text 2"/>
          <p:cNvSpPr/>
          <p:nvPr/>
        </p:nvSpPr>
        <p:spPr>
          <a:xfrm>
            <a:off x="5806615" y="1753989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9472" y="2105223"/>
            <a:ext cx="10090008" cy="30817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DECLARE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restore you claim you can do.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RUN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Timed, by the shift that would really do it.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III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RECORD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What the runbook said, and what happened.</a:t>
            </a:r>
            <a:endParaRPr lang="en-US" sz="1600" dirty="0"/>
          </a:p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IV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CORRECT</a:t>
            </a:r>
            <a:pPr algn="l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l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Edit the runbook before the drill is closed.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49274" y="2545358"/>
            <a:ext cx="2268764" cy="2201267"/>
          </a:xfrm>
          <a:prstGeom prst="rect">
            <a:avLst/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997369" y="2836664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151080" y="2880717"/>
            <a:ext cx="64754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35512" y="3378398"/>
            <a:ext cx="1296088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3"/>
              </a:lnSpc>
              <a:spcBef>
                <a:spcPts val="1333"/>
              </a:spcBef>
              <a:buNone/>
            </a:pPr>
            <a:r>
              <a:rPr lang="en-US" sz="1866" b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DECLARE</a:t>
            </a:r>
            <a:endParaRPr lang="en-US" sz="1866" dirty="0"/>
          </a:p>
        </p:txBody>
      </p:sp>
      <p:sp>
        <p:nvSpPr>
          <p:cNvPr id="10" name="Text 8"/>
          <p:cNvSpPr/>
          <p:nvPr/>
        </p:nvSpPr>
        <p:spPr>
          <a:xfrm>
            <a:off x="1229346" y="3845719"/>
            <a:ext cx="190861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067"/>
              </a:spcBef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restore you claim you can do.</a:t>
            </a:r>
            <a:endParaRPr lang="en-US" sz="16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318037" y="3578423"/>
            <a:ext cx="338450" cy="13533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656487" y="2545358"/>
            <a:ext cx="2268764" cy="2201267"/>
          </a:xfrm>
          <a:prstGeom prst="rect">
            <a:avLst/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4604583" y="2836664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4725917" y="2880717"/>
            <a:ext cx="12950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II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476006" y="3378398"/>
            <a:ext cx="629528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3"/>
              </a:lnSpc>
              <a:spcBef>
                <a:spcPts val="1333"/>
              </a:spcBef>
              <a:buNone/>
            </a:pPr>
            <a:r>
              <a:rPr lang="en-US" sz="1866" b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RUN</a:t>
            </a:r>
            <a:endParaRPr lang="en-US" sz="1866" dirty="0"/>
          </a:p>
        </p:txBody>
      </p:sp>
      <p:sp>
        <p:nvSpPr>
          <p:cNvPr id="16" name="Text 13"/>
          <p:cNvSpPr/>
          <p:nvPr/>
        </p:nvSpPr>
        <p:spPr>
          <a:xfrm>
            <a:off x="3836560" y="3845719"/>
            <a:ext cx="190861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067"/>
              </a:spcBef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Timed, by the shift that would really do it.</a:t>
            </a:r>
            <a:endParaRPr lang="en-US" sz="16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25251" y="3578423"/>
            <a:ext cx="338450" cy="13533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263701" y="2545358"/>
            <a:ext cx="2268764" cy="2201267"/>
          </a:xfrm>
          <a:prstGeom prst="rect">
            <a:avLst/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5"/>
          <p:cNvSpPr/>
          <p:nvPr/>
        </p:nvSpPr>
        <p:spPr>
          <a:xfrm>
            <a:off x="7211797" y="2836664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300754" y="2880717"/>
            <a:ext cx="194261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III</a:t>
            </a:r>
            <a:endParaRPr lang="en-US" sz="1600" dirty="0"/>
          </a:p>
        </p:txBody>
      </p:sp>
      <p:sp>
        <p:nvSpPr>
          <p:cNvPr id="21" name="Text 17"/>
          <p:cNvSpPr/>
          <p:nvPr/>
        </p:nvSpPr>
        <p:spPr>
          <a:xfrm>
            <a:off x="6807409" y="3378398"/>
            <a:ext cx="1181150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3"/>
              </a:lnSpc>
              <a:spcBef>
                <a:spcPts val="1333"/>
              </a:spcBef>
              <a:buNone/>
            </a:pPr>
            <a:r>
              <a:rPr lang="en-US" sz="1866" b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RECORD</a:t>
            </a:r>
            <a:endParaRPr lang="en-US" sz="1866" dirty="0"/>
          </a:p>
        </p:txBody>
      </p:sp>
      <p:sp>
        <p:nvSpPr>
          <p:cNvPr id="22" name="Text 18"/>
          <p:cNvSpPr/>
          <p:nvPr/>
        </p:nvSpPr>
        <p:spPr>
          <a:xfrm>
            <a:off x="6443774" y="3845719"/>
            <a:ext cx="190861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067"/>
              </a:spcBef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What the runbook said, and what happened.</a:t>
            </a:r>
            <a:endParaRPr lang="en-US" sz="16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32465" y="3578423"/>
            <a:ext cx="338450" cy="1353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870915" y="2545358"/>
            <a:ext cx="2268764" cy="2201267"/>
          </a:xfrm>
          <a:prstGeom prst="rect">
            <a:avLst/>
          </a:prstGeom>
          <a:solidFill>
            <a:srgbClr val="F4EFE3"/>
          </a:solidFill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0"/>
          <p:cNvSpPr/>
          <p:nvPr/>
        </p:nvSpPr>
        <p:spPr>
          <a:xfrm>
            <a:off x="9819010" y="2836664"/>
            <a:ext cx="372374" cy="372467"/>
          </a:xfrm>
          <a:prstGeom prst="roundRect">
            <a:avLst>
              <a:gd name="adj" fmla="val 327372"/>
            </a:avLst>
          </a:prstGeom>
          <a:noFill/>
          <a:ln w="12698">
            <a:solidFill>
              <a:srgbClr val="A8893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9907967" y="2880717"/>
            <a:ext cx="194261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IV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9324776" y="3378398"/>
            <a:ext cx="1360842" cy="331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613"/>
              </a:lnSpc>
              <a:spcBef>
                <a:spcPts val="1333"/>
              </a:spcBef>
              <a:buNone/>
            </a:pPr>
            <a:r>
              <a:rPr lang="en-US" sz="1866" b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CORRECT</a:t>
            </a:r>
            <a:endParaRPr lang="en-US" sz="1866" dirty="0"/>
          </a:p>
        </p:txBody>
      </p:sp>
      <p:sp>
        <p:nvSpPr>
          <p:cNvPr id="28" name="Text 23"/>
          <p:cNvSpPr/>
          <p:nvPr/>
        </p:nvSpPr>
        <p:spPr>
          <a:xfrm>
            <a:off x="9050987" y="3845719"/>
            <a:ext cx="190861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1067"/>
              </a:spcBef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Edit the runbook before the drill is closed.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948572" y="5491758"/>
            <a:ext cx="10291808" cy="367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93"/>
              </a:lnSpc>
              <a:spcBef>
                <a:spcPts val="2400"/>
              </a:spcBef>
              <a:buNone/>
            </a:pPr>
            <a:r>
              <a:rPr lang="en-US" sz="1866" i="1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drill that ends in a pass has thrown away its only output.</a:t>
            </a:r>
            <a:endParaRPr lang="en-US" sz="1866" dirty="0"/>
          </a:p>
        </p:txBody>
      </p:sp>
      <p:sp>
        <p:nvSpPr>
          <p:cNvPr id="30" name="Text 25"/>
          <p:cNvSpPr/>
          <p:nvPr/>
        </p:nvSpPr>
        <p:spPr>
          <a:xfrm>
            <a:off x="847672" y="6096198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 RPO or RTO figures are asserted in this deck — those numbers are yours to set and to measure.</a:t>
            </a:r>
            <a:endParaRPr lang="en-US" sz="133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48572" y="541734"/>
            <a:ext cx="10291808" cy="27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66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DECISIONS</a:t>
            </a:r>
            <a:endParaRPr lang="en-US" sz="1466" dirty="0"/>
          </a:p>
        </p:txBody>
      </p:sp>
      <p:sp>
        <p:nvSpPr>
          <p:cNvPr id="3" name="Text 1"/>
          <p:cNvSpPr/>
          <p:nvPr/>
        </p:nvSpPr>
        <p:spPr>
          <a:xfrm>
            <a:off x="948572" y="922734"/>
            <a:ext cx="10291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79"/>
              </a:lnSpc>
              <a:spcBef>
                <a:spcPts val="800"/>
              </a:spcBef>
              <a:buNone/>
            </a:pPr>
            <a:r>
              <a:rPr lang="en-US" sz="3466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What we need to decide</a:t>
            </a:r>
            <a:endParaRPr lang="en-US" sz="3466" dirty="0"/>
          </a:p>
        </p:txBody>
      </p:sp>
      <p:sp>
        <p:nvSpPr>
          <p:cNvPr id="4" name="Text 2"/>
          <p:cNvSpPr/>
          <p:nvPr/>
        </p:nvSpPr>
        <p:spPr>
          <a:xfrm>
            <a:off x="5806615" y="1686322"/>
            <a:ext cx="575523" cy="12700"/>
          </a:xfrm>
          <a:prstGeom prst="rect">
            <a:avLst/>
          </a:prstGeom>
          <a:solidFill>
            <a:srgbClr val="A8893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049472" y="2003822"/>
            <a:ext cx="10090008" cy="3855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Does the drill go on the calendar?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date and an owner, or it stays an intention.</a:t>
            </a:r>
            <a:endParaRPr lang="en-US" sz="16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What stops while the drill runs?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Name the service that goes quiet, and who is told before it does.</a:t>
            </a:r>
            <a:endParaRPr lang="en-US" sz="1600" dirty="0"/>
          </a:p>
          <a:p>
            <a:pPr algn="ctr" marL="342900" indent="-342900">
              <a:buSzPct val="100000"/>
              <a:buChar char="•"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III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Who signs the numbers we publish?</a:t>
            </a:r>
            <a:pPr algn="ctr" indent="0" marL="0">
              <a:buNone/>
            </a:pPr>
            <a:r>
              <a:rPr lang="en-US" sz="1600" dirty="0">
                <a:solidFill>
                  <a:srgbClr val="3A2E1F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 </a:t>
            </a:r>
            <a:pPr algn="ctr" indent="0" marL="0">
              <a:buNone/>
            </a:pPr>
            <a:r>
              <a:rPr lang="en-US" sz="1600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signature belongs to whoever watched them measured.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48572" y="2003822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</a:t>
            </a:r>
            <a:endParaRPr lang="en-US" sz="1333" dirty="0"/>
          </a:p>
        </p:txBody>
      </p:sp>
      <p:sp>
        <p:nvSpPr>
          <p:cNvPr id="7" name="Text 5"/>
          <p:cNvSpPr/>
          <p:nvPr/>
        </p:nvSpPr>
        <p:spPr>
          <a:xfrm>
            <a:off x="948572" y="2325291"/>
            <a:ext cx="1029180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spcBef>
                <a:spcPts val="533"/>
              </a:spcBef>
              <a:buNone/>
            </a:pPr>
            <a:r>
              <a:rPr lang="en-US" sz="25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Does the drill go on the calendar?</a:t>
            </a:r>
            <a:endParaRPr lang="en-US" sz="2533" dirty="0"/>
          </a:p>
        </p:txBody>
      </p:sp>
      <p:sp>
        <p:nvSpPr>
          <p:cNvPr id="8" name="Text 6"/>
          <p:cNvSpPr/>
          <p:nvPr/>
        </p:nvSpPr>
        <p:spPr>
          <a:xfrm>
            <a:off x="2122844" y="2827139"/>
            <a:ext cx="79430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533"/>
              </a:spcBef>
              <a:buNone/>
            </a:pPr>
            <a:r>
              <a:rPr lang="en-US" sz="1600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A date and an owner, or it stays an intention.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48572" y="3367484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948572" y="3688953"/>
            <a:ext cx="1029180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spcBef>
                <a:spcPts val="533"/>
              </a:spcBef>
              <a:buNone/>
            </a:pPr>
            <a:r>
              <a:rPr lang="en-US" sz="25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What stops while the drill runs?</a:t>
            </a:r>
            <a:endParaRPr lang="en-US" sz="2533" dirty="0"/>
          </a:p>
        </p:txBody>
      </p:sp>
      <p:sp>
        <p:nvSpPr>
          <p:cNvPr id="11" name="Text 9"/>
          <p:cNvSpPr/>
          <p:nvPr/>
        </p:nvSpPr>
        <p:spPr>
          <a:xfrm>
            <a:off x="2122844" y="4190802"/>
            <a:ext cx="79430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533"/>
              </a:spcBef>
              <a:buNone/>
            </a:pPr>
            <a:r>
              <a:rPr lang="en-US" sz="1600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Name the service that goes quiet, and who is told before it does.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48572" y="4731147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333" b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III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948572" y="5052616"/>
            <a:ext cx="10291808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420"/>
              </a:lnSpc>
              <a:spcBef>
                <a:spcPts val="533"/>
              </a:spcBef>
              <a:buNone/>
            </a:pPr>
            <a:r>
              <a:rPr lang="en-US" sz="2533" dirty="0">
                <a:solidFill>
                  <a:srgbClr val="3A2E1F"/>
                </a:solidFill>
                <a:latin typeface="PlayfairDisplay" pitchFamily="34" charset="0"/>
                <a:ea typeface="PlayfairDisplay" pitchFamily="34" charset="-122"/>
                <a:cs typeface="PlayfairDisplay" pitchFamily="34" charset="-120"/>
              </a:rPr>
              <a:t>Who signs the numbers we publish?</a:t>
            </a:r>
            <a:endParaRPr lang="en-US" sz="2533" dirty="0"/>
          </a:p>
        </p:txBody>
      </p:sp>
      <p:sp>
        <p:nvSpPr>
          <p:cNvPr id="14" name="Text 12"/>
          <p:cNvSpPr/>
          <p:nvPr/>
        </p:nvSpPr>
        <p:spPr>
          <a:xfrm>
            <a:off x="2122844" y="5554464"/>
            <a:ext cx="794306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400"/>
              </a:lnSpc>
              <a:spcBef>
                <a:spcPts val="533"/>
              </a:spcBef>
              <a:buNone/>
            </a:pPr>
            <a:r>
              <a:rPr lang="en-US" sz="1600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The signature belongs to whoever watched them measured.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47672" y="6096198"/>
            <a:ext cx="10291808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000"/>
              </a:lnSpc>
              <a:buNone/>
            </a:pPr>
            <a:r>
              <a:rPr lang="en-US" sz="1333" i="1" dirty="0">
                <a:solidFill>
                  <a:srgbClr val="6B5D46"/>
                </a:solidFill>
                <a:latin typeface="EBGaramond" pitchFamily="34" charset="0"/>
                <a:ea typeface="EBGaramond" pitchFamily="34" charset="-122"/>
                <a:cs typeface="EBGaramond" pitchFamily="34" charset="-120"/>
              </a:rPr>
              <a:t>No RPO or RTO figures are asserted in this deck — those numbers are yours to set and to measure.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2026-08-27T16:17:35Z</dcterms:created>
  <dcterms:modified xsi:type="dcterms:W3CDTF">2026-08-27T16:17:35Z</dcterms:modified>
</cp:coreProperties>
</file>