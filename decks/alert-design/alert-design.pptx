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3-2.svg" ContentType="image/svg+xml"/>
  <Override PartName="/ppt/media/image-3-4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image" Target="../media/image-3-3.png"/><Relationship Id="rId4" Type="http://schemas.openxmlformats.org/officeDocument/2006/relationships/image" Target="../media/image-3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3174" y="508000"/>
            <a:ext cx="11120657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66"/>
              </a:lnSpc>
              <a:spcAft>
                <a:spcPts val="800"/>
              </a:spcAft>
              <a:buNone/>
            </a:pPr>
            <a:r>
              <a:rPr lang="en-US" sz="1333" b="1" dirty="0">
                <a:solidFill>
                  <a:srgbClr val="3D3D3D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RISK REVIEW · ON-CALL</a:t>
            </a:r>
            <a:endParaRPr lang="en-US" sz="1333" dirty="0"/>
          </a:p>
        </p:txBody>
      </p:sp>
      <p:sp>
        <p:nvSpPr>
          <p:cNvPr id="3" name="Text 1"/>
          <p:cNvSpPr/>
          <p:nvPr/>
        </p:nvSpPr>
        <p:spPr>
          <a:xfrm>
            <a:off x="643174" y="846534"/>
            <a:ext cx="10902605" cy="50800"/>
          </a:xfrm>
          <a:prstGeom prst="rect">
            <a:avLst/>
          </a:prstGeom>
          <a:solidFill>
            <a:srgbClr val="0A0A0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43174" y="1477169"/>
            <a:ext cx="11120657" cy="16252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6399"/>
              </a:lnSpc>
              <a:spcAft>
                <a:spcPts val="3466"/>
              </a:spcAft>
              <a:buNone/>
            </a:pPr>
            <a:r>
              <a:rPr lang="en-US" sz="5333" dirty="0">
                <a:solidFill>
                  <a:srgbClr val="0A0A0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Alert design:</a:t>
            </a:r>
            <a:endParaRPr lang="en-US" sz="5333" dirty="0"/>
          </a:p>
          <a:p>
            <a:pPr algn="l" indent="0" marL="0">
              <a:lnSpc>
                <a:spcPts val="6399"/>
              </a:lnSpc>
              <a:spcAft>
                <a:spcPts val="3466"/>
              </a:spcAft>
              <a:buNone/>
            </a:pPr>
            <a:r>
              <a:rPr lang="en-US" sz="5333" dirty="0">
                <a:solidFill>
                  <a:srgbClr val="0A0A0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what deserves a page</a:t>
            </a:r>
            <a:endParaRPr lang="en-US" sz="5333" dirty="0"/>
          </a:p>
        </p:txBody>
      </p:sp>
      <p:sp>
        <p:nvSpPr>
          <p:cNvPr id="5" name="Text 3"/>
          <p:cNvSpPr/>
          <p:nvPr/>
        </p:nvSpPr>
        <p:spPr>
          <a:xfrm>
            <a:off x="643174" y="3542506"/>
            <a:ext cx="10902605" cy="1308497"/>
          </a:xfrm>
          <a:prstGeom prst="rect">
            <a:avLst/>
          </a:prstGeom>
          <a:solidFill>
            <a:srgbClr val="0A0A0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913973" y="3779441"/>
            <a:ext cx="10568226" cy="8346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86"/>
              </a:lnSpc>
              <a:buNone/>
            </a:pPr>
            <a:r>
              <a:rPr lang="en-US" sz="2266" dirty="0">
                <a:solidFill>
                  <a:srgbClr val="FFFF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A page wakes a human. The bar is not whether the alert is true. The bar is whether it is worth someone's night.</a:t>
            </a:r>
            <a:endParaRPr lang="en-US" sz="2266" dirty="0"/>
          </a:p>
        </p:txBody>
      </p:sp>
      <p:sp>
        <p:nvSpPr>
          <p:cNvPr id="7" name="Text 5"/>
          <p:cNvSpPr/>
          <p:nvPr/>
        </p:nvSpPr>
        <p:spPr>
          <a:xfrm>
            <a:off x="643174" y="5769570"/>
            <a:ext cx="10902605" cy="25400"/>
          </a:xfrm>
          <a:prstGeom prst="rect">
            <a:avLst/>
          </a:prstGeom>
          <a:solidFill>
            <a:srgbClr val="0A0A0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43174" y="5794970"/>
            <a:ext cx="11120657" cy="419695"/>
          </a:xfrm>
          <a:prstGeom prst="rect">
            <a:avLst/>
          </a:prstGeom>
          <a:noFill/>
          <a:ln/>
        </p:spPr>
        <p:txBody>
          <a:bodyPr wrap="square" lIns="0" tIns="13545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3D3D3D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PRESENTER · TEAM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3174" y="508000"/>
            <a:ext cx="11120657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66"/>
              </a:lnSpc>
              <a:spcAft>
                <a:spcPts val="800"/>
              </a:spcAft>
              <a:buNone/>
            </a:pPr>
            <a:r>
              <a:rPr lang="en-US" sz="1333" b="1" dirty="0">
                <a:solidFill>
                  <a:srgbClr val="3D3D3D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02 · DESTINATIONS</a:t>
            </a:r>
            <a:endParaRPr lang="en-US" sz="1333" dirty="0"/>
          </a:p>
        </p:txBody>
      </p:sp>
      <p:sp>
        <p:nvSpPr>
          <p:cNvPr id="3" name="Text 1"/>
          <p:cNvSpPr/>
          <p:nvPr/>
        </p:nvSpPr>
        <p:spPr>
          <a:xfrm>
            <a:off x="643174" y="846534"/>
            <a:ext cx="11120657" cy="4875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840"/>
              </a:lnSpc>
              <a:spcAft>
                <a:spcPts val="1067"/>
              </a:spcAft>
              <a:buNone/>
            </a:pPr>
            <a:r>
              <a:rPr lang="en-US" sz="3200" b="1" dirty="0">
                <a:solidFill>
                  <a:srgbClr val="0A0A0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Three destinations, and only one wakes anyone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3174" y="1469430"/>
            <a:ext cx="11120657" cy="3319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13"/>
              </a:lnSpc>
              <a:spcAft>
                <a:spcPts val="1600"/>
              </a:spcAft>
              <a:buNone/>
            </a:pPr>
            <a:r>
              <a:rPr lang="en-US" sz="1866" dirty="0">
                <a:solidFill>
                  <a:srgbClr val="3D3D3D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Every alert lands in one of three places. Most of the pain is landing wrong.</a:t>
            </a:r>
            <a:endParaRPr lang="en-US" sz="1866" dirty="0"/>
          </a:p>
        </p:txBody>
      </p:sp>
      <p:sp>
        <p:nvSpPr>
          <p:cNvPr id="5" name="Text 3"/>
          <p:cNvSpPr/>
          <p:nvPr/>
        </p:nvSpPr>
        <p:spPr>
          <a:xfrm>
            <a:off x="643174" y="2004616"/>
            <a:ext cx="10902605" cy="50800"/>
          </a:xfrm>
          <a:prstGeom prst="rect">
            <a:avLst/>
          </a:prstGeom>
          <a:solidFill>
            <a:srgbClr val="0A0A0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84735" y="3155752"/>
            <a:ext cx="975759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866"/>
              </a:lnSpc>
              <a:buNone/>
            </a:pPr>
            <a:r>
              <a:rPr lang="en-US" sz="1333" b="1" dirty="0">
                <a:solidFill>
                  <a:srgbClr val="767676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PURPOSE</a:t>
            </a:r>
            <a:endParaRPr lang="en-US" sz="1333" dirty="0"/>
          </a:p>
        </p:txBody>
      </p:sp>
      <p:sp>
        <p:nvSpPr>
          <p:cNvPr id="7" name="Shape 5"/>
          <p:cNvSpPr/>
          <p:nvPr/>
        </p:nvSpPr>
        <p:spPr>
          <a:xfrm>
            <a:off x="643174" y="4325541"/>
            <a:ext cx="1117321" cy="0"/>
          </a:xfrm>
          <a:prstGeom prst="line">
            <a:avLst/>
          </a:prstGeom>
          <a:noFill/>
          <a:ln w="25397">
            <a:solidFill>
              <a:srgbClr val="0A0A0A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20827" y="4558308"/>
            <a:ext cx="1139667" cy="4738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866"/>
              </a:lnSpc>
              <a:buNone/>
            </a:pPr>
            <a:r>
              <a:rPr lang="en-US" sz="1333" b="1" dirty="0">
                <a:solidFill>
                  <a:srgbClr val="767676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FAILURE MODE</a:t>
            </a:r>
            <a:endParaRPr lang="en-US" sz="1333" dirty="0"/>
          </a:p>
        </p:txBody>
      </p:sp>
      <p:sp>
        <p:nvSpPr>
          <p:cNvPr id="9" name="Shape 7"/>
          <p:cNvSpPr/>
          <p:nvPr/>
        </p:nvSpPr>
        <p:spPr>
          <a:xfrm>
            <a:off x="2166793" y="2916634"/>
            <a:ext cx="2573488" cy="0"/>
          </a:xfrm>
          <a:prstGeom prst="line">
            <a:avLst/>
          </a:prstGeom>
          <a:noFill/>
          <a:ln w="38095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166793" y="2362200"/>
            <a:ext cx="1092518" cy="4655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666"/>
              </a:lnSpc>
              <a:buNone/>
            </a:pPr>
            <a:r>
              <a:rPr lang="en-US" sz="2933" b="1" dirty="0">
                <a:solidFill>
                  <a:srgbClr val="FFFF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PAGE</a:t>
            </a:r>
            <a:endParaRPr lang="en-US" sz="2933" dirty="0"/>
          </a:p>
        </p:txBody>
      </p:sp>
      <p:sp>
        <p:nvSpPr>
          <p:cNvPr id="11" name="Text 9"/>
          <p:cNvSpPr/>
          <p:nvPr/>
        </p:nvSpPr>
        <p:spPr>
          <a:xfrm>
            <a:off x="2166793" y="3104952"/>
            <a:ext cx="2624957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FFFF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Something is breaking now and only a person can stop it.</a:t>
            </a:r>
            <a:endParaRPr lang="en-US" sz="1866" dirty="0"/>
          </a:p>
        </p:txBody>
      </p:sp>
      <p:sp>
        <p:nvSpPr>
          <p:cNvPr id="12" name="Shape 10"/>
          <p:cNvSpPr/>
          <p:nvPr/>
        </p:nvSpPr>
        <p:spPr>
          <a:xfrm>
            <a:off x="2166793" y="4325541"/>
            <a:ext cx="2573488" cy="0"/>
          </a:xfrm>
          <a:prstGeom prst="line">
            <a:avLst/>
          </a:prstGeom>
          <a:noFill/>
          <a:ln w="25397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2166793" y="4507508"/>
            <a:ext cx="2624957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FFFF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A page that could have waited teaches people to wait.</a:t>
            </a:r>
            <a:endParaRPr lang="en-US" sz="1866" dirty="0"/>
          </a:p>
        </p:txBody>
      </p:sp>
      <p:sp>
        <p:nvSpPr>
          <p:cNvPr id="14" name="Text 12"/>
          <p:cNvSpPr/>
          <p:nvPr/>
        </p:nvSpPr>
        <p:spPr>
          <a:xfrm>
            <a:off x="5078730" y="2292350"/>
            <a:ext cx="50787" cy="3423047"/>
          </a:xfrm>
          <a:prstGeom prst="rect">
            <a:avLst/>
          </a:prstGeom>
          <a:solidFill>
            <a:srgbClr val="0A0A0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5467967" y="2916634"/>
            <a:ext cx="2573488" cy="0"/>
          </a:xfrm>
          <a:prstGeom prst="line">
            <a:avLst/>
          </a:prstGeom>
          <a:noFill/>
          <a:ln w="38095">
            <a:solidFill>
              <a:srgbClr val="0A0A0A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5467967" y="2362200"/>
            <a:ext cx="1418513" cy="4655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666"/>
              </a:lnSpc>
              <a:buNone/>
            </a:pPr>
            <a:r>
              <a:rPr lang="en-US" sz="2933" b="1" dirty="0">
                <a:solidFill>
                  <a:srgbClr val="0A0A0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TICKET</a:t>
            </a:r>
            <a:endParaRPr lang="en-US" sz="2933" dirty="0"/>
          </a:p>
        </p:txBody>
      </p:sp>
      <p:sp>
        <p:nvSpPr>
          <p:cNvPr id="17" name="Text 15"/>
          <p:cNvSpPr/>
          <p:nvPr/>
        </p:nvSpPr>
        <p:spPr>
          <a:xfrm>
            <a:off x="5467967" y="3104952"/>
            <a:ext cx="2624957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0A0A0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Real work that survives until the next working day.</a:t>
            </a:r>
            <a:endParaRPr lang="en-US" sz="1866" dirty="0"/>
          </a:p>
        </p:txBody>
      </p:sp>
      <p:sp>
        <p:nvSpPr>
          <p:cNvPr id="18" name="Shape 16"/>
          <p:cNvSpPr/>
          <p:nvPr/>
        </p:nvSpPr>
        <p:spPr>
          <a:xfrm>
            <a:off x="5467967" y="4325541"/>
            <a:ext cx="2573488" cy="0"/>
          </a:xfrm>
          <a:prstGeom prst="line">
            <a:avLst/>
          </a:prstGeom>
          <a:noFill/>
          <a:ln w="25397">
            <a:solidFill>
              <a:srgbClr val="0A0A0A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5467967" y="4507508"/>
            <a:ext cx="2624957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0A0A0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Something urgent filed here is read after the outage.</a:t>
            </a:r>
            <a:endParaRPr lang="en-US" sz="1866" dirty="0"/>
          </a:p>
        </p:txBody>
      </p:sp>
      <p:sp>
        <p:nvSpPr>
          <p:cNvPr id="20" name="Text 18"/>
          <p:cNvSpPr/>
          <p:nvPr/>
        </p:nvSpPr>
        <p:spPr>
          <a:xfrm>
            <a:off x="8379905" y="2292350"/>
            <a:ext cx="50787" cy="3423047"/>
          </a:xfrm>
          <a:prstGeom prst="rect">
            <a:avLst/>
          </a:prstGeom>
          <a:solidFill>
            <a:srgbClr val="0A0A0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Shape 19"/>
          <p:cNvSpPr/>
          <p:nvPr/>
        </p:nvSpPr>
        <p:spPr>
          <a:xfrm>
            <a:off x="8769142" y="2916634"/>
            <a:ext cx="2573488" cy="0"/>
          </a:xfrm>
          <a:prstGeom prst="line">
            <a:avLst/>
          </a:prstGeom>
          <a:noFill/>
          <a:ln w="38095">
            <a:solidFill>
              <a:srgbClr val="0A0A0A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8769142" y="2362200"/>
            <a:ext cx="2529041" cy="4655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666"/>
              </a:lnSpc>
              <a:buNone/>
            </a:pPr>
            <a:r>
              <a:rPr lang="en-US" sz="2933" b="1" dirty="0">
                <a:solidFill>
                  <a:srgbClr val="0A0A0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DASHBOARD</a:t>
            </a:r>
            <a:endParaRPr lang="en-US" sz="2933" dirty="0"/>
          </a:p>
        </p:txBody>
      </p:sp>
      <p:sp>
        <p:nvSpPr>
          <p:cNvPr id="23" name="Text 21"/>
          <p:cNvSpPr/>
          <p:nvPr/>
        </p:nvSpPr>
        <p:spPr>
          <a:xfrm>
            <a:off x="8769142" y="3104952"/>
            <a:ext cx="2624957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0A0A0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Context you read when you are already investigating.</a:t>
            </a:r>
            <a:endParaRPr lang="en-US" sz="1866" dirty="0"/>
          </a:p>
        </p:txBody>
      </p:sp>
      <p:sp>
        <p:nvSpPr>
          <p:cNvPr id="24" name="Shape 22"/>
          <p:cNvSpPr/>
          <p:nvPr/>
        </p:nvSpPr>
        <p:spPr>
          <a:xfrm>
            <a:off x="8769142" y="4325541"/>
            <a:ext cx="2573488" cy="0"/>
          </a:xfrm>
          <a:prstGeom prst="line">
            <a:avLst/>
          </a:prstGeom>
          <a:noFill/>
          <a:ln w="25397">
            <a:solidFill>
              <a:srgbClr val="0A0A0A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8769142" y="4507508"/>
            <a:ext cx="2624957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0A0A0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A dashboard notifies nobody. At 3am it is a dark room.</a:t>
            </a:r>
            <a:endParaRPr lang="en-US" sz="1866" dirty="0"/>
          </a:p>
        </p:txBody>
      </p:sp>
      <p:sp>
        <p:nvSpPr>
          <p:cNvPr id="26" name="Text 24"/>
          <p:cNvSpPr/>
          <p:nvPr/>
        </p:nvSpPr>
        <p:spPr>
          <a:xfrm>
            <a:off x="643174" y="5884664"/>
            <a:ext cx="10902605" cy="25400"/>
          </a:xfrm>
          <a:prstGeom prst="rect">
            <a:avLst/>
          </a:prstGeom>
          <a:solidFill>
            <a:srgbClr val="0A0A0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643174" y="5910064"/>
            <a:ext cx="11120657" cy="304602"/>
          </a:xfrm>
          <a:prstGeom prst="rect">
            <a:avLst/>
          </a:prstGeom>
          <a:noFill/>
          <a:ln/>
        </p:spPr>
        <p:txBody>
          <a:bodyPr wrap="square" lIns="0" tIns="67725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767676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ALERT DESIGN · SHEET 02/05 · NO CHART, NO EXTERNAL DATA</a:t>
            </a:r>
            <a:endParaRPr lang="en-US" sz="1333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3174" y="508000"/>
            <a:ext cx="11120657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66"/>
              </a:lnSpc>
              <a:spcAft>
                <a:spcPts val="800"/>
              </a:spcAft>
              <a:buNone/>
            </a:pPr>
            <a:r>
              <a:rPr lang="en-US" sz="1333" b="1" dirty="0">
                <a:solidFill>
                  <a:srgbClr val="3D3D3D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03 · THE TEST</a:t>
            </a:r>
            <a:endParaRPr lang="en-US" sz="1333" dirty="0"/>
          </a:p>
        </p:txBody>
      </p:sp>
      <p:sp>
        <p:nvSpPr>
          <p:cNvPr id="3" name="Text 1"/>
          <p:cNvSpPr/>
          <p:nvPr/>
        </p:nvSpPr>
        <p:spPr>
          <a:xfrm>
            <a:off x="643174" y="846534"/>
            <a:ext cx="11120657" cy="4875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840"/>
              </a:lnSpc>
              <a:spcAft>
                <a:spcPts val="1067"/>
              </a:spcAft>
              <a:buNone/>
            </a:pPr>
            <a:r>
              <a:rPr lang="en-US" sz="3200" b="1" dirty="0">
                <a:solidFill>
                  <a:srgbClr val="0A0A0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The test an alert must pass to earn a page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3174" y="1469430"/>
            <a:ext cx="11120657" cy="3319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13"/>
              </a:lnSpc>
              <a:spcAft>
                <a:spcPts val="1600"/>
              </a:spcAft>
              <a:buNone/>
            </a:pPr>
            <a:r>
              <a:rPr lang="en-US" sz="1866" dirty="0">
                <a:solidFill>
                  <a:srgbClr val="3D3D3D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Three questions. A no to any one of them means this is not a page.</a:t>
            </a:r>
            <a:endParaRPr lang="en-US" sz="1866" dirty="0"/>
          </a:p>
        </p:txBody>
      </p:sp>
      <p:sp>
        <p:nvSpPr>
          <p:cNvPr id="5" name="Text 3"/>
          <p:cNvSpPr/>
          <p:nvPr/>
        </p:nvSpPr>
        <p:spPr>
          <a:xfrm>
            <a:off x="643174" y="2004616"/>
            <a:ext cx="10902605" cy="50800"/>
          </a:xfrm>
          <a:prstGeom prst="rect">
            <a:avLst/>
          </a:prstGeom>
          <a:solidFill>
            <a:srgbClr val="0A0A0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871716" y="2520950"/>
            <a:ext cx="372374" cy="372467"/>
          </a:xfrm>
          <a:prstGeom prst="rect">
            <a:avLst/>
          </a:prstGeom>
          <a:solidFill>
            <a:srgbClr val="0A0A0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39565" y="2565003"/>
            <a:ext cx="241410" cy="284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01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71716" y="3062684"/>
            <a:ext cx="3056582" cy="3520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73"/>
              </a:lnSpc>
              <a:spcBef>
                <a:spcPts val="1333"/>
              </a:spcBef>
              <a:buNone/>
            </a:pPr>
            <a:r>
              <a:rPr lang="en-US" sz="2133" b="1" dirty="0">
                <a:solidFill>
                  <a:srgbClr val="0A0A0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URGENT</a:t>
            </a:r>
            <a:endParaRPr lang="en-US" sz="2133" dirty="0"/>
          </a:p>
        </p:txBody>
      </p:sp>
      <p:sp>
        <p:nvSpPr>
          <p:cNvPr id="9" name="Text 7"/>
          <p:cNvSpPr/>
          <p:nvPr/>
        </p:nvSpPr>
        <p:spPr>
          <a:xfrm>
            <a:off x="871716" y="3550047"/>
            <a:ext cx="3056582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spcBef>
                <a:spcPts val="1067"/>
              </a:spcBef>
              <a:buNone/>
            </a:pPr>
            <a:r>
              <a:rPr lang="en-US" sz="1866" dirty="0">
                <a:solidFill>
                  <a:srgbClr val="0A0A0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Does waiting until morning make it worse?</a:t>
            </a:r>
            <a:endParaRPr lang="en-US" sz="1866" dirty="0"/>
          </a:p>
        </p:txBody>
      </p:sp>
      <p:sp>
        <p:nvSpPr>
          <p:cNvPr id="10" name="Text 8"/>
          <p:cNvSpPr/>
          <p:nvPr/>
        </p:nvSpPr>
        <p:spPr>
          <a:xfrm>
            <a:off x="668567" y="4242991"/>
            <a:ext cx="3402947" cy="507603"/>
          </a:xfrm>
          <a:prstGeom prst="rect">
            <a:avLst/>
          </a:prstGeom>
          <a:solidFill>
            <a:srgbClr val="E6E6E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871716" y="4378325"/>
            <a:ext cx="3056582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b="1" dirty="0">
                <a:solidFill>
                  <a:srgbClr val="3D3D3D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IF NO · SEND TO TICKET</a:t>
            </a:r>
            <a:endParaRPr lang="en-US" sz="1333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96908" y="3449439"/>
            <a:ext cx="270799" cy="169267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4596251" y="2520950"/>
            <a:ext cx="372374" cy="372467"/>
          </a:xfrm>
          <a:prstGeom prst="rect">
            <a:avLst/>
          </a:prstGeom>
          <a:solidFill>
            <a:srgbClr val="0A0A0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1"/>
          <p:cNvSpPr/>
          <p:nvPr/>
        </p:nvSpPr>
        <p:spPr>
          <a:xfrm>
            <a:off x="4664099" y="2565003"/>
            <a:ext cx="241410" cy="284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02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4596251" y="3062684"/>
            <a:ext cx="3056582" cy="3520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73"/>
              </a:lnSpc>
              <a:spcBef>
                <a:spcPts val="1333"/>
              </a:spcBef>
              <a:buNone/>
            </a:pPr>
            <a:r>
              <a:rPr lang="en-US" sz="2133" b="1" dirty="0">
                <a:solidFill>
                  <a:srgbClr val="0A0A0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ACTIONABLE</a:t>
            </a:r>
            <a:endParaRPr lang="en-US" sz="2133" dirty="0"/>
          </a:p>
        </p:txBody>
      </p:sp>
      <p:sp>
        <p:nvSpPr>
          <p:cNvPr id="16" name="Text 13"/>
          <p:cNvSpPr/>
          <p:nvPr/>
        </p:nvSpPr>
        <p:spPr>
          <a:xfrm>
            <a:off x="4596251" y="3550047"/>
            <a:ext cx="3056582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spcBef>
                <a:spcPts val="1067"/>
              </a:spcBef>
              <a:buNone/>
            </a:pPr>
            <a:r>
              <a:rPr lang="en-US" sz="1866" dirty="0">
                <a:solidFill>
                  <a:srgbClr val="0A0A0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Is there a step someone can take right now?</a:t>
            </a:r>
            <a:endParaRPr lang="en-US" sz="1866" dirty="0"/>
          </a:p>
        </p:txBody>
      </p:sp>
      <p:sp>
        <p:nvSpPr>
          <p:cNvPr id="17" name="Text 14"/>
          <p:cNvSpPr/>
          <p:nvPr/>
        </p:nvSpPr>
        <p:spPr>
          <a:xfrm>
            <a:off x="4393101" y="4242991"/>
            <a:ext cx="3402947" cy="507603"/>
          </a:xfrm>
          <a:prstGeom prst="rect">
            <a:avLst/>
          </a:prstGeom>
          <a:solidFill>
            <a:srgbClr val="E6E6E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5"/>
          <p:cNvSpPr/>
          <p:nvPr/>
        </p:nvSpPr>
        <p:spPr>
          <a:xfrm>
            <a:off x="4596251" y="4378325"/>
            <a:ext cx="3056582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b="1" dirty="0">
                <a:solidFill>
                  <a:srgbClr val="3D3D3D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IF NO · DELETE OR FIX</a:t>
            </a:r>
            <a:endParaRPr lang="en-US" sz="1333" dirty="0"/>
          </a:p>
        </p:txBody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821443" y="3449439"/>
            <a:ext cx="270799" cy="169267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8320785" y="2520950"/>
            <a:ext cx="372374" cy="372467"/>
          </a:xfrm>
          <a:prstGeom prst="rect">
            <a:avLst/>
          </a:prstGeom>
          <a:solidFill>
            <a:srgbClr val="0A0A0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7"/>
          <p:cNvSpPr/>
          <p:nvPr/>
        </p:nvSpPr>
        <p:spPr>
          <a:xfrm>
            <a:off x="8388634" y="2565003"/>
            <a:ext cx="241410" cy="284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03</a:t>
            </a:r>
            <a:endParaRPr lang="en-US" sz="1600" dirty="0"/>
          </a:p>
        </p:txBody>
      </p:sp>
      <p:sp>
        <p:nvSpPr>
          <p:cNvPr id="22" name="Text 18"/>
          <p:cNvSpPr/>
          <p:nvPr/>
        </p:nvSpPr>
        <p:spPr>
          <a:xfrm>
            <a:off x="8320785" y="3062684"/>
            <a:ext cx="3056582" cy="3520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73"/>
              </a:lnSpc>
              <a:spcBef>
                <a:spcPts val="1333"/>
              </a:spcBef>
              <a:buNone/>
            </a:pPr>
            <a:r>
              <a:rPr lang="en-US" sz="2133" b="1" dirty="0">
                <a:solidFill>
                  <a:srgbClr val="0A0A0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HUMAN ONLY</a:t>
            </a:r>
            <a:endParaRPr lang="en-US" sz="2133" dirty="0"/>
          </a:p>
        </p:txBody>
      </p:sp>
      <p:sp>
        <p:nvSpPr>
          <p:cNvPr id="23" name="Text 19"/>
          <p:cNvSpPr/>
          <p:nvPr/>
        </p:nvSpPr>
        <p:spPr>
          <a:xfrm>
            <a:off x="8320785" y="3550047"/>
            <a:ext cx="3056582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spcBef>
                <a:spcPts val="1067"/>
              </a:spcBef>
              <a:buNone/>
            </a:pPr>
            <a:r>
              <a:rPr lang="en-US" sz="1866" dirty="0">
                <a:solidFill>
                  <a:srgbClr val="0A0A0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Can only a person take that step?</a:t>
            </a:r>
            <a:endParaRPr lang="en-US" sz="1866" dirty="0"/>
          </a:p>
        </p:txBody>
      </p:sp>
      <p:sp>
        <p:nvSpPr>
          <p:cNvPr id="24" name="Text 20"/>
          <p:cNvSpPr/>
          <p:nvPr/>
        </p:nvSpPr>
        <p:spPr>
          <a:xfrm>
            <a:off x="8117636" y="4242991"/>
            <a:ext cx="3402947" cy="507603"/>
          </a:xfrm>
          <a:prstGeom prst="rect">
            <a:avLst/>
          </a:prstGeom>
          <a:solidFill>
            <a:srgbClr val="E6E6E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1"/>
          <p:cNvSpPr/>
          <p:nvPr/>
        </p:nvSpPr>
        <p:spPr>
          <a:xfrm>
            <a:off x="8320785" y="4378325"/>
            <a:ext cx="3056582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b="1" dirty="0">
                <a:solidFill>
                  <a:srgbClr val="3D3D3D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IF NO · AUTOMATE IT</a:t>
            </a:r>
            <a:endParaRPr lang="en-US" sz="1333" dirty="0"/>
          </a:p>
        </p:txBody>
      </p:sp>
      <p:sp>
        <p:nvSpPr>
          <p:cNvPr id="26" name="Text 22"/>
          <p:cNvSpPr/>
          <p:nvPr/>
        </p:nvSpPr>
        <p:spPr>
          <a:xfrm>
            <a:off x="643174" y="5012928"/>
            <a:ext cx="10902605" cy="702469"/>
          </a:xfrm>
          <a:prstGeom prst="rect">
            <a:avLst/>
          </a:prstGeom>
          <a:solidFill>
            <a:srgbClr val="0A0A0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3"/>
          <p:cNvSpPr/>
          <p:nvPr/>
        </p:nvSpPr>
        <p:spPr>
          <a:xfrm>
            <a:off x="913973" y="5199063"/>
            <a:ext cx="10568226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All three, or it is not a page. Two out of three is still someone's night.</a:t>
            </a:r>
            <a:endParaRPr lang="en-US" sz="2000" dirty="0"/>
          </a:p>
        </p:txBody>
      </p:sp>
      <p:sp>
        <p:nvSpPr>
          <p:cNvPr id="28" name="Text 24"/>
          <p:cNvSpPr/>
          <p:nvPr/>
        </p:nvSpPr>
        <p:spPr>
          <a:xfrm>
            <a:off x="643174" y="5884664"/>
            <a:ext cx="10902605" cy="25400"/>
          </a:xfrm>
          <a:prstGeom prst="rect">
            <a:avLst/>
          </a:prstGeom>
          <a:solidFill>
            <a:srgbClr val="0A0A0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5"/>
          <p:cNvSpPr/>
          <p:nvPr/>
        </p:nvSpPr>
        <p:spPr>
          <a:xfrm>
            <a:off x="643174" y="5910064"/>
            <a:ext cx="11120657" cy="304602"/>
          </a:xfrm>
          <a:prstGeom prst="rect">
            <a:avLst/>
          </a:prstGeom>
          <a:noFill/>
          <a:ln/>
        </p:spPr>
        <p:txBody>
          <a:bodyPr wrap="square" lIns="0" tIns="67725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767676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ALERT DESIGN · SHEET 03/05 · NO CHART, NO EXTERNAL DATA</a:t>
            </a:r>
            <a:endParaRPr lang="en-US" sz="1333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3174" y="508000"/>
            <a:ext cx="11120657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66"/>
              </a:lnSpc>
              <a:spcAft>
                <a:spcPts val="800"/>
              </a:spcAft>
              <a:buNone/>
            </a:pPr>
            <a:r>
              <a:rPr lang="en-US" sz="1333" b="1" dirty="0">
                <a:solidFill>
                  <a:srgbClr val="3D3D3D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04 · DISPOSITION</a:t>
            </a:r>
            <a:endParaRPr lang="en-US" sz="1333" dirty="0"/>
          </a:p>
        </p:txBody>
      </p:sp>
      <p:sp>
        <p:nvSpPr>
          <p:cNvPr id="3" name="Text 1"/>
          <p:cNvSpPr/>
          <p:nvPr/>
        </p:nvSpPr>
        <p:spPr>
          <a:xfrm>
            <a:off x="643174" y="846534"/>
            <a:ext cx="11120657" cy="4875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840"/>
              </a:lnSpc>
              <a:spcAft>
                <a:spcPts val="1067"/>
              </a:spcAft>
              <a:buNone/>
            </a:pPr>
            <a:r>
              <a:rPr lang="en-US" sz="3200" b="1" dirty="0">
                <a:solidFill>
                  <a:srgbClr val="0A0A0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What to do with the alerts that fail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3174" y="1469430"/>
            <a:ext cx="11120657" cy="3319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13"/>
              </a:lnSpc>
              <a:spcAft>
                <a:spcPts val="1600"/>
              </a:spcAft>
              <a:buNone/>
            </a:pPr>
            <a:r>
              <a:rPr lang="en-US" sz="1866" dirty="0">
                <a:solidFill>
                  <a:srgbClr val="3D3D3D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A failing alert is not left alone. It is deleted, downgraded, or fixed.</a:t>
            </a:r>
            <a:endParaRPr lang="en-US" sz="1866" dirty="0"/>
          </a:p>
        </p:txBody>
      </p:sp>
      <p:sp>
        <p:nvSpPr>
          <p:cNvPr id="5" name="Text 3"/>
          <p:cNvSpPr/>
          <p:nvPr/>
        </p:nvSpPr>
        <p:spPr>
          <a:xfrm>
            <a:off x="643174" y="2004616"/>
            <a:ext cx="10902605" cy="50800"/>
          </a:xfrm>
          <a:prstGeom prst="rect">
            <a:avLst/>
          </a:prstGeom>
          <a:solidFill>
            <a:srgbClr val="0A0A0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43174" y="2292350"/>
            <a:ext cx="10902605" cy="3423047"/>
          </a:xfrm>
          <a:prstGeom prst="rect">
            <a:avLst/>
          </a:prstGeom>
          <a:noFill/>
          <a:ln w="25397">
            <a:solidFill>
              <a:srgbClr val="0A0A0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3703108" y="2317750"/>
            <a:ext cx="0" cy="1107083"/>
          </a:xfrm>
          <a:prstGeom prst="line">
            <a:avLst/>
          </a:prstGeom>
          <a:noFill/>
          <a:ln w="25397">
            <a:solidFill>
              <a:srgbClr val="0A0A0A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905442" y="2685058"/>
            <a:ext cx="372374" cy="372467"/>
          </a:xfrm>
          <a:prstGeom prst="rect">
            <a:avLst/>
          </a:prstGeom>
          <a:solidFill>
            <a:srgbClr val="0A0A0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015349" y="2729111"/>
            <a:ext cx="155409" cy="284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A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480966" y="2684066"/>
            <a:ext cx="1188030" cy="3742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946"/>
              </a:lnSpc>
              <a:buNone/>
            </a:pPr>
            <a:r>
              <a:rPr lang="en-US" sz="2266" b="1" dirty="0">
                <a:solidFill>
                  <a:srgbClr val="0A0A0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DELETE</a:t>
            </a:r>
            <a:endParaRPr lang="en-US" sz="2266" dirty="0"/>
          </a:p>
        </p:txBody>
      </p:sp>
      <p:sp>
        <p:nvSpPr>
          <p:cNvPr id="11" name="Text 9"/>
          <p:cNvSpPr/>
          <p:nvPr/>
        </p:nvSpPr>
        <p:spPr>
          <a:xfrm>
            <a:off x="3952680" y="2527498"/>
            <a:ext cx="7477446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0A0A0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It has never once changed what anyone did. Deleting it removes noise and nothing else; the check that produced it can stay.</a:t>
            </a:r>
            <a:endParaRPr lang="en-US" sz="1866" dirty="0"/>
          </a:p>
        </p:txBody>
      </p:sp>
      <p:sp>
        <p:nvSpPr>
          <p:cNvPr id="12" name="Shape 10"/>
          <p:cNvSpPr/>
          <p:nvPr/>
        </p:nvSpPr>
        <p:spPr>
          <a:xfrm>
            <a:off x="668567" y="3437533"/>
            <a:ext cx="10851818" cy="0"/>
          </a:xfrm>
          <a:prstGeom prst="line">
            <a:avLst/>
          </a:prstGeom>
          <a:noFill/>
          <a:ln w="25397">
            <a:solidFill>
              <a:srgbClr val="0A0A0A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3703108" y="3450233"/>
            <a:ext cx="0" cy="1107083"/>
          </a:xfrm>
          <a:prstGeom prst="line">
            <a:avLst/>
          </a:prstGeom>
          <a:noFill/>
          <a:ln w="25397">
            <a:solidFill>
              <a:srgbClr val="0A0A0A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905442" y="3817541"/>
            <a:ext cx="372374" cy="372467"/>
          </a:xfrm>
          <a:prstGeom prst="rect">
            <a:avLst/>
          </a:prstGeom>
          <a:solidFill>
            <a:srgbClr val="0A0A0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1015349" y="3861594"/>
            <a:ext cx="155409" cy="284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B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480966" y="3816548"/>
            <a:ext cx="2021533" cy="3742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946"/>
              </a:lnSpc>
              <a:buNone/>
            </a:pPr>
            <a:r>
              <a:rPr lang="en-US" sz="2266" b="1" dirty="0">
                <a:solidFill>
                  <a:srgbClr val="0A0A0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DOWNGRADE</a:t>
            </a:r>
            <a:endParaRPr lang="en-US" sz="2266" dirty="0"/>
          </a:p>
        </p:txBody>
      </p:sp>
      <p:sp>
        <p:nvSpPr>
          <p:cNvPr id="17" name="Text 15"/>
          <p:cNvSpPr/>
          <p:nvPr/>
        </p:nvSpPr>
        <p:spPr>
          <a:xfrm>
            <a:off x="3952680" y="3659981"/>
            <a:ext cx="7477446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0A0A0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The condition is real and it can wait. Move it to a queue with a named owner and a date. A promise is not the same as silence.</a:t>
            </a:r>
            <a:endParaRPr lang="en-US" sz="1866" dirty="0"/>
          </a:p>
        </p:txBody>
      </p:sp>
      <p:sp>
        <p:nvSpPr>
          <p:cNvPr id="18" name="Text 16"/>
          <p:cNvSpPr/>
          <p:nvPr/>
        </p:nvSpPr>
        <p:spPr>
          <a:xfrm>
            <a:off x="668567" y="4557316"/>
            <a:ext cx="10851818" cy="1132483"/>
          </a:xfrm>
          <a:prstGeom prst="rect">
            <a:avLst/>
          </a:prstGeom>
          <a:solidFill>
            <a:srgbClr val="0A0A0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668567" y="4570016"/>
            <a:ext cx="10851818" cy="0"/>
          </a:xfrm>
          <a:prstGeom prst="line">
            <a:avLst/>
          </a:prstGeom>
          <a:noFill/>
          <a:ln w="25397">
            <a:solidFill>
              <a:srgbClr val="0A0A0A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3703108" y="4582716"/>
            <a:ext cx="0" cy="1107083"/>
          </a:xfrm>
          <a:prstGeom prst="line">
            <a:avLst/>
          </a:prstGeom>
          <a:noFill/>
          <a:ln w="25397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905442" y="4950023"/>
            <a:ext cx="372374" cy="372467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1015349" y="4994077"/>
            <a:ext cx="155409" cy="284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0A0A0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C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480966" y="4949031"/>
            <a:ext cx="471084" cy="3742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946"/>
              </a:lnSpc>
              <a:buNone/>
            </a:pPr>
            <a:r>
              <a:rPr lang="en-US" sz="2266" b="1" dirty="0">
                <a:solidFill>
                  <a:srgbClr val="FFFF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FIX</a:t>
            </a:r>
            <a:endParaRPr lang="en-US" sz="2266" dirty="0"/>
          </a:p>
        </p:txBody>
      </p:sp>
      <p:sp>
        <p:nvSpPr>
          <p:cNvPr id="24" name="Text 22"/>
          <p:cNvSpPr/>
          <p:nvPr/>
        </p:nvSpPr>
        <p:spPr>
          <a:xfrm>
            <a:off x="3952680" y="4792464"/>
            <a:ext cx="7477446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FFFF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It fires because the system needs a human to survive. Repair the system and the alert deletes itself. Only this one lowers the count.</a:t>
            </a:r>
            <a:endParaRPr lang="en-US" sz="1866" dirty="0"/>
          </a:p>
        </p:txBody>
      </p:sp>
      <p:sp>
        <p:nvSpPr>
          <p:cNvPr id="25" name="Text 23"/>
          <p:cNvSpPr/>
          <p:nvPr/>
        </p:nvSpPr>
        <p:spPr>
          <a:xfrm>
            <a:off x="643174" y="5884664"/>
            <a:ext cx="10902605" cy="25400"/>
          </a:xfrm>
          <a:prstGeom prst="rect">
            <a:avLst/>
          </a:prstGeom>
          <a:solidFill>
            <a:srgbClr val="0A0A0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643174" y="5910064"/>
            <a:ext cx="11120657" cy="304602"/>
          </a:xfrm>
          <a:prstGeom prst="rect">
            <a:avLst/>
          </a:prstGeom>
          <a:noFill/>
          <a:ln/>
        </p:spPr>
        <p:txBody>
          <a:bodyPr wrap="square" lIns="0" tIns="67725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767676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ALERT DESIGN · SHEET 04/05 · NO CHART, NO EXTERNAL DATA</a:t>
            </a:r>
            <a:endParaRPr lang="en-US" sz="1333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3174" y="508000"/>
            <a:ext cx="11120657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66"/>
              </a:lnSpc>
              <a:spcAft>
                <a:spcPts val="800"/>
              </a:spcAft>
              <a:buNone/>
            </a:pPr>
            <a:r>
              <a:rPr lang="en-US" sz="1333" b="1" dirty="0">
                <a:solidFill>
                  <a:srgbClr val="3D3D3D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05 · OPEN QUESTIONS</a:t>
            </a:r>
            <a:endParaRPr lang="en-US" sz="1333" dirty="0"/>
          </a:p>
        </p:txBody>
      </p:sp>
      <p:sp>
        <p:nvSpPr>
          <p:cNvPr id="3" name="Text 1"/>
          <p:cNvSpPr/>
          <p:nvPr/>
        </p:nvSpPr>
        <p:spPr>
          <a:xfrm>
            <a:off x="643174" y="846534"/>
            <a:ext cx="11120657" cy="4875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840"/>
              </a:lnSpc>
              <a:spcAft>
                <a:spcPts val="1067"/>
              </a:spcAft>
              <a:buNone/>
            </a:pPr>
            <a:r>
              <a:rPr lang="en-US" sz="3200" b="1" dirty="0">
                <a:solidFill>
                  <a:srgbClr val="0A0A0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What we need to decide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3174" y="1469430"/>
            <a:ext cx="11120657" cy="3319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13"/>
              </a:lnSpc>
              <a:spcAft>
                <a:spcPts val="1600"/>
              </a:spcAft>
              <a:buNone/>
            </a:pPr>
            <a:r>
              <a:rPr lang="en-US" sz="1866" dirty="0">
                <a:solidFill>
                  <a:srgbClr val="3D3D3D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The rule is short. Holding to it is not. These are the parts still open.</a:t>
            </a:r>
            <a:endParaRPr lang="en-US" sz="1866" dirty="0"/>
          </a:p>
        </p:txBody>
      </p:sp>
      <p:sp>
        <p:nvSpPr>
          <p:cNvPr id="5" name="Text 3"/>
          <p:cNvSpPr/>
          <p:nvPr/>
        </p:nvSpPr>
        <p:spPr>
          <a:xfrm>
            <a:off x="643174" y="2004616"/>
            <a:ext cx="10902605" cy="50800"/>
          </a:xfrm>
          <a:prstGeom prst="rect">
            <a:avLst/>
          </a:prstGeom>
          <a:solidFill>
            <a:srgbClr val="0A0A0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43174" y="2292350"/>
            <a:ext cx="10902605" cy="1232297"/>
          </a:xfrm>
          <a:prstGeom prst="rect">
            <a:avLst/>
          </a:prstGeom>
          <a:solidFill>
            <a:srgbClr val="0A0A0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13973" y="2529284"/>
            <a:ext cx="10568226" cy="7584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2133" b="1" dirty="0">
                <a:solidFill>
                  <a:srgbClr val="FFFF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If it can wait, it is a ticket. If no one is needed, it is a script. If nobody is looking, it is a dashboard. What is left is a page.</a:t>
            </a:r>
            <a:endParaRPr lang="en-US" sz="2133" dirty="0"/>
          </a:p>
        </p:txBody>
      </p:sp>
      <p:sp>
        <p:nvSpPr>
          <p:cNvPr id="8" name="Shape 6"/>
          <p:cNvSpPr/>
          <p:nvPr/>
        </p:nvSpPr>
        <p:spPr>
          <a:xfrm>
            <a:off x="643174" y="3774281"/>
            <a:ext cx="10902605" cy="0"/>
          </a:xfrm>
          <a:prstGeom prst="line">
            <a:avLst/>
          </a:prstGeom>
          <a:noFill/>
          <a:ln w="25397">
            <a:solidFill>
              <a:srgbClr val="0A0A0A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3174" y="3913783"/>
            <a:ext cx="372374" cy="372467"/>
          </a:xfrm>
          <a:prstGeom prst="rect">
            <a:avLst/>
          </a:prstGeom>
          <a:solidFill>
            <a:srgbClr val="0A0A0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72126" y="3957836"/>
            <a:ext cx="116557" cy="284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218697" y="3928070"/>
            <a:ext cx="6786199" cy="343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0A0A0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Who may delete an alert, and what do they have to show to do it?</a:t>
            </a:r>
            <a:endParaRPr lang="en-US" sz="1866" dirty="0"/>
          </a:p>
        </p:txBody>
      </p:sp>
      <p:sp>
        <p:nvSpPr>
          <p:cNvPr id="12" name="Shape 10"/>
          <p:cNvSpPr/>
          <p:nvPr/>
        </p:nvSpPr>
        <p:spPr>
          <a:xfrm>
            <a:off x="643174" y="4425553"/>
            <a:ext cx="10902605" cy="0"/>
          </a:xfrm>
          <a:prstGeom prst="line">
            <a:avLst/>
          </a:prstGeom>
          <a:noFill/>
          <a:ln w="25397">
            <a:solidFill>
              <a:srgbClr val="0A0A0A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43174" y="4565055"/>
            <a:ext cx="372374" cy="372467"/>
          </a:xfrm>
          <a:prstGeom prst="rect">
            <a:avLst/>
          </a:prstGeom>
          <a:solidFill>
            <a:srgbClr val="0A0A0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72126" y="4609108"/>
            <a:ext cx="116557" cy="284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218697" y="4579342"/>
            <a:ext cx="7032263" cy="343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0A0A0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How many pages in one shift is too many, and who makes that call?</a:t>
            </a:r>
            <a:endParaRPr lang="en-US" sz="1866" dirty="0"/>
          </a:p>
        </p:txBody>
      </p:sp>
      <p:sp>
        <p:nvSpPr>
          <p:cNvPr id="16" name="Shape 14"/>
          <p:cNvSpPr/>
          <p:nvPr/>
        </p:nvSpPr>
        <p:spPr>
          <a:xfrm>
            <a:off x="643174" y="5076825"/>
            <a:ext cx="10902605" cy="0"/>
          </a:xfrm>
          <a:prstGeom prst="line">
            <a:avLst/>
          </a:prstGeom>
          <a:noFill/>
          <a:ln w="25397">
            <a:solidFill>
              <a:srgbClr val="0A0A0A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43174" y="5216327"/>
            <a:ext cx="372374" cy="372467"/>
          </a:xfrm>
          <a:prstGeom prst="rect">
            <a:avLst/>
          </a:prstGeom>
          <a:solidFill>
            <a:srgbClr val="0A0A0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772126" y="5260380"/>
            <a:ext cx="116557" cy="284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218697" y="5230614"/>
            <a:ext cx="6281119" cy="343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0A0A0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Which alerts do we fix at the source before the next rotation?</a:t>
            </a:r>
            <a:endParaRPr lang="en-US" sz="1866" dirty="0"/>
          </a:p>
        </p:txBody>
      </p:sp>
      <p:sp>
        <p:nvSpPr>
          <p:cNvPr id="20" name="Text 18"/>
          <p:cNvSpPr/>
          <p:nvPr/>
        </p:nvSpPr>
        <p:spPr>
          <a:xfrm>
            <a:off x="643174" y="5884664"/>
            <a:ext cx="10902605" cy="25400"/>
          </a:xfrm>
          <a:prstGeom prst="rect">
            <a:avLst/>
          </a:prstGeom>
          <a:solidFill>
            <a:srgbClr val="0A0A0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643174" y="5910064"/>
            <a:ext cx="11120657" cy="304602"/>
          </a:xfrm>
          <a:prstGeom prst="rect">
            <a:avLst/>
          </a:prstGeom>
          <a:noFill/>
          <a:ln/>
        </p:spPr>
        <p:txBody>
          <a:bodyPr wrap="square" lIns="0" tIns="67725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767676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PRESENTER · TEAM · ALERT DESIGN · SHEET 05/05 · NO CHART, NO EXTERNAL DATA</a:t>
            </a:r>
            <a:endParaRPr lang="en-US" sz="1333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2026-08-27T16:56:13Z</dcterms:created>
  <dcterms:modified xsi:type="dcterms:W3CDTF">2026-08-27T16:56:13Z</dcterms:modified>
</cp:coreProperties>
</file>