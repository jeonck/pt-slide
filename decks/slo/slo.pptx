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509045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SERVICE LEVEL OBJECTIVES · OPERATING NOTE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Service level objectives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6907208" cy="219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you promise,</a:t>
            </a:r>
            <a:endParaRPr lang="en-US" sz="4799" dirty="0"/>
          </a:p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what you refuse</a:t>
            </a:r>
            <a:endParaRPr lang="en-US" sz="4799" dirty="0"/>
          </a:p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 promise.</a:t>
            </a:r>
            <a:endParaRPr lang="en-US" sz="4799" dirty="0"/>
          </a:p>
        </p:txBody>
      </p:sp>
      <p:sp>
        <p:nvSpPr>
          <p:cNvPr id="7" name="Text 5"/>
          <p:cNvSpPr/>
          <p:nvPr/>
        </p:nvSpPr>
        <p:spPr>
          <a:xfrm>
            <a:off x="677098" y="4226917"/>
            <a:ext cx="6907208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spcBef>
                <a:spcPts val="2400"/>
              </a:spcBef>
              <a:buNone/>
            </a:pPr>
            <a:r>
              <a:rPr lang="en-US" sz="200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SLO is not a quality metric. It is a switch that stops feature work. The error budget is the mechanism that makes the promise real.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77098" y="5473502"/>
            <a:ext cx="6771772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7098" y="5649119"/>
            <a:ext cx="198652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5622908" y="5649119"/>
            <a:ext cx="18624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Internal review</a:t>
            </a:r>
            <a:endParaRPr lang="en-US" sz="1466" dirty="0"/>
          </a:p>
        </p:txBody>
      </p:sp>
      <p:sp>
        <p:nvSpPr>
          <p:cNvPr id="11" name="Shape 9"/>
          <p:cNvSpPr/>
          <p:nvPr/>
        </p:nvSpPr>
        <p:spPr>
          <a:xfrm>
            <a:off x="7861517" y="1727795"/>
            <a:ext cx="0" cy="418207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06315" y="1727795"/>
            <a:ext cx="33716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 THIS DECK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8206315" y="2191742"/>
            <a:ext cx="3305539" cy="3718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/ THE SWITCH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/ THE BUDGET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/ THE EXCLUSIONS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/ THE FAILURE MODES</a:t>
            </a:r>
            <a:endParaRPr lang="en-US" sz="1466" dirty="0"/>
          </a:p>
          <a:p>
            <a:pPr algn="l" marL="342900" indent="-342900">
              <a:lnSpc>
                <a:spcPts val="2053"/>
              </a:lnSpc>
              <a:buSzPct val="100000"/>
              <a:buChar char="•"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/ THE DECISIONS</a:t>
            </a:r>
            <a:endParaRPr lang="en-US" sz="1466" dirty="0"/>
          </a:p>
        </p:txBody>
      </p:sp>
      <p:sp>
        <p:nvSpPr>
          <p:cNvPr id="14" name="Shape 12"/>
          <p:cNvSpPr/>
          <p:nvPr/>
        </p:nvSpPr>
        <p:spPr>
          <a:xfrm>
            <a:off x="8206315" y="2391569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6315" y="2397919"/>
            <a:ext cx="225100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/ THE SWITCH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8206315" y="3135114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6315" y="3141464"/>
            <a:ext cx="225100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/ THE BUDGET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8206315" y="3878659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6315" y="3885009"/>
            <a:ext cx="285119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/ THE EXCLUSIONS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8206315" y="4622205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06315" y="4628555"/>
            <a:ext cx="330143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/ THE FAILURE MODES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8206315" y="5365750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06315" y="5372100"/>
            <a:ext cx="270104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/ THE DECISIONS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5" name="Text 23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18624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· THE SWITCH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02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SLO is not a quality metric. It is a switch.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9795" y="1791295"/>
            <a:ext cx="5292612" cy="599281"/>
          </a:xfrm>
          <a:prstGeom prst="rect">
            <a:avLst/>
          </a:prstGeom>
          <a:noFill/>
          <a:ln/>
        </p:spPr>
        <p:txBody>
          <a:bodyPr wrap="square" lIns="237037" tIns="186244" rIns="237037" bIns="152381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READ AS A METRIC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89795" y="2390577"/>
            <a:ext cx="5188835" cy="2617589"/>
          </a:xfrm>
          <a:prstGeom prst="rect">
            <a:avLst/>
          </a:prstGeom>
          <a:noFill/>
          <a:ln/>
        </p:spPr>
        <p:txBody>
          <a:bodyPr wrap="square" lIns="118519" tIns="0" rIns="0" bIns="0" rtlCol="0" anchor="t"/>
          <a:lstStyle/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describes how the service behaved.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gets reported, compared, discussed.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about next week has to change.</a:t>
            </a:r>
            <a:endParaRPr lang="en-US" sz="1866" dirty="0"/>
          </a:p>
        </p:txBody>
      </p:sp>
      <p:sp>
        <p:nvSpPr>
          <p:cNvPr id="8" name="Shape 6"/>
          <p:cNvSpPr/>
          <p:nvPr/>
        </p:nvSpPr>
        <p:spPr>
          <a:xfrm>
            <a:off x="926670" y="2626717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6670" y="2633067"/>
            <a:ext cx="428670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describes how the service behaved.</a:t>
            </a:r>
            <a:endParaRPr lang="en-US" sz="1866" dirty="0"/>
          </a:p>
        </p:txBody>
      </p:sp>
      <p:sp>
        <p:nvSpPr>
          <p:cNvPr id="10" name="Shape 8"/>
          <p:cNvSpPr/>
          <p:nvPr/>
        </p:nvSpPr>
        <p:spPr>
          <a:xfrm>
            <a:off x="926670" y="3442891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6670" y="3449241"/>
            <a:ext cx="428670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gets reported, compared, discussed.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26670" y="4259064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6670" y="4265414"/>
            <a:ext cx="461047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about next week has to change.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310322" y="1740495"/>
            <a:ext cx="5188835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10322" y="1791295"/>
            <a:ext cx="5292612" cy="599281"/>
          </a:xfrm>
          <a:prstGeom prst="rect">
            <a:avLst/>
          </a:prstGeom>
          <a:noFill/>
          <a:ln/>
        </p:spPr>
        <p:txBody>
          <a:bodyPr wrap="square" lIns="237037" tIns="186244" rIns="237037" bIns="152381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USED AS A SWITCH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310322" y="2390577"/>
            <a:ext cx="5188835" cy="2617589"/>
          </a:xfrm>
          <a:prstGeom prst="rect">
            <a:avLst/>
          </a:prstGeom>
          <a:noFill/>
          <a:ln/>
        </p:spPr>
        <p:txBody>
          <a:bodyPr wrap="square" lIns="118519" tIns="0" rIns="0" bIns="0" rtlCol="0" anchor="t"/>
          <a:lstStyle/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has two positions and only two.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Crossing it changes what ships next.</a:t>
            </a:r>
            <a:endParaRPr lang="en-US" sz="1866" dirty="0"/>
          </a:p>
          <a:p>
            <a:pPr algn="l" marL="118519" indent="-118519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meeting is needed for it to fire.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6547197" y="2626717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47197" y="2633067"/>
            <a:ext cx="379457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has two positions and only two.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6547197" y="3442891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97" y="3449241"/>
            <a:ext cx="415719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Crossing it changes what ships next.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6547197" y="4259064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47197" y="4265414"/>
            <a:ext cx="385932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meeting is needed for it to fire.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target that has never stopped anything is a dashboard with a threshold drawn on it.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6" name="Text 24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186248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· THE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03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error budget is the part that actually stops work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9795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89795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target</a:t>
            </a:r>
            <a:endParaRPr lang="en-US" sz="2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0964" y="2186186"/>
            <a:ext cx="406298" cy="1353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99959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466" dirty="0"/>
          </a:p>
        </p:txBody>
      </p:sp>
      <p:sp>
        <p:nvSpPr>
          <p:cNvPr id="10" name="Text 7"/>
          <p:cNvSpPr/>
          <p:nvPr/>
        </p:nvSpPr>
        <p:spPr>
          <a:xfrm>
            <a:off x="3499959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Spend the budget</a:t>
            </a:r>
            <a:endParaRPr lang="en-US" sz="2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1128" y="2186186"/>
            <a:ext cx="406298" cy="1353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10124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466" dirty="0"/>
          </a:p>
        </p:txBody>
      </p:sp>
      <p:sp>
        <p:nvSpPr>
          <p:cNvPr id="13" name="Text 9"/>
          <p:cNvSpPr/>
          <p:nvPr/>
        </p:nvSpPr>
        <p:spPr>
          <a:xfrm>
            <a:off x="6310124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Hit the floor</a:t>
            </a:r>
            <a:endParaRPr lang="en-US" sz="2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01293" y="2186186"/>
            <a:ext cx="406298" cy="13533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0288" y="1740495"/>
            <a:ext cx="2378472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9120288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</a:t>
            </a:r>
            <a:endParaRPr lang="en-US" sz="1466" dirty="0"/>
          </a:p>
        </p:txBody>
      </p:sp>
      <p:sp>
        <p:nvSpPr>
          <p:cNvPr id="17" name="Text 12"/>
          <p:cNvSpPr/>
          <p:nvPr/>
        </p:nvSpPr>
        <p:spPr>
          <a:xfrm>
            <a:off x="9120288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Stop the work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77098" y="3300413"/>
            <a:ext cx="53185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067"/>
              </a:spcAft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WHAT MAKES IT A BUDGET</a:t>
            </a:r>
            <a:endParaRPr lang="en-US" sz="1466" dirty="0"/>
          </a:p>
        </p:txBody>
      </p:sp>
      <p:sp>
        <p:nvSpPr>
          <p:cNvPr id="19" name="Text 14"/>
          <p:cNvSpPr/>
          <p:nvPr/>
        </p:nvSpPr>
        <p:spPr>
          <a:xfrm>
            <a:off x="677098" y="3696494"/>
            <a:ext cx="5318514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failed request draws down the same account. Nobody has to agree that the service is bad — the account has already said so, and it says so the same way every week.</a:t>
            </a:r>
            <a:endParaRPr lang="en-US" sz="1866" dirty="0"/>
          </a:p>
        </p:txBody>
      </p:sp>
      <p:sp>
        <p:nvSpPr>
          <p:cNvPr id="20" name="Text 15"/>
          <p:cNvSpPr/>
          <p:nvPr/>
        </p:nvSpPr>
        <p:spPr>
          <a:xfrm>
            <a:off x="6297625" y="3300413"/>
            <a:ext cx="53185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067"/>
              </a:spcAft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WHAT MAKES IT A SWITCH</a:t>
            </a:r>
            <a:endParaRPr lang="en-US" sz="1466" dirty="0"/>
          </a:p>
        </p:txBody>
      </p:sp>
      <p:sp>
        <p:nvSpPr>
          <p:cNvPr id="21" name="Text 16"/>
          <p:cNvSpPr/>
          <p:nvPr/>
        </p:nvSpPr>
        <p:spPr>
          <a:xfrm>
            <a:off x="6297625" y="3696494"/>
            <a:ext cx="5318514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Reaching the floor is not a discussion item. It is the condition on a rule written before anyone was upset, and a rule spent with no consequence was never a rule.</a:t>
            </a:r>
            <a:endParaRPr lang="en-US" sz="1866" dirty="0"/>
          </a:p>
        </p:txBody>
      </p:sp>
      <p:sp>
        <p:nvSpPr>
          <p:cNvPr id="22" name="Shape 17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budget nobody spends was never a promise.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5" name="Text 20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35906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· THE EXCLUSIONS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04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exclusions are the promise, written down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10834756" cy="3327003"/>
          </a:xfrm>
          <a:prstGeom prst="rect">
            <a:avLst/>
          </a:prstGeom>
          <a:noFill/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9795" y="1740495"/>
            <a:ext cx="10809363" cy="59491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89795" y="2329061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795" y="1791295"/>
            <a:ext cx="1874218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AXIS</a:t>
            </a:r>
            <a:endParaRPr lang="en-US" sz="1466" dirty="0"/>
          </a:p>
        </p:txBody>
      </p:sp>
      <p:sp>
        <p:nvSpPr>
          <p:cNvPr id="10" name="Shape 8"/>
          <p:cNvSpPr/>
          <p:nvPr/>
        </p:nvSpPr>
        <p:spPr>
          <a:xfrm>
            <a:off x="2533612" y="1740495"/>
            <a:ext cx="0" cy="582216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9960" y="1791295"/>
            <a:ext cx="4562513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 THE PROMISE</a:t>
            </a:r>
            <a:endParaRPr lang="en-US" sz="1466" dirty="0"/>
          </a:p>
        </p:txBody>
      </p:sp>
      <p:sp>
        <p:nvSpPr>
          <p:cNvPr id="12" name="Shape 10"/>
          <p:cNvSpPr/>
          <p:nvPr/>
        </p:nvSpPr>
        <p:spPr>
          <a:xfrm>
            <a:off x="7019360" y="1740495"/>
            <a:ext cx="0" cy="582216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5709" y="1740495"/>
            <a:ext cx="4473052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25709" y="1791295"/>
            <a:ext cx="4562513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OUT, BY NAME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892944" y="2538611"/>
            <a:ext cx="86911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SURFACE</a:t>
            </a:r>
            <a:endParaRPr lang="en-US" sz="1466" dirty="0"/>
          </a:p>
        </p:txBody>
      </p:sp>
      <p:sp>
        <p:nvSpPr>
          <p:cNvPr id="16" name="Shape 14"/>
          <p:cNvSpPr/>
          <p:nvPr/>
        </p:nvSpPr>
        <p:spPr>
          <a:xfrm>
            <a:off x="2533612" y="2335411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109" y="2497138"/>
            <a:ext cx="327654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path a user is waiting on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7019360" y="2335411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8858" y="2497138"/>
            <a:ext cx="3341296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Internal jobs nobody waits on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689795" y="3008908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2944" y="3218458"/>
            <a:ext cx="6208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FAULT</a:t>
            </a:r>
            <a:endParaRPr lang="en-US" sz="1466" dirty="0"/>
          </a:p>
        </p:txBody>
      </p:sp>
      <p:sp>
        <p:nvSpPr>
          <p:cNvPr id="22" name="Shape 20"/>
          <p:cNvSpPr/>
          <p:nvPr/>
        </p:nvSpPr>
        <p:spPr>
          <a:xfrm>
            <a:off x="2533612" y="3015258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109" y="3176984"/>
            <a:ext cx="3665066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our own edge can observe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7019360" y="3015258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8858" y="3176984"/>
            <a:ext cx="360031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client's network and device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689795" y="3688755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2944" y="3898305"/>
            <a:ext cx="99336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CALENDAR</a:t>
            </a:r>
            <a:endParaRPr lang="en-US" sz="1466" dirty="0"/>
          </a:p>
        </p:txBody>
      </p:sp>
      <p:sp>
        <p:nvSpPr>
          <p:cNvPr id="28" name="Shape 26"/>
          <p:cNvSpPr/>
          <p:nvPr/>
        </p:nvSpPr>
        <p:spPr>
          <a:xfrm>
            <a:off x="2533612" y="3695105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109" y="3856831"/>
            <a:ext cx="209802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ordinary week</a:t>
            </a:r>
            <a:endParaRPr lang="en-US" sz="1866" dirty="0"/>
          </a:p>
        </p:txBody>
      </p:sp>
      <p:sp>
        <p:nvSpPr>
          <p:cNvPr id="30" name="Shape 28"/>
          <p:cNvSpPr/>
          <p:nvPr/>
        </p:nvSpPr>
        <p:spPr>
          <a:xfrm>
            <a:off x="7019360" y="3695105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8858" y="3856831"/>
            <a:ext cx="37168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declared maintenance window</a:t>
            </a:r>
            <a:endParaRPr lang="en-US" sz="1866" dirty="0"/>
          </a:p>
        </p:txBody>
      </p:sp>
      <p:sp>
        <p:nvSpPr>
          <p:cNvPr id="32" name="Shape 30"/>
          <p:cNvSpPr/>
          <p:nvPr/>
        </p:nvSpPr>
        <p:spPr>
          <a:xfrm>
            <a:off x="689795" y="4368602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2944" y="4578152"/>
            <a:ext cx="111740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OWNERSHIP</a:t>
            </a:r>
            <a:endParaRPr lang="en-US" sz="1466" dirty="0"/>
          </a:p>
        </p:txBody>
      </p:sp>
      <p:sp>
        <p:nvSpPr>
          <p:cNvPr id="34" name="Shape 32"/>
          <p:cNvSpPr/>
          <p:nvPr/>
        </p:nvSpPr>
        <p:spPr>
          <a:xfrm>
            <a:off x="2533612" y="4374952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109" y="4536678"/>
            <a:ext cx="322474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this service itself does</a:t>
            </a:r>
            <a:endParaRPr lang="en-US" sz="1866" dirty="0"/>
          </a:p>
        </p:txBody>
      </p:sp>
      <p:sp>
        <p:nvSpPr>
          <p:cNvPr id="36" name="Shape 34"/>
          <p:cNvSpPr/>
          <p:nvPr/>
        </p:nvSpPr>
        <p:spPr>
          <a:xfrm>
            <a:off x="7019360" y="4374952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8858" y="4536678"/>
            <a:ext cx="335424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 dependency promises</a:t>
            </a:r>
            <a:endParaRPr lang="en-US" sz="1866" dirty="0"/>
          </a:p>
        </p:txBody>
      </p:sp>
      <p:sp>
        <p:nvSpPr>
          <p:cNvPr id="38" name="Shape 36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exclusion you never wrote down becomes an argument during the incident.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41" name="Text 39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7315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· THE FAILURE MODES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05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ways an SLO stops being a switch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1105145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866"/>
              </a:spcAft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number stays exactly where it was. What goes missing is the rule attached to it.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92944" y="2524323"/>
            <a:ext cx="3105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920405"/>
            <a:ext cx="3105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target nobody chose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92944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2944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came off a vendor page. Nobody in the room would defend it, so nobody enforces it either.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572246" y="2524323"/>
            <a:ext cx="3105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572246" y="2920405"/>
            <a:ext cx="3105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budget with no teeth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572246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246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chart turns red, the sprint carries on, and the budget quietly becomes a colour.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251548" y="2524323"/>
            <a:ext cx="3105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251548" y="2920405"/>
            <a:ext cx="3105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exception each time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51548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1548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breach arrives with a good reason. A switch that bends has only one position.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Each of these is a decision nobody wrote down, showing up later as a habit.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23481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· THE 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we need to decide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97063"/>
            <a:ext cx="759643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1692645" y="1897063"/>
            <a:ext cx="10015593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actually stops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1692645" y="2347119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work that halts when the budget is gone, and the work that does not.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77098" y="2998192"/>
            <a:ext cx="759643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692645" y="2998192"/>
            <a:ext cx="10015593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Who declares it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1692645" y="3448248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role who can say the budget is gone without convening anyone.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677098" y="4099322"/>
            <a:ext cx="759643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1692645" y="4099322"/>
            <a:ext cx="10015593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we refuse to promise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1692645" y="4549378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exclusions, written down before the first incident asks for them.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5308402"/>
            <a:ext cx="10834756" cy="0"/>
          </a:xfrm>
          <a:prstGeom prst="line">
            <a:avLst/>
          </a:prstGeom>
          <a:noFill/>
          <a:ln w="3809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7098" y="5530652"/>
            <a:ext cx="11051451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Until these three are answered, we have a metric — and metrics stop nothing.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2026-08-27T15:16:31Z</dcterms:created>
  <dcterms:modified xsi:type="dcterms:W3CDTF">2026-08-27T15:16:31Z</dcterms:modified>
</cp:coreProperties>
</file>