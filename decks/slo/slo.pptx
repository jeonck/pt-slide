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2.svg" ContentType="image/svg+xml"/>
  <Override PartName="/ppt/media/image-3-4.svg" ContentType="image/svg+xml"/>
  <Override PartName="/ppt/media/image-3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509045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SERVICE LEVEL OBJECTIVES · OPERATING NOTE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01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Service level objectives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7098" y="1727795"/>
            <a:ext cx="6907208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59"/>
              </a:lnSpc>
              <a:buNone/>
            </a:pPr>
            <a:r>
              <a:rPr lang="en-US" sz="4799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you promise,</a:t>
            </a:r>
            <a:endParaRPr lang="en-US" sz="4799" dirty="0"/>
          </a:p>
          <a:p>
            <a:pPr algn="l" indent="0" marL="0">
              <a:lnSpc>
                <a:spcPts val="5759"/>
              </a:lnSpc>
              <a:buNone/>
            </a:pPr>
            <a:r>
              <a:rPr lang="en-US" sz="4799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and what you refuse</a:t>
            </a:r>
            <a:endParaRPr lang="en-US" sz="4799" dirty="0"/>
          </a:p>
          <a:p>
            <a:pPr algn="l" indent="0" marL="0">
              <a:lnSpc>
                <a:spcPts val="5759"/>
              </a:lnSpc>
              <a:buNone/>
            </a:pPr>
            <a:r>
              <a:rPr lang="en-US" sz="4799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promise.</a:t>
            </a:r>
            <a:endParaRPr lang="en-US" sz="4799" dirty="0"/>
          </a:p>
        </p:txBody>
      </p:sp>
      <p:sp>
        <p:nvSpPr>
          <p:cNvPr id="7" name="Text 5"/>
          <p:cNvSpPr/>
          <p:nvPr/>
        </p:nvSpPr>
        <p:spPr>
          <a:xfrm>
            <a:off x="677098" y="4226917"/>
            <a:ext cx="690720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spcBef>
                <a:spcPts val="2400"/>
              </a:spcBef>
              <a:buNone/>
            </a:pPr>
            <a:r>
              <a:rPr lang="en-US" sz="2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SLO is not a quality metric. It is a switch that stops feature work. The error budget is the mechanism that makes the promise real.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77098" y="5473502"/>
            <a:ext cx="6771772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7098" y="5649119"/>
            <a:ext cx="198652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10" name="Text 8"/>
          <p:cNvSpPr/>
          <p:nvPr/>
        </p:nvSpPr>
        <p:spPr>
          <a:xfrm>
            <a:off x="5622908" y="5649119"/>
            <a:ext cx="18624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Internal review</a:t>
            </a:r>
            <a:endParaRPr lang="en-US" sz="1466" dirty="0"/>
          </a:p>
        </p:txBody>
      </p:sp>
      <p:sp>
        <p:nvSpPr>
          <p:cNvPr id="11" name="Shape 9"/>
          <p:cNvSpPr/>
          <p:nvPr/>
        </p:nvSpPr>
        <p:spPr>
          <a:xfrm>
            <a:off x="7861517" y="1727795"/>
            <a:ext cx="0" cy="418207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06315" y="1727795"/>
            <a:ext cx="33716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IN THIS DECK</a:t>
            </a:r>
            <a:endParaRPr lang="en-US" sz="1466" dirty="0"/>
          </a:p>
        </p:txBody>
      </p:sp>
      <p:sp>
        <p:nvSpPr>
          <p:cNvPr id="13" name="Shape 11"/>
          <p:cNvSpPr/>
          <p:nvPr/>
        </p:nvSpPr>
        <p:spPr>
          <a:xfrm>
            <a:off x="8206315" y="2391569"/>
            <a:ext cx="3305539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06315" y="2397919"/>
            <a:ext cx="2251004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02 / THE SWITCH</a:t>
            </a:r>
            <a:endParaRPr lang="en-US" sz="1866" dirty="0"/>
          </a:p>
        </p:txBody>
      </p:sp>
      <p:sp>
        <p:nvSpPr>
          <p:cNvPr id="15" name="Shape 13"/>
          <p:cNvSpPr/>
          <p:nvPr/>
        </p:nvSpPr>
        <p:spPr>
          <a:xfrm>
            <a:off x="8206315" y="3135114"/>
            <a:ext cx="3305539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06315" y="3141464"/>
            <a:ext cx="2251004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03 / THE BUDGET</a:t>
            </a:r>
            <a:endParaRPr lang="en-US" sz="1866" dirty="0"/>
          </a:p>
        </p:txBody>
      </p:sp>
      <p:sp>
        <p:nvSpPr>
          <p:cNvPr id="17" name="Shape 15"/>
          <p:cNvSpPr/>
          <p:nvPr/>
        </p:nvSpPr>
        <p:spPr>
          <a:xfrm>
            <a:off x="8206315" y="3878659"/>
            <a:ext cx="3305539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06315" y="3885009"/>
            <a:ext cx="2851191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04 / THE EXCLUSIONS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8206315" y="4622205"/>
            <a:ext cx="3305539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06315" y="4628555"/>
            <a:ext cx="3301432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05 / THE FAILURE MODES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8206315" y="5365750"/>
            <a:ext cx="3305539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06315" y="5372100"/>
            <a:ext cx="270104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06 / THE DECISIONS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18624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02 · THE SWITCH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02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SLO is not a quality metric. It is a switch.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795" y="1791295"/>
            <a:ext cx="5292612" cy="599281"/>
          </a:xfrm>
          <a:prstGeom prst="rect">
            <a:avLst/>
          </a:prstGeom>
          <a:noFill/>
          <a:ln/>
        </p:spPr>
        <p:txBody>
          <a:bodyPr wrap="square" lIns="237037" tIns="186244" rIns="237037" bIns="152381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READ AS A METRIC</a:t>
            </a:r>
            <a:endParaRPr lang="en-US" sz="1466" dirty="0"/>
          </a:p>
        </p:txBody>
      </p:sp>
      <p:sp>
        <p:nvSpPr>
          <p:cNvPr id="7" name="Shape 5"/>
          <p:cNvSpPr/>
          <p:nvPr/>
        </p:nvSpPr>
        <p:spPr>
          <a:xfrm>
            <a:off x="926670" y="2626717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26670" y="2633067"/>
            <a:ext cx="4286702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describes how the service behaved.</a:t>
            </a:r>
            <a:endParaRPr lang="en-US" sz="1866" dirty="0"/>
          </a:p>
        </p:txBody>
      </p:sp>
      <p:sp>
        <p:nvSpPr>
          <p:cNvPr id="9" name="Shape 7"/>
          <p:cNvSpPr/>
          <p:nvPr/>
        </p:nvSpPr>
        <p:spPr>
          <a:xfrm>
            <a:off x="926670" y="3442891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26670" y="3449241"/>
            <a:ext cx="4286702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gets reported, compared, discussed.</a:t>
            </a:r>
            <a:endParaRPr lang="en-US" sz="1866" dirty="0"/>
          </a:p>
        </p:txBody>
      </p:sp>
      <p:sp>
        <p:nvSpPr>
          <p:cNvPr id="11" name="Shape 9"/>
          <p:cNvSpPr/>
          <p:nvPr/>
        </p:nvSpPr>
        <p:spPr>
          <a:xfrm>
            <a:off x="926670" y="4259064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6670" y="4265414"/>
            <a:ext cx="4610471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about next week has to change.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6310322" y="1740495"/>
            <a:ext cx="5188835" cy="508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322" y="1791295"/>
            <a:ext cx="5292612" cy="599281"/>
          </a:xfrm>
          <a:prstGeom prst="rect">
            <a:avLst/>
          </a:prstGeom>
          <a:noFill/>
          <a:ln/>
        </p:spPr>
        <p:txBody>
          <a:bodyPr wrap="square" lIns="237037" tIns="186244" rIns="237037" bIns="152381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USED AS A SWITCH</a:t>
            </a:r>
            <a:endParaRPr lang="en-US" sz="1466" dirty="0"/>
          </a:p>
        </p:txBody>
      </p:sp>
      <p:sp>
        <p:nvSpPr>
          <p:cNvPr id="15" name="Shape 13"/>
          <p:cNvSpPr/>
          <p:nvPr/>
        </p:nvSpPr>
        <p:spPr>
          <a:xfrm>
            <a:off x="6547197" y="2626717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47197" y="2633067"/>
            <a:ext cx="379457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has two positions and only two.</a:t>
            </a:r>
            <a:endParaRPr lang="en-US" sz="1866" dirty="0"/>
          </a:p>
        </p:txBody>
      </p:sp>
      <p:sp>
        <p:nvSpPr>
          <p:cNvPr id="17" name="Shape 15"/>
          <p:cNvSpPr/>
          <p:nvPr/>
        </p:nvSpPr>
        <p:spPr>
          <a:xfrm>
            <a:off x="6547197" y="3442891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47197" y="3449241"/>
            <a:ext cx="4157194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Crossing it changes what ships next.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6547197" y="4259064"/>
            <a:ext cx="4715085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47197" y="4265414"/>
            <a:ext cx="3859327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meeting is needed for it to fire.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677098" y="5332016"/>
            <a:ext cx="10834756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7098" y="5541566"/>
            <a:ext cx="1105145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target that has never stopped anything is a dashboard with a threshold drawn on it.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186248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03 · THE BUDGET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03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error budget is the part that actually stops work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795" y="1791295"/>
            <a:ext cx="2426042" cy="396081"/>
          </a:xfrm>
          <a:prstGeom prst="rect">
            <a:avLst/>
          </a:prstGeom>
          <a:noFill/>
          <a:ln/>
        </p:spPr>
        <p:txBody>
          <a:bodyPr wrap="square" lIns="169312" tIns="135450" rIns="169312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01</a:t>
            </a:r>
            <a:endParaRPr lang="en-US" sz="1466" dirty="0"/>
          </a:p>
        </p:txBody>
      </p:sp>
      <p:sp>
        <p:nvSpPr>
          <p:cNvPr id="7" name="Text 5"/>
          <p:cNvSpPr/>
          <p:nvPr/>
        </p:nvSpPr>
        <p:spPr>
          <a:xfrm>
            <a:off x="689795" y="2187377"/>
            <a:ext cx="2426042" cy="579834"/>
          </a:xfrm>
          <a:prstGeom prst="rect">
            <a:avLst/>
          </a:prstGeom>
          <a:noFill/>
          <a:ln/>
        </p:spPr>
        <p:txBody>
          <a:bodyPr wrap="square" lIns="169312" tIns="67725" rIns="169312" bIns="169312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target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0964" y="2186186"/>
            <a:ext cx="406298" cy="1353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99959" y="1791295"/>
            <a:ext cx="2426042" cy="396081"/>
          </a:xfrm>
          <a:prstGeom prst="rect">
            <a:avLst/>
          </a:prstGeom>
          <a:noFill/>
          <a:ln/>
        </p:spPr>
        <p:txBody>
          <a:bodyPr wrap="square" lIns="169312" tIns="135450" rIns="169312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02</a:t>
            </a:r>
            <a:endParaRPr lang="en-US" sz="1466" dirty="0"/>
          </a:p>
        </p:txBody>
      </p:sp>
      <p:sp>
        <p:nvSpPr>
          <p:cNvPr id="10" name="Text 7"/>
          <p:cNvSpPr/>
          <p:nvPr/>
        </p:nvSpPr>
        <p:spPr>
          <a:xfrm>
            <a:off x="3499959" y="2187377"/>
            <a:ext cx="2426042" cy="579834"/>
          </a:xfrm>
          <a:prstGeom prst="rect">
            <a:avLst/>
          </a:prstGeom>
          <a:noFill/>
          <a:ln/>
        </p:spPr>
        <p:txBody>
          <a:bodyPr wrap="square" lIns="169312" tIns="67725" rIns="169312" bIns="169312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Spend the budget</a:t>
            </a:r>
            <a:endParaRPr lang="en-US" sz="2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128" y="2186186"/>
            <a:ext cx="406298" cy="1353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0124" y="1791295"/>
            <a:ext cx="2426042" cy="396081"/>
          </a:xfrm>
          <a:prstGeom prst="rect">
            <a:avLst/>
          </a:prstGeom>
          <a:noFill/>
          <a:ln/>
        </p:spPr>
        <p:txBody>
          <a:bodyPr wrap="square" lIns="169312" tIns="135450" rIns="169312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03</a:t>
            </a:r>
            <a:endParaRPr lang="en-US" sz="1466" dirty="0"/>
          </a:p>
        </p:txBody>
      </p:sp>
      <p:sp>
        <p:nvSpPr>
          <p:cNvPr id="13" name="Text 9"/>
          <p:cNvSpPr/>
          <p:nvPr/>
        </p:nvSpPr>
        <p:spPr>
          <a:xfrm>
            <a:off x="6310124" y="2187377"/>
            <a:ext cx="2426042" cy="579834"/>
          </a:xfrm>
          <a:prstGeom prst="rect">
            <a:avLst/>
          </a:prstGeom>
          <a:noFill/>
          <a:ln/>
        </p:spPr>
        <p:txBody>
          <a:bodyPr wrap="square" lIns="169312" tIns="67725" rIns="169312" bIns="169312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Hit the floor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1293" y="2186186"/>
            <a:ext cx="406298" cy="1353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20288" y="1740495"/>
            <a:ext cx="2378472" cy="508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9120288" y="1791295"/>
            <a:ext cx="2426042" cy="396081"/>
          </a:xfrm>
          <a:prstGeom prst="rect">
            <a:avLst/>
          </a:prstGeom>
          <a:noFill/>
          <a:ln/>
        </p:spPr>
        <p:txBody>
          <a:bodyPr wrap="square" lIns="169312" tIns="135450" rIns="169312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000000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04</a:t>
            </a:r>
            <a:endParaRPr lang="en-US" sz="1466" dirty="0"/>
          </a:p>
        </p:txBody>
      </p:sp>
      <p:sp>
        <p:nvSpPr>
          <p:cNvPr id="17" name="Text 12"/>
          <p:cNvSpPr/>
          <p:nvPr/>
        </p:nvSpPr>
        <p:spPr>
          <a:xfrm>
            <a:off x="9120288" y="2187377"/>
            <a:ext cx="2426042" cy="579834"/>
          </a:xfrm>
          <a:prstGeom prst="rect">
            <a:avLst/>
          </a:prstGeom>
          <a:noFill/>
          <a:ln/>
        </p:spPr>
        <p:txBody>
          <a:bodyPr wrap="square" lIns="169312" tIns="67725" rIns="169312" bIns="169312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the work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77098" y="3300413"/>
            <a:ext cx="531851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1067"/>
              </a:spcAft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WHAT MAKES IT A BUDGET</a:t>
            </a:r>
            <a:endParaRPr lang="en-US" sz="1466" dirty="0"/>
          </a:p>
        </p:txBody>
      </p:sp>
      <p:sp>
        <p:nvSpPr>
          <p:cNvPr id="19" name="Text 14"/>
          <p:cNvSpPr/>
          <p:nvPr/>
        </p:nvSpPr>
        <p:spPr>
          <a:xfrm>
            <a:off x="677098" y="3696494"/>
            <a:ext cx="5318514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failed request draws down the same account. Nobody has to agree that the service is bad — the account has already said so, and it says so the same way every week.</a:t>
            </a:r>
            <a:endParaRPr lang="en-US" sz="1866" dirty="0"/>
          </a:p>
        </p:txBody>
      </p:sp>
      <p:sp>
        <p:nvSpPr>
          <p:cNvPr id="20" name="Text 15"/>
          <p:cNvSpPr/>
          <p:nvPr/>
        </p:nvSpPr>
        <p:spPr>
          <a:xfrm>
            <a:off x="6297625" y="3300413"/>
            <a:ext cx="531851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spcAft>
                <a:spcPts val="1067"/>
              </a:spcAft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WHAT MAKES IT A SWITCH</a:t>
            </a:r>
            <a:endParaRPr lang="en-US" sz="1466" dirty="0"/>
          </a:p>
        </p:txBody>
      </p:sp>
      <p:sp>
        <p:nvSpPr>
          <p:cNvPr id="21" name="Text 16"/>
          <p:cNvSpPr/>
          <p:nvPr/>
        </p:nvSpPr>
        <p:spPr>
          <a:xfrm>
            <a:off x="6297625" y="3696494"/>
            <a:ext cx="5318514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Reaching the floor is not a discussion item. It is the condition on a rule written before anyone was upset, and a rule spent with no consequence was never a rule.</a:t>
            </a:r>
            <a:endParaRPr lang="en-US" sz="1866" dirty="0"/>
          </a:p>
        </p:txBody>
      </p:sp>
      <p:sp>
        <p:nvSpPr>
          <p:cNvPr id="22" name="Shape 17"/>
          <p:cNvSpPr/>
          <p:nvPr/>
        </p:nvSpPr>
        <p:spPr>
          <a:xfrm>
            <a:off x="677098" y="5332016"/>
            <a:ext cx="10834756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677098" y="5541566"/>
            <a:ext cx="1105145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budget nobody spends was never a promise.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25" name="Text 20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2359062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04 · THE EXCLUSIONS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04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exclusions are the promise, written down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7098" y="1727795"/>
            <a:ext cx="10834756" cy="3327003"/>
          </a:xfrm>
          <a:prstGeom prst="rect">
            <a:avLst/>
          </a:prstGeom>
          <a:noFill/>
          <a:ln w="12698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9795" y="1740495"/>
            <a:ext cx="10809363" cy="59491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9795" y="2329061"/>
            <a:ext cx="10809363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9795" y="1791295"/>
            <a:ext cx="1874218" cy="531416"/>
          </a:xfrm>
          <a:prstGeom prst="rect">
            <a:avLst/>
          </a:prstGeom>
          <a:noFill/>
          <a:ln/>
        </p:spPr>
        <p:txBody>
          <a:bodyPr wrap="square" lIns="203175" tIns="135450" rIns="203175" bIns="13545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AXIS</a:t>
            </a:r>
            <a:endParaRPr lang="en-US" sz="1466" dirty="0"/>
          </a:p>
        </p:txBody>
      </p:sp>
      <p:sp>
        <p:nvSpPr>
          <p:cNvPr id="10" name="Shape 8"/>
          <p:cNvSpPr/>
          <p:nvPr/>
        </p:nvSpPr>
        <p:spPr>
          <a:xfrm>
            <a:off x="2533612" y="1740495"/>
            <a:ext cx="0" cy="582216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39960" y="1791295"/>
            <a:ext cx="4562513" cy="531416"/>
          </a:xfrm>
          <a:prstGeom prst="rect">
            <a:avLst/>
          </a:prstGeom>
          <a:noFill/>
          <a:ln/>
        </p:spPr>
        <p:txBody>
          <a:bodyPr wrap="square" lIns="203175" tIns="135450" rIns="203175" bIns="13545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IN THE PROMISE</a:t>
            </a:r>
            <a:endParaRPr lang="en-US" sz="1466" dirty="0"/>
          </a:p>
        </p:txBody>
      </p:sp>
      <p:sp>
        <p:nvSpPr>
          <p:cNvPr id="12" name="Shape 10"/>
          <p:cNvSpPr/>
          <p:nvPr/>
        </p:nvSpPr>
        <p:spPr>
          <a:xfrm>
            <a:off x="7019360" y="1740495"/>
            <a:ext cx="0" cy="582216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25709" y="1740495"/>
            <a:ext cx="4473052" cy="508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25709" y="1791295"/>
            <a:ext cx="4562513" cy="531416"/>
          </a:xfrm>
          <a:prstGeom prst="rect">
            <a:avLst/>
          </a:prstGeom>
          <a:noFill/>
          <a:ln/>
        </p:spPr>
        <p:txBody>
          <a:bodyPr wrap="square" lIns="203175" tIns="135450" rIns="203175" bIns="13545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OUT, BY NAME</a:t>
            </a:r>
            <a:endParaRPr lang="en-US" sz="1466" dirty="0"/>
          </a:p>
        </p:txBody>
      </p:sp>
      <p:sp>
        <p:nvSpPr>
          <p:cNvPr id="15" name="Text 13"/>
          <p:cNvSpPr/>
          <p:nvPr/>
        </p:nvSpPr>
        <p:spPr>
          <a:xfrm>
            <a:off x="892944" y="2538611"/>
            <a:ext cx="86911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SURFACE</a:t>
            </a:r>
            <a:endParaRPr lang="en-US" sz="1466" dirty="0"/>
          </a:p>
        </p:txBody>
      </p:sp>
      <p:sp>
        <p:nvSpPr>
          <p:cNvPr id="16" name="Shape 14"/>
          <p:cNvSpPr/>
          <p:nvPr/>
        </p:nvSpPr>
        <p:spPr>
          <a:xfrm>
            <a:off x="2533612" y="2335411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43109" y="2497138"/>
            <a:ext cx="327654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path a user is waiting on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7019360" y="2335411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28858" y="2497138"/>
            <a:ext cx="3341296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Internal jobs nobody waits on</a:t>
            </a:r>
            <a:endParaRPr lang="en-US" sz="1866" dirty="0"/>
          </a:p>
        </p:txBody>
      </p:sp>
      <p:sp>
        <p:nvSpPr>
          <p:cNvPr id="20" name="Shape 18"/>
          <p:cNvSpPr/>
          <p:nvPr/>
        </p:nvSpPr>
        <p:spPr>
          <a:xfrm>
            <a:off x="689795" y="3008908"/>
            <a:ext cx="10809363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92944" y="3218458"/>
            <a:ext cx="62082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FAULT</a:t>
            </a:r>
            <a:endParaRPr lang="en-US" sz="1466" dirty="0"/>
          </a:p>
        </p:txBody>
      </p:sp>
      <p:sp>
        <p:nvSpPr>
          <p:cNvPr id="22" name="Shape 20"/>
          <p:cNvSpPr/>
          <p:nvPr/>
        </p:nvSpPr>
        <p:spPr>
          <a:xfrm>
            <a:off x="2533612" y="3015258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743109" y="3176984"/>
            <a:ext cx="3665066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our own edge can observe</a:t>
            </a:r>
            <a:endParaRPr lang="en-US" sz="1866" dirty="0"/>
          </a:p>
        </p:txBody>
      </p:sp>
      <p:sp>
        <p:nvSpPr>
          <p:cNvPr id="24" name="Shape 22"/>
          <p:cNvSpPr/>
          <p:nvPr/>
        </p:nvSpPr>
        <p:spPr>
          <a:xfrm>
            <a:off x="7019360" y="3015258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228858" y="3176984"/>
            <a:ext cx="3600312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client's network and device</a:t>
            </a:r>
            <a:endParaRPr lang="en-US" sz="1866" dirty="0"/>
          </a:p>
        </p:txBody>
      </p:sp>
      <p:sp>
        <p:nvSpPr>
          <p:cNvPr id="26" name="Shape 24"/>
          <p:cNvSpPr/>
          <p:nvPr/>
        </p:nvSpPr>
        <p:spPr>
          <a:xfrm>
            <a:off x="689795" y="3688755"/>
            <a:ext cx="10809363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92944" y="3898305"/>
            <a:ext cx="99336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CALENDAR</a:t>
            </a:r>
            <a:endParaRPr lang="en-US" sz="1466" dirty="0"/>
          </a:p>
        </p:txBody>
      </p:sp>
      <p:sp>
        <p:nvSpPr>
          <p:cNvPr id="28" name="Shape 26"/>
          <p:cNvSpPr/>
          <p:nvPr/>
        </p:nvSpPr>
        <p:spPr>
          <a:xfrm>
            <a:off x="2533612" y="3695105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743109" y="3856831"/>
            <a:ext cx="209802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ordinary week</a:t>
            </a:r>
            <a:endParaRPr lang="en-US" sz="1866" dirty="0"/>
          </a:p>
        </p:txBody>
      </p:sp>
      <p:sp>
        <p:nvSpPr>
          <p:cNvPr id="30" name="Shape 28"/>
          <p:cNvSpPr/>
          <p:nvPr/>
        </p:nvSpPr>
        <p:spPr>
          <a:xfrm>
            <a:off x="7019360" y="3695105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28858" y="3856831"/>
            <a:ext cx="3716869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declared maintenance window</a:t>
            </a:r>
            <a:endParaRPr lang="en-US" sz="1866" dirty="0"/>
          </a:p>
        </p:txBody>
      </p:sp>
      <p:sp>
        <p:nvSpPr>
          <p:cNvPr id="32" name="Shape 30"/>
          <p:cNvSpPr/>
          <p:nvPr/>
        </p:nvSpPr>
        <p:spPr>
          <a:xfrm>
            <a:off x="689795" y="4368602"/>
            <a:ext cx="10809363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92944" y="4578152"/>
            <a:ext cx="111740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OWNERSHIP</a:t>
            </a:r>
            <a:endParaRPr lang="en-US" sz="1466" dirty="0"/>
          </a:p>
        </p:txBody>
      </p:sp>
      <p:sp>
        <p:nvSpPr>
          <p:cNvPr id="34" name="Shape 32"/>
          <p:cNvSpPr/>
          <p:nvPr/>
        </p:nvSpPr>
        <p:spPr>
          <a:xfrm>
            <a:off x="2533612" y="4374952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743109" y="4536678"/>
            <a:ext cx="3224740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this service itself does</a:t>
            </a:r>
            <a:endParaRPr lang="en-US" sz="1866" dirty="0"/>
          </a:p>
        </p:txBody>
      </p:sp>
      <p:sp>
        <p:nvSpPr>
          <p:cNvPr id="36" name="Shape 34"/>
          <p:cNvSpPr/>
          <p:nvPr/>
        </p:nvSpPr>
        <p:spPr>
          <a:xfrm>
            <a:off x="7019360" y="4374952"/>
            <a:ext cx="0" cy="667147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228858" y="4536678"/>
            <a:ext cx="3354247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 dependency promises</a:t>
            </a:r>
            <a:endParaRPr lang="en-US" sz="1866" dirty="0"/>
          </a:p>
        </p:txBody>
      </p:sp>
      <p:sp>
        <p:nvSpPr>
          <p:cNvPr id="38" name="Shape 36"/>
          <p:cNvSpPr/>
          <p:nvPr/>
        </p:nvSpPr>
        <p:spPr>
          <a:xfrm>
            <a:off x="677098" y="5332016"/>
            <a:ext cx="10834756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7098" y="5541566"/>
            <a:ext cx="1105145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exclusion you never wrote down becomes an argument during the incident.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41" name="Text 39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2731599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05 · THE FAILURE MODES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05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ways an SLO stops being a switch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7098" y="1727795"/>
            <a:ext cx="11051451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spcAft>
                <a:spcPts val="1866"/>
              </a:spcAft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number stays exactly where it was. What goes missing is the rule attached to it.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892944" y="2524323"/>
            <a:ext cx="31053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01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892944" y="2920405"/>
            <a:ext cx="3105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067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target nobody chose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92944" y="3288506"/>
            <a:ext cx="3044461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2944" y="3464123"/>
            <a:ext cx="310535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came off a vendor page. Nobody in the room would defend it, so nobody enforces it either.</a:t>
            </a:r>
            <a:endParaRPr lang="en-US" sz="1866" dirty="0"/>
          </a:p>
        </p:txBody>
      </p:sp>
      <p:sp>
        <p:nvSpPr>
          <p:cNvPr id="11" name="Text 9"/>
          <p:cNvSpPr/>
          <p:nvPr/>
        </p:nvSpPr>
        <p:spPr>
          <a:xfrm>
            <a:off x="4572246" y="2524323"/>
            <a:ext cx="31053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02</a:t>
            </a:r>
            <a:endParaRPr lang="en-US" sz="1466" dirty="0"/>
          </a:p>
        </p:txBody>
      </p:sp>
      <p:sp>
        <p:nvSpPr>
          <p:cNvPr id="12" name="Text 10"/>
          <p:cNvSpPr/>
          <p:nvPr/>
        </p:nvSpPr>
        <p:spPr>
          <a:xfrm>
            <a:off x="4572246" y="2920405"/>
            <a:ext cx="3105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067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budget with no teeth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246" y="3288506"/>
            <a:ext cx="3044461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246" y="3464123"/>
            <a:ext cx="310535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chart turns red, the sprint carries on, and the budget quietly becomes a colour.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8251548" y="2524323"/>
            <a:ext cx="31053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03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8251548" y="2920405"/>
            <a:ext cx="3105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067"/>
              </a:spcBef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exception each time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51548" y="3288506"/>
            <a:ext cx="3044461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51548" y="3464123"/>
            <a:ext cx="3105350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breach arrives with a good reason. A switch that bends has only one position.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677098" y="5332016"/>
            <a:ext cx="10834756" cy="0"/>
          </a:xfrm>
          <a:prstGeom prst="line">
            <a:avLst/>
          </a:prstGeom>
          <a:noFill/>
          <a:ln w="12698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7098" y="5541566"/>
            <a:ext cx="1105145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of these is a decision nobody wrote down, showing up later as a habit.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406400"/>
            <a:ext cx="2234816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06 · THE DECISIONS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929314" y="406400"/>
            <a:ext cx="161419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SHEET 06 / 06</a:t>
            </a:r>
            <a:endParaRPr lang="en-US" sz="1466" dirty="0"/>
          </a:p>
        </p:txBody>
      </p:sp>
      <p:sp>
        <p:nvSpPr>
          <p:cNvPr id="4" name="Text 2"/>
          <p:cNvSpPr/>
          <p:nvPr/>
        </p:nvSpPr>
        <p:spPr>
          <a:xfrm>
            <a:off x="677098" y="768747"/>
            <a:ext cx="11051451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86"/>
              </a:lnSpc>
              <a:buNone/>
            </a:pPr>
            <a:r>
              <a:rPr lang="en-US" sz="3066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 need to decide</a:t>
            </a:r>
            <a:endParaRPr lang="en-US" sz="3066" dirty="0"/>
          </a:p>
        </p:txBody>
      </p:sp>
      <p:sp>
        <p:nvSpPr>
          <p:cNvPr id="5" name="Text 3"/>
          <p:cNvSpPr/>
          <p:nvPr/>
        </p:nvSpPr>
        <p:spPr>
          <a:xfrm>
            <a:off x="677098" y="1444228"/>
            <a:ext cx="10834756" cy="127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7098" y="1897063"/>
            <a:ext cx="759643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01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1692645" y="1897063"/>
            <a:ext cx="1001559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actually stops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1692645" y="2347119"/>
            <a:ext cx="1001559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Name the work that halts when the budget is gone, and the work that does not.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677098" y="2998192"/>
            <a:ext cx="759643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02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1692645" y="2998192"/>
            <a:ext cx="1001559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Who declares it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1692645" y="3448248"/>
            <a:ext cx="1001559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role who can say the budget is gone without convening anyone.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677098" y="4099322"/>
            <a:ext cx="759643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buNone/>
            </a:pPr>
            <a:r>
              <a:rPr lang="en-US" sz="1866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03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1692645" y="4099322"/>
            <a:ext cx="10015593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133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 refuse to promise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1692645" y="4549378"/>
            <a:ext cx="10015593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exclusions, written down before the first incident asks for them.</a:t>
            </a:r>
            <a:endParaRPr lang="en-US" sz="1866" dirty="0"/>
          </a:p>
        </p:txBody>
      </p:sp>
      <p:sp>
        <p:nvSpPr>
          <p:cNvPr id="15" name="Shape 13"/>
          <p:cNvSpPr/>
          <p:nvPr/>
        </p:nvSpPr>
        <p:spPr>
          <a:xfrm>
            <a:off x="677098" y="5308402"/>
            <a:ext cx="10834756" cy="0"/>
          </a:xfrm>
          <a:prstGeom prst="line">
            <a:avLst/>
          </a:prstGeom>
          <a:noFill/>
          <a:ln w="3809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7098" y="5530652"/>
            <a:ext cx="11051451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86"/>
              </a:lnSpc>
              <a:buNone/>
            </a:pPr>
            <a:r>
              <a:rPr lang="en-US" sz="2133" b="1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Until these three are answered, we have a metric — and metrics stop nothing.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677098" y="6113066"/>
            <a:ext cx="221033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SLO · OPERATING NOTE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6527755" y="6113066"/>
            <a:ext cx="508378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666666"/>
                </a:solidFill>
                <a:latin typeface="GeistMono" pitchFamily="34" charset="0"/>
                <a:ea typeface="GeistMono" pitchFamily="34" charset="-122"/>
                <a:cs typeface="GeistMono" pitchFamily="34" charset="-120"/>
              </a:rPr>
              <a:t>Source: none — no figures appear in this deck.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2026-08-27T16:57:28Z</dcterms:created>
  <dcterms:modified xsi:type="dcterms:W3CDTF">2026-08-27T16:57:28Z</dcterms:modified>
</cp:coreProperties>
</file>