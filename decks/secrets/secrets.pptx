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448" y="609600"/>
            <a:ext cx="11189458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spcAft>
                <a:spcPts val="1600"/>
              </a:spcAft>
              <a:buNone/>
            </a:pPr>
            <a:r>
              <a:rPr lang="en-US" sz="1466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SECRETS · PLATFORM ENGINEERING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609448" y="1073547"/>
            <a:ext cx="11189458" cy="3352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198"/>
              </a:lnSpc>
              <a:spcAft>
                <a:spcPts val="1866"/>
              </a:spcAft>
              <a:buNone/>
            </a:pPr>
            <a:r>
              <a:rPr lang="en-US" sz="8799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Revocability</a:t>
            </a:r>
            <a:endParaRPr lang="en-US" sz="8799" dirty="0"/>
          </a:p>
          <a:p>
            <a:pPr algn="l" indent="0" marL="0">
              <a:lnSpc>
                <a:spcPts val="13198"/>
              </a:lnSpc>
              <a:spcAft>
                <a:spcPts val="1866"/>
              </a:spcAft>
              <a:buNone/>
            </a:pPr>
            <a:r>
              <a:rPr lang="en-US" sz="8799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is the standard</a:t>
            </a:r>
            <a:endParaRPr lang="en-US" sz="8799" dirty="0"/>
          </a:p>
        </p:txBody>
      </p:sp>
      <p:sp>
        <p:nvSpPr>
          <p:cNvPr id="4" name="Text 2"/>
          <p:cNvSpPr/>
          <p:nvPr/>
        </p:nvSpPr>
        <p:spPr>
          <a:xfrm>
            <a:off x="609448" y="4663281"/>
            <a:ext cx="10970057" cy="2222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09448" y="4990306"/>
            <a:ext cx="11189458" cy="8060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173"/>
              </a:lnSpc>
              <a:buNone/>
            </a:pPr>
            <a:r>
              <a:rPr lang="en-US" sz="2266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rule is not “don’t commit secrets.” It is: how long does it take to revoke one — and that answer decides where a secret lives and how long it lasts.</a:t>
            </a:r>
            <a:endParaRPr lang="en-US" sz="2266" dirty="0"/>
          </a:p>
        </p:txBody>
      </p:sp>
      <p:sp>
        <p:nvSpPr>
          <p:cNvPr id="6" name="Text 4"/>
          <p:cNvSpPr/>
          <p:nvPr/>
        </p:nvSpPr>
        <p:spPr>
          <a:xfrm>
            <a:off x="609448" y="6101159"/>
            <a:ext cx="1398682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Presenter · Team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347787" y="6101159"/>
            <a:ext cx="236351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01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4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448" y="609600"/>
            <a:ext cx="11189458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spcAft>
                <a:spcPts val="800"/>
              </a:spcAft>
              <a:buNone/>
            </a:pPr>
            <a:r>
              <a:rPr lang="en-US" sz="1466" b="1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RULE WE ACTUALLY TEACH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609448" y="971947"/>
            <a:ext cx="11189458" cy="13206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399"/>
              </a:lnSpc>
              <a:spcAft>
                <a:spcPts val="1067"/>
              </a:spcAft>
              <a:buNone/>
            </a:pPr>
            <a:r>
              <a:rPr lang="en-US" sz="6932" dirty="0">
                <a:solidFill>
                  <a:srgbClr val="0E0E0E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Why the usual rule fails</a:t>
            </a:r>
            <a:endParaRPr lang="en-US" sz="6932" dirty="0"/>
          </a:p>
        </p:txBody>
      </p:sp>
      <p:sp>
        <p:nvSpPr>
          <p:cNvPr id="4" name="Text 2"/>
          <p:cNvSpPr/>
          <p:nvPr/>
        </p:nvSpPr>
        <p:spPr>
          <a:xfrm>
            <a:off x="609448" y="2427883"/>
            <a:ext cx="3498769" cy="3368477"/>
          </a:xfrm>
          <a:prstGeom prst="rect">
            <a:avLst/>
          </a:prstGeom>
          <a:noFill/>
          <a:ln w="25397">
            <a:solidFill>
              <a:srgbClr val="0E0E0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71716" y="2656483"/>
            <a:ext cx="3033716" cy="616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spcAft>
                <a:spcPts val="1067"/>
              </a:spcAft>
              <a:buNone/>
            </a:pPr>
            <a:r>
              <a:rPr lang="en-US" sz="1733" b="1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ONE LEAK PATH OF MANY</a:t>
            </a:r>
            <a:endParaRPr lang="en-US" sz="1733" dirty="0"/>
          </a:p>
        </p:txBody>
      </p:sp>
      <p:sp>
        <p:nvSpPr>
          <p:cNvPr id="6" name="Text 4"/>
          <p:cNvSpPr/>
          <p:nvPr/>
        </p:nvSpPr>
        <p:spPr>
          <a:xfrm>
            <a:off x="871716" y="3408164"/>
            <a:ext cx="3033716" cy="2209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 commit is one exit. Build logs, an error report, a screenshot in a ticket, a cached image and a laptop that has left the company are the others.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345092" y="2427883"/>
            <a:ext cx="3498769" cy="3368477"/>
          </a:xfrm>
          <a:prstGeom prst="rect">
            <a:avLst/>
          </a:prstGeom>
          <a:noFill/>
          <a:ln w="25397">
            <a:solidFill>
              <a:srgbClr val="0E0E0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607360" y="2656483"/>
            <a:ext cx="3033716" cy="6163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26"/>
              </a:lnSpc>
              <a:spcAft>
                <a:spcPts val="1067"/>
              </a:spcAft>
              <a:buNone/>
            </a:pPr>
            <a:r>
              <a:rPr lang="en-US" sz="1733" b="1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SILENT ON THE ONES ALREADY OUT</a:t>
            </a:r>
            <a:endParaRPr lang="en-US" sz="1733" dirty="0"/>
          </a:p>
        </p:txBody>
      </p:sp>
      <p:sp>
        <p:nvSpPr>
          <p:cNvPr id="9" name="Text 7"/>
          <p:cNvSpPr/>
          <p:nvPr/>
        </p:nvSpPr>
        <p:spPr>
          <a:xfrm>
            <a:off x="4607360" y="3408164"/>
            <a:ext cx="3033716" cy="2209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It is an instruction about tomorrow. Every credential already sitting in a repository, an image or a partner’s config is untouched by adopting it.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080736" y="2427883"/>
            <a:ext cx="3498769" cy="3368477"/>
          </a:xfrm>
          <a:prstGeom prst="rect">
            <a:avLst/>
          </a:prstGeom>
          <a:solidFill>
            <a:srgbClr val="FFFFFF"/>
          </a:solidFill>
          <a:ln w="25397">
            <a:solidFill>
              <a:srgbClr val="0E0E0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343004" y="2656483"/>
            <a:ext cx="3033716" cy="616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spcAft>
                <a:spcPts val="1067"/>
              </a:spcAft>
              <a:buNone/>
            </a:pPr>
            <a:r>
              <a:rPr lang="en-US" sz="1733" b="1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NO FAILURE STATE</a:t>
            </a:r>
            <a:endParaRPr lang="en-US" sz="1733" dirty="0"/>
          </a:p>
        </p:txBody>
      </p:sp>
      <p:sp>
        <p:nvSpPr>
          <p:cNvPr id="12" name="Text 10"/>
          <p:cNvSpPr/>
          <p:nvPr/>
        </p:nvSpPr>
        <p:spPr>
          <a:xfrm>
            <a:off x="8343004" y="3408164"/>
            <a:ext cx="3033716" cy="2209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Nobody can observe a secret not being committed. There is nothing to check. A revocation either happened or it did not.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09448" y="6101159"/>
            <a:ext cx="5698335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No sourced figures in this deck — the mechanism is argued, not priced.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347787" y="6101159"/>
            <a:ext cx="236351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02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F3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448" y="609600"/>
            <a:ext cx="11189458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spcAft>
                <a:spcPts val="800"/>
              </a:spcAft>
              <a:buNone/>
            </a:pPr>
            <a:r>
              <a:rPr lang="en-US" sz="1466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PROPERTY WORTH DESIGNING FOR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609448" y="971947"/>
            <a:ext cx="11189458" cy="13206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399"/>
              </a:lnSpc>
              <a:spcAft>
                <a:spcPts val="1067"/>
              </a:spcAft>
              <a:buNone/>
            </a:pPr>
            <a:r>
              <a:rPr lang="en-US" sz="6932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What makes rotation cheap</a:t>
            </a:r>
            <a:endParaRPr lang="en-US" sz="6932" dirty="0"/>
          </a:p>
        </p:txBody>
      </p:sp>
      <p:sp>
        <p:nvSpPr>
          <p:cNvPr id="4" name="Text 2"/>
          <p:cNvSpPr/>
          <p:nvPr/>
        </p:nvSpPr>
        <p:spPr>
          <a:xfrm>
            <a:off x="609448" y="2427883"/>
            <a:ext cx="10970057" cy="1032669"/>
          </a:xfrm>
          <a:prstGeom prst="rect">
            <a:avLst/>
          </a:prstGeom>
          <a:noFill/>
          <a:ln w="25397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05641" y="2605683"/>
            <a:ext cx="2590152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ONE ISSUER</a:t>
            </a:r>
            <a:endParaRPr lang="en-US" sz="1733" dirty="0"/>
          </a:p>
        </p:txBody>
      </p:sp>
      <p:sp>
        <p:nvSpPr>
          <p:cNvPr id="6" name="Text 4"/>
          <p:cNvSpPr/>
          <p:nvPr/>
        </p:nvSpPr>
        <p:spPr>
          <a:xfrm>
            <a:off x="3749730" y="2605683"/>
            <a:ext cx="7684253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One authority mints it and can end it. If two systems can both issue it, neither of them can retire it alone.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09448" y="3595886"/>
            <a:ext cx="10970057" cy="1032669"/>
          </a:xfrm>
          <a:prstGeom prst="rect">
            <a:avLst/>
          </a:prstGeom>
          <a:solidFill>
            <a:srgbClr val="FFFFFF"/>
          </a:solidFill>
          <a:ln w="25397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905641" y="3773686"/>
            <a:ext cx="2590152" cy="615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b="1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ONE PATH TO THE HOLDER</a:t>
            </a:r>
            <a:endParaRPr lang="en-US" sz="1733" dirty="0"/>
          </a:p>
        </p:txBody>
      </p:sp>
      <p:sp>
        <p:nvSpPr>
          <p:cNvPr id="9" name="Text 7"/>
          <p:cNvSpPr/>
          <p:nvPr/>
        </p:nvSpPr>
        <p:spPr>
          <a:xfrm>
            <a:off x="3749730" y="3773686"/>
            <a:ext cx="7684253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workload reads it at run time from one place. Baked into an image or a config file, there is no single path to cut.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09448" y="4763889"/>
            <a:ext cx="10970057" cy="1032669"/>
          </a:xfrm>
          <a:prstGeom prst="rect">
            <a:avLst/>
          </a:prstGeom>
          <a:noFill/>
          <a:ln w="25397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905641" y="4941689"/>
            <a:ext cx="2590152" cy="615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NO HUMAN IN THE LOOP</a:t>
            </a:r>
            <a:endParaRPr lang="en-US" sz="1733" dirty="0"/>
          </a:p>
        </p:txBody>
      </p:sp>
      <p:sp>
        <p:nvSpPr>
          <p:cNvPr id="12" name="Text 10"/>
          <p:cNvSpPr/>
          <p:nvPr/>
        </p:nvSpPr>
        <p:spPr>
          <a:xfrm>
            <a:off x="3749730" y="4941689"/>
            <a:ext cx="7684253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Rotation runs as a job on a schedule it owns. A rotation that needs a ticket happens after the incident, not before it.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09448" y="6101159"/>
            <a:ext cx="5698335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No sourced figures in this deck — the mechanism is argued, not priced.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347787" y="6101159"/>
            <a:ext cx="236351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03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4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448" y="609600"/>
            <a:ext cx="11189458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spcAft>
                <a:spcPts val="800"/>
              </a:spcAft>
              <a:buNone/>
            </a:pPr>
            <a:r>
              <a:rPr lang="en-US" sz="1466" b="1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WHAT THE POLICY CANNOT FIX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609448" y="971947"/>
            <a:ext cx="11189458" cy="13206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0399"/>
              </a:lnSpc>
              <a:spcAft>
                <a:spcPts val="1067"/>
              </a:spcAft>
              <a:buNone/>
            </a:pPr>
            <a:r>
              <a:rPr lang="en-US" sz="6932" dirty="0">
                <a:solidFill>
                  <a:srgbClr val="0E0E0E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Unrotatable means permanent</a:t>
            </a:r>
            <a:endParaRPr lang="en-US" sz="6932" dirty="0"/>
          </a:p>
        </p:txBody>
      </p:sp>
      <p:sp>
        <p:nvSpPr>
          <p:cNvPr id="4" name="Text 2"/>
          <p:cNvSpPr/>
          <p:nvPr/>
        </p:nvSpPr>
        <p:spPr>
          <a:xfrm>
            <a:off x="609448" y="2427883"/>
            <a:ext cx="3498769" cy="3368477"/>
          </a:xfrm>
          <a:prstGeom prst="rect">
            <a:avLst/>
          </a:prstGeom>
          <a:noFill/>
          <a:ln w="25397">
            <a:solidFill>
              <a:srgbClr val="0E0E0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71716" y="2656483"/>
            <a:ext cx="3033716" cy="616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spcAft>
                <a:spcPts val="1067"/>
              </a:spcAft>
              <a:buNone/>
            </a:pPr>
            <a:r>
              <a:rPr lang="en-US" sz="1733" b="1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IT OUTLIVES ITS POLICY</a:t>
            </a:r>
            <a:endParaRPr lang="en-US" sz="1733" dirty="0"/>
          </a:p>
        </p:txBody>
      </p:sp>
      <p:sp>
        <p:nvSpPr>
          <p:cNvPr id="6" name="Text 4"/>
          <p:cNvSpPr/>
          <p:nvPr/>
        </p:nvSpPr>
        <p:spPr>
          <a:xfrm>
            <a:off x="871716" y="3408164"/>
            <a:ext cx="3033716" cy="2209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policy sets a lifetime, the plumbing sets the real one. Where the two disagree the plumbing wins, and the document is what is wrong.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345092" y="2427883"/>
            <a:ext cx="3498769" cy="3368477"/>
          </a:xfrm>
          <a:prstGeom prst="rect">
            <a:avLst/>
          </a:prstGeom>
          <a:solidFill>
            <a:srgbClr val="FFFFFF"/>
          </a:solidFill>
          <a:ln w="25397">
            <a:solidFill>
              <a:srgbClr val="0E0E0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607360" y="2656483"/>
            <a:ext cx="3033716" cy="6163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26"/>
              </a:lnSpc>
              <a:spcAft>
                <a:spcPts val="1067"/>
              </a:spcAft>
              <a:buNone/>
            </a:pPr>
            <a:r>
              <a:rPr lang="en-US" sz="1733" b="1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EVERY COPY IS LOAD-BEARING</a:t>
            </a:r>
            <a:endParaRPr lang="en-US" sz="1733" dirty="0"/>
          </a:p>
        </p:txBody>
      </p:sp>
      <p:sp>
        <p:nvSpPr>
          <p:cNvPr id="9" name="Text 7"/>
          <p:cNvSpPr/>
          <p:nvPr/>
        </p:nvSpPr>
        <p:spPr>
          <a:xfrm>
            <a:off x="4607360" y="3408164"/>
            <a:ext cx="3033716" cy="2209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Embedded in a partner integration, a device image or a signed artifact, revoking it breaks something. So nobody does.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080736" y="2427883"/>
            <a:ext cx="3498769" cy="3368477"/>
          </a:xfrm>
          <a:prstGeom prst="rect">
            <a:avLst/>
          </a:prstGeom>
          <a:noFill/>
          <a:ln w="25397">
            <a:solidFill>
              <a:srgbClr val="0E0E0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343004" y="2656483"/>
            <a:ext cx="3033716" cy="616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spcAft>
                <a:spcPts val="1067"/>
              </a:spcAft>
              <a:buNone/>
            </a:pPr>
            <a:r>
              <a:rPr lang="en-US" sz="1733" b="1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EXIT IS AN OUTAGE</a:t>
            </a:r>
            <a:endParaRPr lang="en-US" sz="1733" dirty="0"/>
          </a:p>
        </p:txBody>
      </p:sp>
      <p:sp>
        <p:nvSpPr>
          <p:cNvPr id="12" name="Text 10"/>
          <p:cNvSpPr/>
          <p:nvPr/>
        </p:nvSpPr>
        <p:spPr>
          <a:xfrm>
            <a:off x="8343004" y="3408164"/>
            <a:ext cx="3033716" cy="2209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It will be revoked eventually — during an incident, by someone who did not choose the moment and cannot see who still depends on it.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09448" y="6101159"/>
            <a:ext cx="5698335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No sourced figures in this deck — the mechanism is argued, not priced.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347787" y="6101159"/>
            <a:ext cx="236351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04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3D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448" y="609600"/>
            <a:ext cx="11189458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spcAft>
                <a:spcPts val="800"/>
              </a:spcAft>
              <a:buNone/>
            </a:pPr>
            <a:r>
              <a:rPr lang="en-US" sz="1466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THREE DECISIONS, NOT THREE OPINIONS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609448" y="971947"/>
            <a:ext cx="11189458" cy="13206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399"/>
              </a:lnSpc>
              <a:spcAft>
                <a:spcPts val="1067"/>
              </a:spcAft>
              <a:buNone/>
            </a:pPr>
            <a:r>
              <a:rPr lang="en-US" sz="6932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What we need to decide</a:t>
            </a:r>
            <a:endParaRPr lang="en-US" sz="6932" dirty="0"/>
          </a:p>
        </p:txBody>
      </p:sp>
      <p:sp>
        <p:nvSpPr>
          <p:cNvPr id="4" name="Text 2"/>
          <p:cNvSpPr/>
          <p:nvPr/>
        </p:nvSpPr>
        <p:spPr>
          <a:xfrm>
            <a:off x="609448" y="2427883"/>
            <a:ext cx="10970057" cy="1032669"/>
          </a:xfrm>
          <a:prstGeom prst="rect">
            <a:avLst/>
          </a:prstGeom>
          <a:noFill/>
          <a:ln w="25397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05641" y="2605683"/>
            <a:ext cx="794246" cy="7110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99"/>
              </a:lnSpc>
              <a:buNone/>
            </a:pPr>
            <a:r>
              <a:rPr lang="en-US" sz="3733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01</a:t>
            </a:r>
            <a:endParaRPr lang="en-US" sz="3733" dirty="0"/>
          </a:p>
        </p:txBody>
      </p:sp>
      <p:sp>
        <p:nvSpPr>
          <p:cNvPr id="6" name="Text 4"/>
          <p:cNvSpPr/>
          <p:nvPr/>
        </p:nvSpPr>
        <p:spPr>
          <a:xfrm>
            <a:off x="1989037" y="2605683"/>
            <a:ext cx="2590152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KEEP RULE</a:t>
            </a:r>
            <a:endParaRPr lang="en-US" sz="1733" dirty="0"/>
          </a:p>
        </p:txBody>
      </p:sp>
      <p:sp>
        <p:nvSpPr>
          <p:cNvPr id="7" name="Text 5"/>
          <p:cNvSpPr/>
          <p:nvPr/>
        </p:nvSpPr>
        <p:spPr>
          <a:xfrm>
            <a:off x="4833126" y="2605683"/>
            <a:ext cx="6579189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Do we keep any secret we cannot rotate automatically, and if so under what named, dated and owned exception?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09448" y="3595886"/>
            <a:ext cx="10970057" cy="1032669"/>
          </a:xfrm>
          <a:prstGeom prst="rect">
            <a:avLst/>
          </a:prstGeom>
          <a:solidFill>
            <a:srgbClr val="FFFFFF"/>
          </a:solidFill>
          <a:ln w="25397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905641" y="3773686"/>
            <a:ext cx="794246" cy="7110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99"/>
              </a:lnSpc>
              <a:buNone/>
            </a:pPr>
            <a:r>
              <a:rPr lang="en-US" sz="3733" dirty="0">
                <a:solidFill>
                  <a:srgbClr val="0E0E0E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02</a:t>
            </a:r>
            <a:endParaRPr lang="en-US" sz="3733" dirty="0"/>
          </a:p>
        </p:txBody>
      </p:sp>
      <p:sp>
        <p:nvSpPr>
          <p:cNvPr id="10" name="Text 8"/>
          <p:cNvSpPr/>
          <p:nvPr/>
        </p:nvSpPr>
        <p:spPr>
          <a:xfrm>
            <a:off x="1989037" y="3773686"/>
            <a:ext cx="2590152" cy="615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b="1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REVOKE BUTTON</a:t>
            </a:r>
            <a:endParaRPr lang="en-US" sz="1733" dirty="0"/>
          </a:p>
        </p:txBody>
      </p:sp>
      <p:sp>
        <p:nvSpPr>
          <p:cNvPr id="11" name="Text 9"/>
          <p:cNvSpPr/>
          <p:nvPr/>
        </p:nvSpPr>
        <p:spPr>
          <a:xfrm>
            <a:off x="4833126" y="3773686"/>
            <a:ext cx="6579189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Who can revoke, alone, at any hour, without asking permission — and when did they last do it?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09448" y="4763889"/>
            <a:ext cx="10970057" cy="1032669"/>
          </a:xfrm>
          <a:prstGeom prst="rect">
            <a:avLst/>
          </a:prstGeom>
          <a:noFill/>
          <a:ln w="25397">
            <a:solidFill>
              <a:srgbClr val="FFFFF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905641" y="4941689"/>
            <a:ext cx="794246" cy="7110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599"/>
              </a:lnSpc>
              <a:buNone/>
            </a:pPr>
            <a:r>
              <a:rPr lang="en-US" sz="3733" dirty="0">
                <a:solidFill>
                  <a:srgbClr val="FFFFFF"/>
                </a:solidFill>
                <a:latin typeface="Anton" pitchFamily="34" charset="0"/>
                <a:ea typeface="Anton" pitchFamily="34" charset="-122"/>
                <a:cs typeface="Anton" pitchFamily="34" charset="-120"/>
              </a:rPr>
              <a:t>03</a:t>
            </a:r>
            <a:endParaRPr lang="en-US" sz="3733" dirty="0"/>
          </a:p>
        </p:txBody>
      </p:sp>
      <p:sp>
        <p:nvSpPr>
          <p:cNvPr id="14" name="Text 12"/>
          <p:cNvSpPr/>
          <p:nvPr/>
        </p:nvSpPr>
        <p:spPr>
          <a:xfrm>
            <a:off x="1989037" y="4941689"/>
            <a:ext cx="2590152" cy="615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26"/>
              </a:lnSpc>
              <a:buNone/>
            </a:pPr>
            <a:r>
              <a:rPr lang="en-US" sz="1733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ONES ALREADY OUT</a:t>
            </a:r>
            <a:endParaRPr lang="en-US" sz="1733" dirty="0"/>
          </a:p>
        </p:txBody>
      </p:sp>
      <p:sp>
        <p:nvSpPr>
          <p:cNvPr id="15" name="Text 13"/>
          <p:cNvSpPr/>
          <p:nvPr/>
        </p:nvSpPr>
        <p:spPr>
          <a:xfrm>
            <a:off x="4833126" y="4941689"/>
            <a:ext cx="6579189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What happens to the secrets already in circulation: rotate them now, or record that we treat them as permanent?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09448" y="6101159"/>
            <a:ext cx="5698335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No sourced figures in this deck — the mechanism is argued, not priced.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347787" y="6101159"/>
            <a:ext cx="236351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05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2026-08-27T18:53:19Z</dcterms:created>
  <dcterms:modified xsi:type="dcterms:W3CDTF">2026-08-27T18:53:19Z</dcterms:modified>
</cp:coreProperties>
</file>