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7098" y="541734"/>
            <a:ext cx="3941888" cy="260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ENGINEERING · INTERNAL</a:t>
            </a:r>
            <a:endParaRPr lang="en-US" sz="1466" dirty="0"/>
          </a:p>
        </p:txBody>
      </p:sp>
      <p:sp>
        <p:nvSpPr>
          <p:cNvPr id="3" name="Text 1"/>
          <p:cNvSpPr/>
          <p:nvPr/>
        </p:nvSpPr>
        <p:spPr>
          <a:xfrm>
            <a:off x="10823448" y="541734"/>
            <a:ext cx="702174" cy="260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05</a:t>
            </a:r>
            <a:endParaRPr lang="en-US" sz="1466" dirty="0"/>
          </a:p>
        </p:txBody>
      </p:sp>
      <p:sp>
        <p:nvSpPr>
          <p:cNvPr id="4" name="Text 2"/>
          <p:cNvSpPr/>
          <p:nvPr/>
        </p:nvSpPr>
        <p:spPr>
          <a:xfrm>
            <a:off x="677098" y="937816"/>
            <a:ext cx="10834756" cy="50800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77098" y="1315045"/>
            <a:ext cx="11051451" cy="934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9"/>
              </a:lnSpc>
              <a:buNone/>
            </a:pPr>
            <a:r>
              <a:rPr lang="en-US" sz="6133" b="1" dirty="0">
                <a:solidFill>
                  <a:srgbClr val="111111"/>
                </a:solidFill>
                <a:latin typeface="ArchivoBlack" pitchFamily="34" charset="0"/>
                <a:ea typeface="ArchivoBlack" pitchFamily="34" charset="-122"/>
                <a:cs typeface="ArchivoBlack" pitchFamily="34" charset="-120"/>
              </a:rPr>
              <a:t>INFRASTRUCTURE</a:t>
            </a:r>
            <a:endParaRPr lang="en-US" sz="6133" dirty="0"/>
          </a:p>
        </p:txBody>
      </p:sp>
      <p:sp>
        <p:nvSpPr>
          <p:cNvPr id="6" name="Text 4"/>
          <p:cNvSpPr/>
          <p:nvPr/>
        </p:nvSpPr>
        <p:spPr>
          <a:xfrm>
            <a:off x="677098" y="2283420"/>
            <a:ext cx="7247368" cy="2682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117"/>
              </a:lnSpc>
              <a:buNone/>
            </a:pPr>
            <a:r>
              <a:rPr lang="en-US" sz="17598" b="1" dirty="0">
                <a:solidFill>
                  <a:srgbClr val="FF4A1C"/>
                </a:solidFill>
                <a:latin typeface="ArchivoBlack" pitchFamily="34" charset="0"/>
                <a:ea typeface="ArchivoBlack" pitchFamily="34" charset="-122"/>
                <a:cs typeface="ArchivoBlack" pitchFamily="34" charset="-120"/>
              </a:rPr>
              <a:t>DRIFT</a:t>
            </a:r>
            <a:endParaRPr lang="en-US" sz="17598" dirty="0"/>
          </a:p>
        </p:txBody>
      </p:sp>
      <p:sp>
        <p:nvSpPr>
          <p:cNvPr id="7" name="Text 5"/>
          <p:cNvSpPr/>
          <p:nvPr/>
        </p:nvSpPr>
        <p:spPr>
          <a:xfrm>
            <a:off x="8120810" y="2283420"/>
            <a:ext cx="3391044" cy="2682081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425534" y="3063081"/>
            <a:ext cx="2837229" cy="374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6"/>
              </a:lnSpc>
              <a:buNone/>
            </a:pPr>
            <a:r>
              <a:rPr lang="en-US" sz="2266" b="1" dirty="0">
                <a:solidFill>
                  <a:srgbClr val="F2F0EB"/>
                </a:solidFill>
                <a:latin typeface="ArchivoBlack" pitchFamily="34" charset="0"/>
                <a:ea typeface="ArchivoBlack" pitchFamily="34" charset="-122"/>
                <a:cs typeface="ArchivoBlack" pitchFamily="34" charset="-120"/>
              </a:rPr>
              <a:t>THE CHANGE</a:t>
            </a:r>
            <a:endParaRPr lang="en-US" sz="2266" dirty="0"/>
          </a:p>
        </p:txBody>
      </p:sp>
      <p:sp>
        <p:nvSpPr>
          <p:cNvPr id="9" name="Text 7"/>
          <p:cNvSpPr/>
          <p:nvPr/>
        </p:nvSpPr>
        <p:spPr>
          <a:xfrm>
            <a:off x="8425534" y="3437334"/>
            <a:ext cx="2837229" cy="374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6"/>
              </a:lnSpc>
              <a:buNone/>
            </a:pPr>
            <a:r>
              <a:rPr lang="en-US" sz="2266" b="1" dirty="0">
                <a:solidFill>
                  <a:srgbClr val="F2F0EB"/>
                </a:solidFill>
                <a:latin typeface="ArchivoBlack" pitchFamily="34" charset="0"/>
                <a:ea typeface="ArchivoBlack" pitchFamily="34" charset="-122"/>
                <a:cs typeface="ArchivoBlack" pitchFamily="34" charset="-120"/>
              </a:rPr>
              <a:t>SOMEONE MADE</a:t>
            </a:r>
            <a:endParaRPr lang="en-US" sz="2266" dirty="0"/>
          </a:p>
        </p:txBody>
      </p:sp>
      <p:sp>
        <p:nvSpPr>
          <p:cNvPr id="10" name="Text 8"/>
          <p:cNvSpPr/>
          <p:nvPr/>
        </p:nvSpPr>
        <p:spPr>
          <a:xfrm>
            <a:off x="8425534" y="3811588"/>
            <a:ext cx="2837229" cy="374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6"/>
              </a:lnSpc>
              <a:buNone/>
            </a:pPr>
            <a:r>
              <a:rPr lang="en-US" sz="2266" b="1" dirty="0">
                <a:solidFill>
                  <a:srgbClr val="F2F0EB"/>
                </a:solidFill>
                <a:latin typeface="ArchivoBlack" pitchFamily="34" charset="0"/>
                <a:ea typeface="ArchivoBlack" pitchFamily="34" charset="-122"/>
                <a:cs typeface="ArchivoBlack" pitchFamily="34" charset="-120"/>
              </a:rPr>
              <a:t>BY HAND</a:t>
            </a:r>
            <a:endParaRPr lang="en-US" sz="2266" dirty="0"/>
          </a:p>
        </p:txBody>
      </p:sp>
      <p:sp>
        <p:nvSpPr>
          <p:cNvPr id="11" name="Text 9"/>
          <p:cNvSpPr/>
          <p:nvPr/>
        </p:nvSpPr>
        <p:spPr>
          <a:xfrm>
            <a:off x="677098" y="5168702"/>
            <a:ext cx="10360609" cy="44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spcBef>
                <a:spcPts val="1600"/>
              </a:spcBef>
              <a:buNone/>
            </a:pPr>
            <a:r>
              <a:rPr lang="en-US" sz="24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Drift is not a tooling problem. The console is still a valid write path.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77098" y="5869384"/>
            <a:ext cx="10834756" cy="50800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77098" y="6055519"/>
            <a:ext cx="2056338" cy="260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PRESENTER · TEAM</a:t>
            </a:r>
            <a:endParaRPr lang="en-US" sz="1466" dirty="0"/>
          </a:p>
        </p:txBody>
      </p:sp>
      <p:sp>
        <p:nvSpPr>
          <p:cNvPr id="14" name="Text 12"/>
          <p:cNvSpPr/>
          <p:nvPr/>
        </p:nvSpPr>
        <p:spPr>
          <a:xfrm>
            <a:off x="8890357" y="6055519"/>
            <a:ext cx="2673928" cy="260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INFRASTRUCTURE DRIFT</a:t>
            </a:r>
            <a:endParaRPr lang="en-US" sz="146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7098" y="541734"/>
            <a:ext cx="3784253" cy="260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WHAT DRIFT ACTUALLY COSTS</a:t>
            </a:r>
            <a:endParaRPr lang="en-US" sz="1466" dirty="0"/>
          </a:p>
        </p:txBody>
      </p:sp>
      <p:sp>
        <p:nvSpPr>
          <p:cNvPr id="3" name="Text 1"/>
          <p:cNvSpPr/>
          <p:nvPr/>
        </p:nvSpPr>
        <p:spPr>
          <a:xfrm>
            <a:off x="10785358" y="541734"/>
            <a:ext cx="741026" cy="260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05</a:t>
            </a:r>
            <a:endParaRPr lang="en-US" sz="1466" dirty="0"/>
          </a:p>
        </p:txBody>
      </p:sp>
      <p:sp>
        <p:nvSpPr>
          <p:cNvPr id="4" name="Text 2"/>
          <p:cNvSpPr/>
          <p:nvPr/>
        </p:nvSpPr>
        <p:spPr>
          <a:xfrm>
            <a:off x="677098" y="937816"/>
            <a:ext cx="10834756" cy="50800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77098" y="1259483"/>
            <a:ext cx="11051451" cy="690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39"/>
              </a:lnSpc>
              <a:spcAft>
                <a:spcPts val="2133"/>
              </a:spcAft>
              <a:buNone/>
            </a:pPr>
            <a:r>
              <a:rPr lang="en-US" sz="4533" b="1" dirty="0">
                <a:solidFill>
                  <a:srgbClr val="111111"/>
                </a:solidFill>
                <a:latin typeface="ArchivoBlack" pitchFamily="34" charset="0"/>
                <a:ea typeface="ArchivoBlack" pitchFamily="34" charset="-122"/>
                <a:cs typeface="ArchivoBlack" pitchFamily="34" charset="-120"/>
              </a:rPr>
              <a:t>The plan stops being true</a:t>
            </a:r>
            <a:endParaRPr lang="en-US" sz="4533" dirty="0"/>
          </a:p>
        </p:txBody>
      </p:sp>
      <p:sp>
        <p:nvSpPr>
          <p:cNvPr id="6" name="Text 4"/>
          <p:cNvSpPr/>
          <p:nvPr/>
        </p:nvSpPr>
        <p:spPr>
          <a:xfrm>
            <a:off x="677098" y="2221111"/>
            <a:ext cx="2454653" cy="1727200"/>
          </a:xfrm>
          <a:prstGeom prst="rect">
            <a:avLst/>
          </a:prstGeom>
          <a:noFill/>
          <a:ln w="25397">
            <a:solidFill>
              <a:srgbClr val="11111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05641" y="2449711"/>
            <a:ext cx="372374" cy="372467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15548" y="2531864"/>
            <a:ext cx="155409" cy="343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6"/>
              </a:lnSpc>
              <a:spcBef>
                <a:spcPts val="1067"/>
              </a:spcBef>
              <a:buNone/>
            </a:pPr>
            <a:r>
              <a:rPr lang="en-US" sz="1866" dirty="0">
                <a:solidFill>
                  <a:srgbClr val="F2F0EB"/>
                </a:solidFill>
                <a:latin typeface="ArchivoBlack" pitchFamily="34" charset="0"/>
                <a:ea typeface="ArchivoBlack" pitchFamily="34" charset="-122"/>
                <a:cs typeface="ArchivoBlack" pitchFamily="34" charset="-120"/>
              </a:rPr>
              <a:t>1</a:t>
            </a:r>
            <a:endParaRPr lang="en-US" sz="1866" dirty="0"/>
          </a:p>
        </p:txBody>
      </p:sp>
      <p:sp>
        <p:nvSpPr>
          <p:cNvPr id="9" name="Text 7"/>
          <p:cNvSpPr/>
          <p:nvPr/>
        </p:nvSpPr>
        <p:spPr>
          <a:xfrm>
            <a:off x="905641" y="2957513"/>
            <a:ext cx="2037519" cy="687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6"/>
              </a:lnSpc>
              <a:spcBef>
                <a:spcPts val="1067"/>
              </a:spcBef>
              <a:buNone/>
            </a:pPr>
            <a:r>
              <a:rPr lang="en-US" sz="1866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change is made in the console</a:t>
            </a:r>
            <a:endParaRPr lang="en-US" sz="1866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31751" y="2915444"/>
            <a:ext cx="338450" cy="33853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470201" y="2221111"/>
            <a:ext cx="2454653" cy="1727200"/>
          </a:xfrm>
          <a:prstGeom prst="rect">
            <a:avLst/>
          </a:prstGeom>
          <a:noFill/>
          <a:ln w="25397">
            <a:solidFill>
              <a:srgbClr val="11111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3698744" y="2449711"/>
            <a:ext cx="372374" cy="372467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808651" y="2531864"/>
            <a:ext cx="155409" cy="343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6"/>
              </a:lnSpc>
              <a:spcBef>
                <a:spcPts val="1067"/>
              </a:spcBef>
              <a:buNone/>
            </a:pPr>
            <a:r>
              <a:rPr lang="en-US" sz="1866" dirty="0">
                <a:solidFill>
                  <a:srgbClr val="F2F0EB"/>
                </a:solidFill>
                <a:latin typeface="ArchivoBlack" pitchFamily="34" charset="0"/>
                <a:ea typeface="ArchivoBlack" pitchFamily="34" charset="-122"/>
                <a:cs typeface="ArchivoBlack" pitchFamily="34" charset="-120"/>
              </a:rPr>
              <a:t>2</a:t>
            </a:r>
            <a:endParaRPr lang="en-US" sz="1866" dirty="0"/>
          </a:p>
        </p:txBody>
      </p:sp>
      <p:sp>
        <p:nvSpPr>
          <p:cNvPr id="14" name="Text 11"/>
          <p:cNvSpPr/>
          <p:nvPr/>
        </p:nvSpPr>
        <p:spPr>
          <a:xfrm>
            <a:off x="3698744" y="2957513"/>
            <a:ext cx="2037519" cy="687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6"/>
              </a:lnSpc>
              <a:spcBef>
                <a:spcPts val="1067"/>
              </a:spcBef>
              <a:buNone/>
            </a:pPr>
            <a:r>
              <a:rPr lang="en-US" sz="1866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shows a diff nobody ordered</a:t>
            </a:r>
            <a:endParaRPr lang="en-US" sz="1866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24854" y="2915444"/>
            <a:ext cx="338450" cy="33853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263304" y="2221111"/>
            <a:ext cx="2454653" cy="1727200"/>
          </a:xfrm>
          <a:prstGeom prst="rect">
            <a:avLst/>
          </a:prstGeom>
          <a:noFill/>
          <a:ln w="25397">
            <a:solidFill>
              <a:srgbClr val="11111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6491847" y="2449711"/>
            <a:ext cx="372374" cy="372467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6601754" y="2531864"/>
            <a:ext cx="155409" cy="343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6"/>
              </a:lnSpc>
              <a:spcBef>
                <a:spcPts val="1067"/>
              </a:spcBef>
              <a:buNone/>
            </a:pPr>
            <a:r>
              <a:rPr lang="en-US" sz="1866" dirty="0">
                <a:solidFill>
                  <a:srgbClr val="F2F0EB"/>
                </a:solidFill>
                <a:latin typeface="ArchivoBlack" pitchFamily="34" charset="0"/>
                <a:ea typeface="ArchivoBlack" pitchFamily="34" charset="-122"/>
                <a:cs typeface="ArchivoBlack" pitchFamily="34" charset="-120"/>
              </a:rPr>
              <a:t>3</a:t>
            </a:r>
            <a:endParaRPr lang="en-US" sz="1866" dirty="0"/>
          </a:p>
        </p:txBody>
      </p:sp>
      <p:sp>
        <p:nvSpPr>
          <p:cNvPr id="19" name="Text 15"/>
          <p:cNvSpPr/>
          <p:nvPr/>
        </p:nvSpPr>
        <p:spPr>
          <a:xfrm>
            <a:off x="6491847" y="2957513"/>
            <a:ext cx="2037519" cy="687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6"/>
              </a:lnSpc>
              <a:spcBef>
                <a:spcPts val="1067"/>
              </a:spcBef>
              <a:buNone/>
            </a:pPr>
            <a:r>
              <a:rPr lang="en-US" sz="1866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 is now risky, so it waits</a:t>
            </a:r>
            <a:endParaRPr lang="en-US" sz="1866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17957" y="2915444"/>
            <a:ext cx="338450" cy="33853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056407" y="2221111"/>
            <a:ext cx="2454653" cy="1727200"/>
          </a:xfrm>
          <a:prstGeom prst="rect">
            <a:avLst/>
          </a:prstGeom>
          <a:noFill/>
          <a:ln w="25397">
            <a:solidFill>
              <a:srgbClr val="11111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9284950" y="2449711"/>
            <a:ext cx="372374" cy="372467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9394857" y="2531864"/>
            <a:ext cx="155409" cy="343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6"/>
              </a:lnSpc>
              <a:spcBef>
                <a:spcPts val="1067"/>
              </a:spcBef>
              <a:buNone/>
            </a:pPr>
            <a:r>
              <a:rPr lang="en-US" sz="1866" dirty="0">
                <a:solidFill>
                  <a:srgbClr val="F2F0EB"/>
                </a:solidFill>
                <a:latin typeface="ArchivoBlack" pitchFamily="34" charset="0"/>
                <a:ea typeface="ArchivoBlack" pitchFamily="34" charset="-122"/>
                <a:cs typeface="ArchivoBlack" pitchFamily="34" charset="-120"/>
              </a:rPr>
              <a:t>4</a:t>
            </a:r>
            <a:endParaRPr lang="en-US" sz="1866" dirty="0"/>
          </a:p>
        </p:txBody>
      </p:sp>
      <p:sp>
        <p:nvSpPr>
          <p:cNvPr id="24" name="Text 19"/>
          <p:cNvSpPr/>
          <p:nvPr/>
        </p:nvSpPr>
        <p:spPr>
          <a:xfrm>
            <a:off x="9284950" y="2957513"/>
            <a:ext cx="2037519" cy="687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6"/>
              </a:lnSpc>
              <a:spcBef>
                <a:spcPts val="1067"/>
              </a:spcBef>
              <a:buNone/>
            </a:pPr>
            <a:r>
              <a:rPr lang="en-US" sz="1866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next change skips the pipeline</a:t>
            </a:r>
            <a:endParaRPr lang="en-US" sz="1866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7098" y="4049911"/>
            <a:ext cx="10834558" cy="4064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77098" y="4782344"/>
            <a:ext cx="10705828" cy="883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spcBef>
                <a:spcPts val="2567"/>
              </a:spcBef>
              <a:buNone/>
            </a:pPr>
            <a:r>
              <a:rPr lang="en-US" sz="24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Nothing here is a tooling failure. The loop closes on itself — </a:t>
            </a:r>
            <a:pPr algn="l" indent="0" marL="0">
              <a:lnSpc>
                <a:spcPts val="3480"/>
              </a:lnSpc>
              <a:spcBef>
                <a:spcPts val="2567"/>
              </a:spcBef>
              <a:buNone/>
            </a:pPr>
            <a:r>
              <a:rPr lang="en-US" sz="24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lap makes the next change by hand more reasonable than the last.</a:t>
            </a:r>
            <a:endParaRPr lang="en-US" sz="2400" dirty="0"/>
          </a:p>
        </p:txBody>
      </p:sp>
      <p:sp>
        <p:nvSpPr>
          <p:cNvPr id="27" name="Text 21"/>
          <p:cNvSpPr/>
          <p:nvPr/>
        </p:nvSpPr>
        <p:spPr>
          <a:xfrm>
            <a:off x="677098" y="5869384"/>
            <a:ext cx="10834756" cy="50800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2"/>
          <p:cNvSpPr/>
          <p:nvPr/>
        </p:nvSpPr>
        <p:spPr>
          <a:xfrm>
            <a:off x="677098" y="6055519"/>
            <a:ext cx="2673928" cy="260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INFRASTRUCTURE DRIFT</a:t>
            </a:r>
            <a:endParaRPr lang="en-US" sz="1466" dirty="0"/>
          </a:p>
        </p:txBody>
      </p:sp>
      <p:sp>
        <p:nvSpPr>
          <p:cNvPr id="29" name="Text 23"/>
          <p:cNvSpPr/>
          <p:nvPr/>
        </p:nvSpPr>
        <p:spPr>
          <a:xfrm>
            <a:off x="9766834" y="6055519"/>
            <a:ext cx="1779920" cy="260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DRIFT LOOP</a:t>
            </a:r>
            <a:endParaRPr lang="en-US" sz="1466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7098" y="541734"/>
            <a:ext cx="3417180" cy="260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WHY PEOPLE REACH FOR IT</a:t>
            </a:r>
            <a:endParaRPr lang="en-US" sz="1466" dirty="0"/>
          </a:p>
        </p:txBody>
      </p:sp>
      <p:sp>
        <p:nvSpPr>
          <p:cNvPr id="3" name="Text 1"/>
          <p:cNvSpPr/>
          <p:nvPr/>
        </p:nvSpPr>
        <p:spPr>
          <a:xfrm>
            <a:off x="10785358" y="541734"/>
            <a:ext cx="741026" cy="260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05</a:t>
            </a:r>
            <a:endParaRPr lang="en-US" sz="1466" dirty="0"/>
          </a:p>
        </p:txBody>
      </p:sp>
      <p:sp>
        <p:nvSpPr>
          <p:cNvPr id="4" name="Text 2"/>
          <p:cNvSpPr/>
          <p:nvPr/>
        </p:nvSpPr>
        <p:spPr>
          <a:xfrm>
            <a:off x="677098" y="937816"/>
            <a:ext cx="10834756" cy="50800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77098" y="1259483"/>
            <a:ext cx="11051451" cy="690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39"/>
              </a:lnSpc>
              <a:spcAft>
                <a:spcPts val="2133"/>
              </a:spcAft>
              <a:buNone/>
            </a:pPr>
            <a:r>
              <a:rPr lang="en-US" sz="4533" b="1" dirty="0">
                <a:solidFill>
                  <a:srgbClr val="111111"/>
                </a:solidFill>
                <a:latin typeface="ArchivoBlack" pitchFamily="34" charset="0"/>
                <a:ea typeface="ArchivoBlack" pitchFamily="34" charset="-122"/>
                <a:cs typeface="ArchivoBlack" pitchFamily="34" charset="-120"/>
              </a:rPr>
              <a:t>Why the console keeps winning</a:t>
            </a:r>
            <a:endParaRPr lang="en-US" sz="4533" dirty="0"/>
          </a:p>
        </p:txBody>
      </p:sp>
      <p:sp>
        <p:nvSpPr>
          <p:cNvPr id="6" name="Text 4"/>
          <p:cNvSpPr/>
          <p:nvPr/>
        </p:nvSpPr>
        <p:spPr>
          <a:xfrm>
            <a:off x="677098" y="2221111"/>
            <a:ext cx="372374" cy="372467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93353" y="2265164"/>
            <a:ext cx="142458" cy="284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2F0EB"/>
                </a:solidFill>
                <a:latin typeface="ArchivoBlack" pitchFamily="34" charset="0"/>
                <a:ea typeface="ArchivoBlack" pitchFamily="34" charset="-122"/>
                <a:cs typeface="ArchivoBlack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77098" y="2762845"/>
            <a:ext cx="3453401" cy="352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73"/>
              </a:lnSpc>
              <a:spcBef>
                <a:spcPts val="1333"/>
              </a:spcBef>
              <a:buNone/>
            </a:pPr>
            <a:r>
              <a:rPr lang="en-US" sz="2133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Faster during an incident</a:t>
            </a:r>
            <a:endParaRPr lang="en-US" sz="2133" dirty="0"/>
          </a:p>
        </p:txBody>
      </p:sp>
      <p:sp>
        <p:nvSpPr>
          <p:cNvPr id="9" name="Text 7"/>
          <p:cNvSpPr/>
          <p:nvPr/>
        </p:nvSpPr>
        <p:spPr>
          <a:xfrm>
            <a:off x="677098" y="3284141"/>
            <a:ext cx="3385688" cy="50800"/>
          </a:xfrm>
          <a:prstGeom prst="rect">
            <a:avLst/>
          </a:prstGeom>
          <a:solidFill>
            <a:srgbClr val="FF4A1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77098" y="3504208"/>
            <a:ext cx="3453401" cy="1031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6"/>
              </a:lnSpc>
              <a:buNone/>
            </a:pPr>
            <a:r>
              <a:rPr lang="en-US" sz="1866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pipeline answers in minutes. The pager answers in seconds.</a:t>
            </a:r>
            <a:endParaRPr lang="en-US" sz="1866" dirty="0"/>
          </a:p>
        </p:txBody>
      </p:sp>
      <p:sp>
        <p:nvSpPr>
          <p:cNvPr id="11" name="Text 9"/>
          <p:cNvSpPr/>
          <p:nvPr/>
        </p:nvSpPr>
        <p:spPr>
          <a:xfrm>
            <a:off x="4401235" y="2221111"/>
            <a:ext cx="372374" cy="372467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517491" y="2265164"/>
            <a:ext cx="142458" cy="284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2F0EB"/>
                </a:solidFill>
                <a:latin typeface="ArchivoBlack" pitchFamily="34" charset="0"/>
                <a:ea typeface="ArchivoBlack" pitchFamily="34" charset="-122"/>
                <a:cs typeface="ArchivoBlack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01235" y="2762845"/>
            <a:ext cx="3453401" cy="352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73"/>
              </a:lnSpc>
              <a:spcBef>
                <a:spcPts val="1333"/>
              </a:spcBef>
              <a:buNone/>
            </a:pPr>
            <a:r>
              <a:rPr lang="en-US" sz="2133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pipeline is blocked</a:t>
            </a:r>
            <a:endParaRPr lang="en-US" sz="2133" dirty="0"/>
          </a:p>
        </p:txBody>
      </p:sp>
      <p:sp>
        <p:nvSpPr>
          <p:cNvPr id="14" name="Text 12"/>
          <p:cNvSpPr/>
          <p:nvPr/>
        </p:nvSpPr>
        <p:spPr>
          <a:xfrm>
            <a:off x="4401235" y="3284141"/>
            <a:ext cx="3385688" cy="50800"/>
          </a:xfrm>
          <a:prstGeom prst="rect">
            <a:avLst/>
          </a:prstGeom>
          <a:solidFill>
            <a:srgbClr val="FF4A1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401235" y="3504208"/>
            <a:ext cx="3453401" cy="1031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6"/>
              </a:lnSpc>
              <a:buNone/>
            </a:pPr>
            <a:r>
              <a:rPr lang="en-US" sz="1866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Queued behind unrelated changes, waiting on a sleeping reviewer.</a:t>
            </a:r>
            <a:endParaRPr lang="en-US" sz="1866" dirty="0"/>
          </a:p>
        </p:txBody>
      </p:sp>
      <p:sp>
        <p:nvSpPr>
          <p:cNvPr id="16" name="Text 14"/>
          <p:cNvSpPr/>
          <p:nvPr/>
        </p:nvSpPr>
        <p:spPr>
          <a:xfrm>
            <a:off x="8125373" y="2221111"/>
            <a:ext cx="372374" cy="372467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41628" y="2265164"/>
            <a:ext cx="142458" cy="284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2F0EB"/>
                </a:solidFill>
                <a:latin typeface="ArchivoBlack" pitchFamily="34" charset="0"/>
                <a:ea typeface="ArchivoBlack" pitchFamily="34" charset="-122"/>
                <a:cs typeface="ArchivoBlack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25373" y="2762845"/>
            <a:ext cx="3453401" cy="352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73"/>
              </a:lnSpc>
              <a:spcBef>
                <a:spcPts val="1333"/>
              </a:spcBef>
              <a:buNone/>
            </a:pPr>
            <a:r>
              <a:rPr lang="en-US" sz="2133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module has no field</a:t>
            </a:r>
            <a:endParaRPr lang="en-US" sz="2133" dirty="0"/>
          </a:p>
        </p:txBody>
      </p:sp>
      <p:sp>
        <p:nvSpPr>
          <p:cNvPr id="19" name="Text 17"/>
          <p:cNvSpPr/>
          <p:nvPr/>
        </p:nvSpPr>
        <p:spPr>
          <a:xfrm>
            <a:off x="8125373" y="3284141"/>
            <a:ext cx="3385688" cy="50800"/>
          </a:xfrm>
          <a:prstGeom prst="rect">
            <a:avLst/>
          </a:prstGeom>
          <a:solidFill>
            <a:srgbClr val="FF4A1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125373" y="3504208"/>
            <a:ext cx="3453401" cy="1031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6"/>
              </a:lnSpc>
              <a:buNone/>
            </a:pPr>
            <a:r>
              <a:rPr lang="en-US" sz="1866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abstraction is behind the provider. There is no code to write.</a:t>
            </a:r>
            <a:endParaRPr lang="en-US" sz="1866" dirty="0"/>
          </a:p>
        </p:txBody>
      </p:sp>
      <p:sp>
        <p:nvSpPr>
          <p:cNvPr id="21" name="Text 19"/>
          <p:cNvSpPr/>
          <p:nvPr/>
        </p:nvSpPr>
        <p:spPr>
          <a:xfrm>
            <a:off x="677098" y="4731742"/>
            <a:ext cx="10834756" cy="934442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015548" y="5002609"/>
            <a:ext cx="10361014" cy="392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93"/>
              </a:lnSpc>
              <a:buNone/>
            </a:pPr>
            <a:r>
              <a:rPr lang="en-US" sz="2133" dirty="0">
                <a:solidFill>
                  <a:srgbClr val="F2F0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one of these is a gap in the paved path, not a failure of discipline.</a:t>
            </a:r>
            <a:endParaRPr lang="en-US" sz="2133" dirty="0"/>
          </a:p>
        </p:txBody>
      </p:sp>
      <p:sp>
        <p:nvSpPr>
          <p:cNvPr id="23" name="Text 21"/>
          <p:cNvSpPr/>
          <p:nvPr/>
        </p:nvSpPr>
        <p:spPr>
          <a:xfrm>
            <a:off x="677098" y="5869384"/>
            <a:ext cx="10834756" cy="50800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77098" y="6055519"/>
            <a:ext cx="2673928" cy="260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INFRASTRUCTURE DRIFT</a:t>
            </a:r>
            <a:endParaRPr lang="en-US" sz="1466" dirty="0"/>
          </a:p>
        </p:txBody>
      </p:sp>
      <p:sp>
        <p:nvSpPr>
          <p:cNvPr id="25" name="Text 23"/>
          <p:cNvSpPr/>
          <p:nvPr/>
        </p:nvSpPr>
        <p:spPr>
          <a:xfrm>
            <a:off x="8216830" y="6055519"/>
            <a:ext cx="3360925" cy="260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TAKE THE REASONS SERIOUSLY</a:t>
            </a:r>
            <a:endParaRPr lang="en-US" sz="1466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7098" y="541734"/>
            <a:ext cx="3365377" cy="260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ONE PATH, THE ONLY PATH</a:t>
            </a:r>
            <a:endParaRPr lang="en-US" sz="1466" dirty="0"/>
          </a:p>
        </p:txBody>
      </p:sp>
      <p:sp>
        <p:nvSpPr>
          <p:cNvPr id="3" name="Text 1"/>
          <p:cNvSpPr/>
          <p:nvPr/>
        </p:nvSpPr>
        <p:spPr>
          <a:xfrm>
            <a:off x="10772661" y="541734"/>
            <a:ext cx="753977" cy="260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05</a:t>
            </a:r>
            <a:endParaRPr lang="en-US" sz="1466" dirty="0"/>
          </a:p>
        </p:txBody>
      </p:sp>
      <p:sp>
        <p:nvSpPr>
          <p:cNvPr id="4" name="Text 2"/>
          <p:cNvSpPr/>
          <p:nvPr/>
        </p:nvSpPr>
        <p:spPr>
          <a:xfrm>
            <a:off x="677098" y="937816"/>
            <a:ext cx="10834756" cy="50800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77098" y="1259483"/>
            <a:ext cx="11051451" cy="690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39"/>
              </a:lnSpc>
              <a:spcAft>
                <a:spcPts val="1866"/>
              </a:spcAft>
              <a:buNone/>
            </a:pPr>
            <a:r>
              <a:rPr lang="en-US" sz="4533" b="1" dirty="0">
                <a:solidFill>
                  <a:srgbClr val="111111"/>
                </a:solidFill>
                <a:latin typeface="ArchivoBlack" pitchFamily="34" charset="0"/>
                <a:ea typeface="ArchivoBlack" pitchFamily="34" charset="-122"/>
                <a:cs typeface="ArchivoBlack" pitchFamily="34" charset="-120"/>
              </a:rPr>
              <a:t>Make one path the only path</a:t>
            </a:r>
            <a:endParaRPr lang="en-US" sz="4533" dirty="0"/>
          </a:p>
        </p:txBody>
      </p:sp>
      <p:sp>
        <p:nvSpPr>
          <p:cNvPr id="6" name="Text 4"/>
          <p:cNvSpPr/>
          <p:nvPr/>
        </p:nvSpPr>
        <p:spPr>
          <a:xfrm>
            <a:off x="677098" y="2187178"/>
            <a:ext cx="10834756" cy="50800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77098" y="2322513"/>
            <a:ext cx="372374" cy="372467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93353" y="2366566"/>
            <a:ext cx="142458" cy="284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2F0EB"/>
                </a:solidFill>
                <a:latin typeface="ArchivoBlack" pitchFamily="34" charset="0"/>
                <a:ea typeface="ArchivoBlack" pitchFamily="34" charset="-122"/>
                <a:cs typeface="ArchivoBlack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52621" y="2322513"/>
            <a:ext cx="3453401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733" b="1" dirty="0">
                <a:solidFill>
                  <a:srgbClr val="111111"/>
                </a:solidFill>
                <a:latin typeface="ArchivoBlack" pitchFamily="34" charset="0"/>
                <a:ea typeface="ArchivoBlack" pitchFamily="34" charset="-122"/>
                <a:cs typeface="ArchivoBlack" pitchFamily="34" charset="-120"/>
              </a:rPr>
              <a:t>READ-ONLY BY DEFAULT</a:t>
            </a:r>
            <a:endParaRPr lang="en-US" sz="1733" dirty="0"/>
          </a:p>
        </p:txBody>
      </p:sp>
      <p:sp>
        <p:nvSpPr>
          <p:cNvPr id="10" name="Text 8"/>
          <p:cNvSpPr/>
          <p:nvPr/>
        </p:nvSpPr>
        <p:spPr>
          <a:xfrm>
            <a:off x="4841458" y="2322513"/>
            <a:ext cx="6803804" cy="687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6"/>
              </a:lnSpc>
              <a:buNone/>
            </a:pPr>
            <a:r>
              <a:rPr lang="en-US" sz="1866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roles in production carry read and describe. Write belongs to the pipeline’s identity, and to nothing else.</a:t>
            </a:r>
            <a:endParaRPr lang="en-US" sz="1866" dirty="0"/>
          </a:p>
        </p:txBody>
      </p:sp>
      <p:sp>
        <p:nvSpPr>
          <p:cNvPr id="11" name="Text 9"/>
          <p:cNvSpPr/>
          <p:nvPr/>
        </p:nvSpPr>
        <p:spPr>
          <a:xfrm>
            <a:off x="677098" y="3094434"/>
            <a:ext cx="10834756" cy="50800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77098" y="3229769"/>
            <a:ext cx="372374" cy="372467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93353" y="3273822"/>
            <a:ext cx="142458" cy="284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2F0EB"/>
                </a:solidFill>
                <a:latin typeface="ArchivoBlack" pitchFamily="34" charset="0"/>
                <a:ea typeface="ArchivoBlack" pitchFamily="34" charset="-122"/>
                <a:cs typeface="ArchivoBlack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52621" y="3229769"/>
            <a:ext cx="3453401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733" b="1" dirty="0">
                <a:solidFill>
                  <a:srgbClr val="111111"/>
                </a:solidFill>
                <a:latin typeface="ArchivoBlack" pitchFamily="34" charset="0"/>
                <a:ea typeface="ArchivoBlack" pitchFamily="34" charset="-122"/>
                <a:cs typeface="ArchivoBlack" pitchFamily="34" charset="-120"/>
              </a:rPr>
              <a:t>BREAK-GLASS EXPIRES</a:t>
            </a:r>
            <a:endParaRPr lang="en-US" sz="1733" dirty="0"/>
          </a:p>
        </p:txBody>
      </p:sp>
      <p:sp>
        <p:nvSpPr>
          <p:cNvPr id="15" name="Text 13"/>
          <p:cNvSpPr/>
          <p:nvPr/>
        </p:nvSpPr>
        <p:spPr>
          <a:xfrm>
            <a:off x="4841458" y="3229769"/>
            <a:ext cx="6803804" cy="687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6"/>
              </a:lnSpc>
              <a:buNone/>
            </a:pPr>
            <a:r>
              <a:rPr lang="en-US" sz="1866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Elevation is one click, time-boxed, and it writes a record: who, what, why, and when it lapsed.</a:t>
            </a:r>
            <a:endParaRPr lang="en-US" sz="1866" dirty="0"/>
          </a:p>
        </p:txBody>
      </p:sp>
      <p:sp>
        <p:nvSpPr>
          <p:cNvPr id="16" name="Text 14"/>
          <p:cNvSpPr/>
          <p:nvPr/>
        </p:nvSpPr>
        <p:spPr>
          <a:xfrm>
            <a:off x="677098" y="4001691"/>
            <a:ext cx="10834756" cy="50800"/>
          </a:xfrm>
          <a:prstGeom prst="rect">
            <a:avLst/>
          </a:prstGeom>
          <a:solidFill>
            <a:srgbClr val="FF4A1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77098" y="4137025"/>
            <a:ext cx="372374" cy="372467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93353" y="4181078"/>
            <a:ext cx="142458" cy="284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2F0EB"/>
                </a:solidFill>
                <a:latin typeface="ArchivoBlack" pitchFamily="34" charset="0"/>
                <a:ea typeface="ArchivoBlack" pitchFamily="34" charset="-122"/>
                <a:cs typeface="ArchivoBlack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52621" y="4137025"/>
            <a:ext cx="3453401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733" b="1" dirty="0">
                <a:solidFill>
                  <a:srgbClr val="111111"/>
                </a:solidFill>
                <a:latin typeface="ArchivoBlack" pitchFamily="34" charset="0"/>
                <a:ea typeface="ArchivoBlack" pitchFamily="34" charset="-122"/>
                <a:cs typeface="ArchivoBlack" pitchFamily="34" charset="-120"/>
              </a:rPr>
              <a:t>CLOSE THE GAP</a:t>
            </a:r>
            <a:endParaRPr lang="en-US" sz="1733" dirty="0"/>
          </a:p>
        </p:txBody>
      </p:sp>
      <p:sp>
        <p:nvSpPr>
          <p:cNvPr id="20" name="Text 18"/>
          <p:cNvSpPr/>
          <p:nvPr/>
        </p:nvSpPr>
        <p:spPr>
          <a:xfrm>
            <a:off x="4841458" y="4137025"/>
            <a:ext cx="6803804" cy="687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6"/>
              </a:lnSpc>
              <a:buNone/>
            </a:pPr>
            <a:r>
              <a:rPr lang="en-US" sz="1866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use of the glass files a ticket against the paved path: the slow step, the missing field.</a:t>
            </a:r>
            <a:endParaRPr lang="en-US" sz="1866" dirty="0"/>
          </a:p>
        </p:txBody>
      </p:sp>
      <p:sp>
        <p:nvSpPr>
          <p:cNvPr id="21" name="Text 19"/>
          <p:cNvSpPr/>
          <p:nvPr/>
        </p:nvSpPr>
        <p:spPr>
          <a:xfrm>
            <a:off x="677098" y="4908947"/>
            <a:ext cx="10834756" cy="50800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77098" y="5273477"/>
            <a:ext cx="11051451" cy="392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93"/>
              </a:lnSpc>
              <a:spcBef>
                <a:spcPts val="2470"/>
              </a:spcBef>
              <a:buNone/>
            </a:pPr>
            <a:r>
              <a:rPr lang="en-US" sz="2133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the first two without the third and the drift just moves out of sight.</a:t>
            </a:r>
            <a:endParaRPr lang="en-US" sz="2133" dirty="0"/>
          </a:p>
        </p:txBody>
      </p:sp>
      <p:sp>
        <p:nvSpPr>
          <p:cNvPr id="23" name="Text 21"/>
          <p:cNvSpPr/>
          <p:nvPr/>
        </p:nvSpPr>
        <p:spPr>
          <a:xfrm>
            <a:off x="677098" y="5869384"/>
            <a:ext cx="10834756" cy="50800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77098" y="6055519"/>
            <a:ext cx="2673928" cy="260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INFRASTRUCTURE DRIFT</a:t>
            </a:r>
            <a:endParaRPr lang="en-US" sz="1466" dirty="0"/>
          </a:p>
        </p:txBody>
      </p:sp>
      <p:sp>
        <p:nvSpPr>
          <p:cNvPr id="25" name="Text 23"/>
          <p:cNvSpPr/>
          <p:nvPr/>
        </p:nvSpPr>
        <p:spPr>
          <a:xfrm>
            <a:off x="6249615" y="6055519"/>
            <a:ext cx="5367484" cy="260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THIRD MOVE IS THE ONE THAT GETS SKIPPED</a:t>
            </a:r>
            <a:endParaRPr lang="en-US" sz="1466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7098" y="541734"/>
            <a:ext cx="3389052" cy="260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· WHAT WE HAVE TO DECIDE</a:t>
            </a:r>
            <a:endParaRPr lang="en-US" sz="1466" dirty="0"/>
          </a:p>
        </p:txBody>
      </p:sp>
      <p:sp>
        <p:nvSpPr>
          <p:cNvPr id="3" name="Text 1"/>
          <p:cNvSpPr/>
          <p:nvPr/>
        </p:nvSpPr>
        <p:spPr>
          <a:xfrm>
            <a:off x="10785358" y="541734"/>
            <a:ext cx="741026" cy="260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05</a:t>
            </a:r>
            <a:endParaRPr lang="en-US" sz="1466" dirty="0"/>
          </a:p>
        </p:txBody>
      </p:sp>
      <p:sp>
        <p:nvSpPr>
          <p:cNvPr id="4" name="Text 2"/>
          <p:cNvSpPr/>
          <p:nvPr/>
        </p:nvSpPr>
        <p:spPr>
          <a:xfrm>
            <a:off x="677098" y="937816"/>
            <a:ext cx="10834756" cy="50800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77098" y="1633934"/>
            <a:ext cx="5525523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99"/>
              </a:lnSpc>
              <a:buNone/>
            </a:pPr>
            <a:r>
              <a:rPr lang="en-US" sz="7999" b="1" dirty="0">
                <a:solidFill>
                  <a:srgbClr val="111111"/>
                </a:solidFill>
                <a:latin typeface="ArchivoBlack" pitchFamily="34" charset="0"/>
                <a:ea typeface="ArchivoBlack" pitchFamily="34" charset="-122"/>
                <a:cs typeface="ArchivoBlack" pitchFamily="34" charset="-120"/>
              </a:rPr>
              <a:t>WHAT WE</a:t>
            </a:r>
            <a:endParaRPr lang="en-US" sz="7999" dirty="0"/>
          </a:p>
        </p:txBody>
      </p:sp>
      <p:sp>
        <p:nvSpPr>
          <p:cNvPr id="6" name="Text 4"/>
          <p:cNvSpPr/>
          <p:nvPr/>
        </p:nvSpPr>
        <p:spPr>
          <a:xfrm>
            <a:off x="677098" y="2853134"/>
            <a:ext cx="5525523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99"/>
              </a:lnSpc>
              <a:buNone/>
            </a:pPr>
            <a:r>
              <a:rPr lang="en-US" sz="7999" b="1" dirty="0">
                <a:solidFill>
                  <a:srgbClr val="111111"/>
                </a:solidFill>
                <a:latin typeface="ArchivoBlack" pitchFamily="34" charset="0"/>
                <a:ea typeface="ArchivoBlack" pitchFamily="34" charset="-122"/>
                <a:cs typeface="ArchivoBlack" pitchFamily="34" charset="-120"/>
              </a:rPr>
              <a:t>HAVE TO</a:t>
            </a:r>
            <a:endParaRPr lang="en-US" sz="7999" dirty="0"/>
          </a:p>
        </p:txBody>
      </p:sp>
      <p:sp>
        <p:nvSpPr>
          <p:cNvPr id="7" name="Text 5"/>
          <p:cNvSpPr/>
          <p:nvPr/>
        </p:nvSpPr>
        <p:spPr>
          <a:xfrm>
            <a:off x="677098" y="4072334"/>
            <a:ext cx="5525523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99"/>
              </a:lnSpc>
              <a:buNone/>
            </a:pPr>
            <a:r>
              <a:rPr lang="en-US" sz="7999" b="1" dirty="0">
                <a:solidFill>
                  <a:srgbClr val="FF4A1C"/>
                </a:solidFill>
                <a:latin typeface="ArchivoBlack" pitchFamily="34" charset="0"/>
                <a:ea typeface="ArchivoBlack" pitchFamily="34" charset="-122"/>
                <a:cs typeface="ArchivoBlack" pitchFamily="34" charset="-120"/>
              </a:rPr>
              <a:t>DECIDE</a:t>
            </a:r>
            <a:endParaRPr lang="en-US" sz="7999" dirty="0"/>
          </a:p>
        </p:txBody>
      </p:sp>
      <p:sp>
        <p:nvSpPr>
          <p:cNvPr id="8" name="Text 6"/>
          <p:cNvSpPr/>
          <p:nvPr/>
        </p:nvSpPr>
        <p:spPr>
          <a:xfrm>
            <a:off x="6500576" y="1697633"/>
            <a:ext cx="5011278" cy="50800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500576" y="1917700"/>
            <a:ext cx="372374" cy="372467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500576" y="1919684"/>
            <a:ext cx="379822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F2F0EB"/>
                </a:solidFill>
                <a:latin typeface="ArchivoBlack" pitchFamily="34" charset="0"/>
                <a:ea typeface="ArchivoBlack" pitchFamily="34" charset="-122"/>
                <a:cs typeface="ArchivoBlack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076099" y="1917700"/>
            <a:ext cx="452447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holds the break-glass, and how long before it lapses?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00576" y="2857500"/>
            <a:ext cx="5011278" cy="50800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500576" y="3077567"/>
            <a:ext cx="372374" cy="372467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500576" y="3079552"/>
            <a:ext cx="379822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F2F0EB"/>
                </a:solidFill>
                <a:latin typeface="ArchivoBlack" pitchFamily="34" charset="0"/>
                <a:ea typeface="ArchivoBlack" pitchFamily="34" charset="-122"/>
                <a:cs typeface="ArchivoBlack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076099" y="3077567"/>
            <a:ext cx="452447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gap do we close first: the slow step or the missing field?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500576" y="4017367"/>
            <a:ext cx="5011278" cy="50800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500576" y="4237434"/>
            <a:ext cx="372374" cy="372467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500576" y="4239419"/>
            <a:ext cx="379822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F2F0EB"/>
                </a:solidFill>
                <a:latin typeface="ArchivoBlack" pitchFamily="34" charset="0"/>
                <a:ea typeface="ArchivoBlack" pitchFamily="34" charset="-122"/>
                <a:cs typeface="ArchivoBlack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076099" y="4237434"/>
            <a:ext cx="452447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do we do with the drift that is already in production?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500576" y="5177234"/>
            <a:ext cx="5011278" cy="50800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77098" y="5869384"/>
            <a:ext cx="10834756" cy="50800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77098" y="6055519"/>
            <a:ext cx="2056338" cy="260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PRESENTER · TEAM</a:t>
            </a:r>
            <a:endParaRPr lang="en-US" sz="1466" dirty="0"/>
          </a:p>
        </p:txBody>
      </p:sp>
      <p:sp>
        <p:nvSpPr>
          <p:cNvPr id="23" name="Text 21"/>
          <p:cNvSpPr/>
          <p:nvPr/>
        </p:nvSpPr>
        <p:spPr>
          <a:xfrm>
            <a:off x="8890357" y="6055519"/>
            <a:ext cx="2673928" cy="260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INFRASTRUCTURE DRIFT</a:t>
            </a:r>
            <a:endParaRPr lang="en-US" sz="146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2026-08-27T14:37:00Z</dcterms:created>
  <dcterms:modified xsi:type="dcterms:W3CDTF">2026-08-27T14:37:00Z</dcterms:modified>
</cp:coreProperties>
</file>