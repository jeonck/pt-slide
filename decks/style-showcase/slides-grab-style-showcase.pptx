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</p:sldIdLst>
  <p:notesMasterIdLst>
    <p:notesMasterId r:id="rId9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notesMaster" Target="notesMasters/notesMaster1.xml"/><Relationship Id="rId95" Type="http://schemas.openxmlformats.org/officeDocument/2006/relationships/presProps" Target="presProps.xml"/><Relationship Id="rId96" Type="http://schemas.openxmlformats.org/officeDocument/2006/relationships/viewProps" Target="viewProps.xml"/><Relationship Id="rId97" Type="http://schemas.openxmlformats.org/officeDocument/2006/relationships/theme" Target="theme/theme1.xml"/><Relationship Id="rId9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E0E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01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74317"/>
            <a:ext cx="5947030" cy="7941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505398"/>
            <a:ext cx="1625194" cy="67667"/>
          </a:xfrm>
          <a:prstGeom prst="rect">
            <a:avLst/>
          </a:prstGeom>
          <a:solidFill>
            <a:srgbClr val="E0E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76266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0E0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Premium · Tech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6017" y="5664002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6017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91788" y="5664002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91788" y="59180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glassmorphism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oundRect">
            <a:avLst>
              <a:gd name="adj" fmla="val 3710"/>
            </a:avLst>
          </a:prstGeom>
          <a:solidFill>
            <a:srgbClr val="2A2A5A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SaaS, AI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#E0E0F0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#1A1A4E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DCD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#2A2A5A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E0E0F0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#E0E0F0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A1A4E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#1A1A4E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2A2A5A"/>
          </a:solidFill>
          <a:ln w="12698">
            <a:solidFill>
              <a:srgbClr val="4C4C7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CDD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#2A2A5A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02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61617"/>
            <a:ext cx="5947030" cy="7941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Neo-Brutalism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492698"/>
            <a:ext cx="1625194" cy="67667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63566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Bold · Startup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neo-brutalism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4E400"/>
          </a:solidFill>
          <a:ln w="38095">
            <a:solidFill>
              <a:srgbClr val="000000"/>
            </a:solidFill>
          </a:ln>
          <a:effectLst>
            <a:outerShdw sx="100000" sy="100000" kx="0" ky="0" algn="bl" rotWithShape="0" blurRad="101600" dist="143666" dir="27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56434" y="1963737"/>
            <a:ext cx="4025259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56434" y="3684587"/>
            <a:ext cx="402525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Pitch decks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#E4E400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453588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4826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502707" y="5613598"/>
            <a:ext cx="1453588" cy="236934"/>
          </a:xfrm>
          <a:prstGeom prst="rect">
            <a:avLst/>
          </a:prstGeom>
          <a:solidFill>
            <a:srgbClr val="F5F5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502707" y="5918200"/>
            <a:ext cx="14826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#F5F500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0057869" y="5613598"/>
            <a:ext cx="1453588" cy="236934"/>
          </a:xfrm>
          <a:prstGeom prst="rect">
            <a:avLst/>
          </a:prstGeom>
          <a:solidFill>
            <a:srgbClr val="E4E4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057869" y="5918200"/>
            <a:ext cx="14826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636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#E4E400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6B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03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4194966" y="1362273"/>
            <a:ext cx="3798823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Bento Grid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C7C7C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94966" y="2869605"/>
            <a:ext cx="379882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Modular · Structured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194966" y="3391892"/>
            <a:ext cx="379882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features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8E8E4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#F8F8F2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#1A1A2E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#E8FF3B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5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#FF6B6B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8F8F2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#F8F8F2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A2E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#1A1A2E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8FF3B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#E8FF3B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6B6B"/>
          </a:solidFill>
          <a:ln w="12698">
            <a:solidFill>
              <a:srgbClr val="C7C7C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#FF6B6B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A73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04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569078" y="1419027"/>
            <a:ext cx="5050797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Academia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D2E1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69078" y="2812852"/>
            <a:ext cx="5050797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A73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Scholarly · Refined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569078" y="3335139"/>
            <a:ext cx="505079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Education, research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61D0D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#C9A84C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#D4BF9A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C9A8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#3D2E10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A1208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C9A84C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#C9A84C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D4BF9A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#D4BF9A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3D2E10"/>
          </a:solidFill>
          <a:ln w="12698">
            <a:solidFill>
              <a:srgbClr val="3D2E1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87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#3D2E10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6E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05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0A0A0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Gradient Mesh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Artistic · Vibrant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#FF6EC7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#7B61FF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#00D4FF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#FFB347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FF6EC7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#FF6EC7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7B61FF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#7B61FF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00D4FF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#00D4FF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FFB347"/>
          </a:solidFill>
          <a:ln w="12698">
            <a:solidFill>
              <a:srgbClr val="C9589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20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#FFB347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gradient-mesh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020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C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07070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06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649615" y="1362273"/>
            <a:ext cx="4889722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Claymorphism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C9BAA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49615" y="2869605"/>
            <a:ext cx="488972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7070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Friendly · 3D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649615" y="3391892"/>
            <a:ext cx="488972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Apps, education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EEDCC4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#A8EDEA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#FED6E3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#FFEAA7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C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#FFECD2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A8EDEA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#A8EDEA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ED6E3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#FED6E3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FEAA7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#FFEAA7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ECD2"/>
          </a:solidFill>
          <a:ln w="12698">
            <a:solidFill>
              <a:srgbClr val="C9BA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C3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#FFECD2</a:t>
            </a:r>
            <a:endParaRPr lang="en-US" sz="133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475381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Swiss International Style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647538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Functional · Corporate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07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EEEEEE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EEEEEE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2214580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Consulting, finance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#E8000D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#444444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11111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E8000D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#E8000D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444444"/>
          </a:solidFill>
          <a:ln w="12698">
            <a:solidFill>
              <a:srgbClr val="CBCBC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#444444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444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swiss-international-style</a:t>
            </a:r>
            <a:endParaRPr lang="en-US" sz="133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00FF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08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986293" y="1419027"/>
            <a:ext cx="6216366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Aurora Neon Glow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232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86293" y="2812852"/>
            <a:ext cx="621636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FF8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Futuristic · AI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986293" y="3335139"/>
            <a:ext cx="6216366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AI, cybersecurity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31320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#050510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#00FF88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#7B00FF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0D0F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#00B4FF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50510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#050510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0FF88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#00FF88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7B00FF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#7B00FF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00B4FF"/>
          </a:solidFill>
          <a:ln w="12698">
            <a:solidFill>
              <a:srgbClr val="32324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3A3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#00B4FF</a:t>
            </a:r>
            <a:endParaRPr lang="en-US" sz="133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FF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09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4113009" y="1362273"/>
            <a:ext cx="3962933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Retro Y2K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3838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3009" y="2869605"/>
            <a:ext cx="396293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Nostalgic · Pop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113009" y="3391892"/>
            <a:ext cx="396293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Events, marketing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21289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#000080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#FFFF00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#121289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00080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#000080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FFF00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#FFFF00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121289"/>
          </a:solidFill>
          <a:ln w="12698">
            <a:solidFill>
              <a:srgbClr val="38389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7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#121289</a:t>
            </a:r>
            <a:endParaRPr lang="en-US" sz="133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CC8C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10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BUILTIN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Nordic Minimalism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Calm · Natural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ect">
            <a:avLst/>
          </a:prstGeom>
          <a:solidFill>
            <a:srgbClr val="E7E4DF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720243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#F4F1EC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#D9CFC4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#3D3530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#8A7A6A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1103830" cy="236934"/>
          </a:xfrm>
          <a:prstGeom prst="rect">
            <a:avLst/>
          </a:prstGeom>
          <a:solidFill>
            <a:srgbClr val="F4F1EC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11259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#F4F1EC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405923" y="5613400"/>
            <a:ext cx="1103830" cy="236934"/>
          </a:xfrm>
          <a:prstGeom prst="rect">
            <a:avLst/>
          </a:prstGeom>
          <a:solidFill>
            <a:srgbClr val="D9CFC4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05923" y="5918002"/>
            <a:ext cx="11259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#D9CFC4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611328" y="5613400"/>
            <a:ext cx="1103830" cy="236934"/>
          </a:xfrm>
          <a:prstGeom prst="rect">
            <a:avLst/>
          </a:prstGeom>
          <a:solidFill>
            <a:srgbClr val="3D3530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11328" y="5918002"/>
            <a:ext cx="11259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#3D3530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816733" y="5613400"/>
            <a:ext cx="1103830" cy="236934"/>
          </a:xfrm>
          <a:prstGeom prst="rect">
            <a:avLst/>
          </a:prstGeom>
          <a:solidFill>
            <a:srgbClr val="8A7A6A"/>
          </a:solidFill>
          <a:ln w="12698">
            <a:solidFill>
              <a:srgbClr val="CCC8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816733" y="5918002"/>
            <a:ext cx="11259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#8A7A6A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327060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327060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227741" y="56386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227741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785086" y="5638602"/>
            <a:ext cx="17613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55E5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785086" y="5918002"/>
            <a:ext cx="17613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D35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nordic-minimalism</a:t>
            </a:r>
            <a:endParaRPr lang="en-US" sz="133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1BFB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11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BUILTIN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Typographic Bold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Editorial · Impact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ect">
            <a:avLst/>
          </a:prstGeom>
          <a:solidFill>
            <a:srgbClr val="E1DEDA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82181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#F0EDE8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#AAAAAA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1129224" cy="236934"/>
          </a:xfrm>
          <a:prstGeom prst="rect">
            <a:avLst/>
          </a:prstGeom>
          <a:solidFill>
            <a:srgbClr val="F0EDE8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11518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#F0EDE8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431317" y="5613400"/>
            <a:ext cx="1129224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431317" y="5918002"/>
            <a:ext cx="11518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662115" y="5613400"/>
            <a:ext cx="1129224" cy="236934"/>
          </a:xfrm>
          <a:prstGeom prst="rect">
            <a:avLst/>
          </a:prstGeom>
          <a:solidFill>
            <a:srgbClr val="E63030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62115" y="5918002"/>
            <a:ext cx="11518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892914" y="5613400"/>
            <a:ext cx="1129224" cy="236934"/>
          </a:xfrm>
          <a:prstGeom prst="rect">
            <a:avLst/>
          </a:prstGeom>
          <a:solidFill>
            <a:srgbClr val="AAAAAA"/>
          </a:solidFill>
          <a:ln w="12698">
            <a:solidFill>
              <a:srgbClr val="C1BF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892914" y="5918002"/>
            <a:ext cx="11518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#AAAAAA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428635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428635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329316" y="56386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329316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886661" y="5638602"/>
            <a:ext cx="165769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886661" y="5918002"/>
            <a:ext cx="165769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typographic-bold</a:t>
            </a:r>
            <a:endParaRPr lang="en-US" sz="133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45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12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178050"/>
            <a:ext cx="5947030" cy="1361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Duotone / Color Split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776266"/>
            <a:ext cx="1625194" cy="6766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047133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Dramatic · Contrast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duotone-color-split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F4203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963737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684587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C160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Strategy decks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#FF4500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#EF4203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4500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#FF4500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A1A2E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#1A1A2E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EF4203"/>
          </a:solidFill>
          <a:ln w="12698">
            <a:solidFill>
              <a:srgbClr val="CD3C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23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#EF4203</a:t>
            </a:r>
            <a:endParaRPr lang="en-US" sz="133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8888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13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97770" y="1419027"/>
            <a:ext cx="6993411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Monochrome Minimal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E0E0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97770" y="2812852"/>
            <a:ext cx="699341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8888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Restrained · Luxury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97770" y="3335139"/>
            <a:ext cx="699341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Luxury brands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AEAEA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#E0E0E0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#888888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AFAFA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0E0E0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#E0E0E0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88888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B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#888888</a:t>
            </a:r>
            <a:endParaRPr lang="en-US" sz="1333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14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792032" y="1419027"/>
            <a:ext cx="6604888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Cyberpunk Outline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4242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792032" y="2812852"/>
            <a:ext cx="660488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HUD · Sci-Fi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792032" y="3335139"/>
            <a:ext cx="660488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Gaming, infra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E1E1E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#0D0D0D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#1E1E1E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#424242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D0D0D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#0D0D0D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E1E1E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#1E1E1E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424242"/>
          </a:solidFill>
          <a:ln w="12698">
            <a:solidFill>
              <a:srgbClr val="4242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#424242</a:t>
            </a:r>
            <a:endParaRPr lang="en-US" sz="1333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E6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15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97770" y="1419027"/>
            <a:ext cx="6993411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Editorial Magazine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E6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97770" y="2812852"/>
            <a:ext cx="699341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630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Magazine · Story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97770" y="3335139"/>
            <a:ext cx="699341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Annual reviews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FEFEF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#BBBBBB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63030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BBBBBB"/>
          </a:solidFill>
          <a:ln w="12698">
            <a:solidFill>
              <a:srgbClr val="E630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#BBBBBB</a:t>
            </a:r>
            <a:endParaRPr lang="en-US" sz="1333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E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3170508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 Soft UI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317050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2819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Soft · App-like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A2819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16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oundRect">
            <a:avLst>
              <a:gd name="adj" fmla="val 4914"/>
            </a:avLst>
          </a:prstGeom>
          <a:solidFill>
            <a:srgbClr val="EBD5E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oundRect">
            <a:avLst>
              <a:gd name="adj" fmla="val 6329"/>
            </a:avLst>
          </a:prstGeom>
          <a:solidFill>
            <a:srgbClr val="EBD5E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168359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Healthcare, beauty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#F9C6E8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#C6E8F9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#FCE4F3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#EBD5E3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9C6E8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#F9C6E8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C6E8F9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#C6E8F9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FCE4F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#FCE4F3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BD5E3"/>
          </a:solidFill>
          <a:ln w="12698">
            <a:solidFill>
              <a:srgbClr val="C7B4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F3A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#EBD5E3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45048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F3A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45048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pastel-soft-ui</a:t>
            </a:r>
            <a:endParaRPr lang="en-US" sz="1333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9F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17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80555" y="1419027"/>
            <a:ext cx="5827843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Neon Miami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40181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80555" y="2812852"/>
            <a:ext cx="582784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9F7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Synthwave · 80s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80555" y="3335139"/>
            <a:ext cx="582784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Entertainment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B0716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#0A0014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#FF6B35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#1B0716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6B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#FF9F7C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A0014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#0A0014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6B35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#FF6B35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B0716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#1B0716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9F7C"/>
          </a:solidFill>
          <a:ln w="12698">
            <a:solidFill>
              <a:srgbClr val="40181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532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#FF9F7C</a:t>
            </a:r>
            <a:endParaRPr lang="en-US" sz="1333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A878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18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856786" y="1487091"/>
            <a:ext cx="6475381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Hand-crafted Organic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DDD1C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56786" y="2744788"/>
            <a:ext cx="647538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78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Natural · Eco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856786" y="3267075"/>
            <a:ext cx="647538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Eco brands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3EAE0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#FDF6EE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#C8A882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#A87850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6B4C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#6B4C2A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DF6EE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#FDF6EE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C8A882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#C8A882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A87850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#A87850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6B4C2A"/>
          </a:solidFill>
          <a:ln w="12698">
            <a:solidFill>
              <a:srgbClr val="DDD1C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B715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#6B4C2A</a:t>
            </a:r>
            <a:endParaRPr lang="en-US" sz="1333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A594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19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792032" y="1419027"/>
            <a:ext cx="6604888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Isometric 3D Flat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C38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792032" y="2812852"/>
            <a:ext cx="660488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Technical · Structured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792032" y="3335139"/>
            <a:ext cx="660488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IT architecture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7263D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#1E1E2E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#7C6FFF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#4A3FCC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A59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#6254E8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E1E2E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#1E1E2E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7C6FFF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#7C6FFF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4A3FCC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#4A3FCC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6254E8"/>
          </a:solidFill>
          <a:ln w="12698">
            <a:solidFill>
              <a:srgbClr val="3C38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77AD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#6254E8</a:t>
            </a:r>
            <a:endParaRPr lang="en-US" sz="1333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0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FC18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20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4113009" y="1362273"/>
            <a:ext cx="3962933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Vaporwave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4C27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113009" y="2869605"/>
            <a:ext cx="396293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C18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Dreamy · Subculture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113009" y="3391892"/>
            <a:ext cx="396293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Creative agencies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A1034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#1A0533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#FF9F43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#2A1034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9F4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#FFC185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A0533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#1A0533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9F43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#FF9F43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2A1034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#2A1034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C185"/>
          </a:solidFill>
          <a:ln w="12698">
            <a:solidFill>
              <a:srgbClr val="4C27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D7D3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#FFC185</a:t>
            </a:r>
            <a:endParaRPr lang="en-US" sz="1333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0A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B8960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21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569078" y="1419027"/>
            <a:ext cx="5050797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Art Deco Luxe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B8960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69078" y="2812852"/>
            <a:ext cx="5050797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8960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Gold · Geometric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569078" y="3335139"/>
            <a:ext cx="505079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Luxury, gala events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C1508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#0E0A05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#B8960C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#D4AA2A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D4AA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#8A7020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E0A05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#0E0A05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B8960C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#B8960C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D4AA2A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#D4AA2A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7020"/>
          </a:solidFill>
          <a:ln w="12698">
            <a:solidFill>
              <a:srgbClr val="B8960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872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#8A7020</a:t>
            </a:r>
            <a:endParaRPr lang="en-US" sz="1333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EF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921289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Brutalist Newspaper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492128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A120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Editorial · Raw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1A120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22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E5E2DA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E5E2DA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174835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Media, research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#F2EFE8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#3A3020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#E5E2DA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2EFE8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#F2EFE8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A1208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#1A1208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3A3020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#3A3020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E5E2DA"/>
          </a:solidFill>
          <a:ln w="12698">
            <a:solidFill>
              <a:srgbClr val="CAC5B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#E5E2DA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A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brutalist-newspaper</a:t>
            </a:r>
            <a:endParaRPr lang="en-US" sz="1333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200499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F5D020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Stained Glass Mosaic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420049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6303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Colorful · Artistic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E6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23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1A1813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1A1813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165769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Culture, museums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#0A0A12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#1A3A6E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#E63030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D02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#F5D020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0A0A12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#0A0A12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A3A6E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#1A3A6E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E63030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#E63030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F5D020"/>
          </a:solidFill>
          <a:ln w="12698">
            <a:solidFill>
              <a:srgbClr val="3E361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1A41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5D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5D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20721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1A41D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20721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5D0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stained-glass-mosaic</a:t>
            </a:r>
            <a:endParaRPr lang="en-US" sz="1333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F5FFF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24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856786" y="1487091"/>
            <a:ext cx="6475381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Liquid Blob Morphing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4151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856786" y="2744788"/>
            <a:ext cx="647538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5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Fluid · Organic Tech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856786" y="3267075"/>
            <a:ext cx="647538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Biotech, innovation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F3036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#0F2027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#F0FFFE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#1F3036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0FFF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#F5FFFE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F2027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#0F2027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0FFFE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#F0FFFE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F3036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#1F3036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5FFFE"/>
          </a:solidFill>
          <a:ln w="12698">
            <a:solidFill>
              <a:srgbClr val="41515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BFCEC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#F5FFFE</a:t>
            </a:r>
            <a:endParaRPr lang="en-US" sz="1333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E834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25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011183" y="1487091"/>
            <a:ext cx="6166586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0A0A0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Memphis Pop Pattern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C9C1B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11183" y="2744788"/>
            <a:ext cx="616658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34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80s · Geometric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011183" y="3267075"/>
            <a:ext cx="6166586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Fashion, lifestyle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EE5D1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#FFF5E0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#E8344A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#1E90FF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3E3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#22BB88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5E0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#FFF5E0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E8344A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#E8344A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E90FF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#1E90FF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22BB88"/>
          </a:solidFill>
          <a:ln w="12698">
            <a:solidFill>
              <a:srgbClr val="C9C1B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3E3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#22BB88</a:t>
            </a:r>
            <a:endParaRPr lang="en-US" sz="1333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E3F5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26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064544"/>
            <a:ext cx="5947030" cy="1588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Forest Nature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889772"/>
            <a:ext cx="1625194" cy="67667"/>
          </a:xfrm>
          <a:prstGeom prst="rect">
            <a:avLst/>
          </a:prstGeom>
          <a:solidFill>
            <a:srgbClr val="E3F5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16063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3F5C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Mysterious · Atmospheric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8649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8649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dark-forest-nature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1B391F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963737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684587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Eco premium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#060E08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#D4F0B0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#0D2B14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D4F0B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#1B391F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060E08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#060E08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D4F0B0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#D4F0B0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0D2B14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#0D2B14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1B391F"/>
          </a:solidFill>
          <a:ln w="12698">
            <a:solidFill>
              <a:srgbClr val="3956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C5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#1B391F</a:t>
            </a:r>
            <a:endParaRPr lang="en-US" sz="1333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957350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Architectural Blueprint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595735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Technical · Precise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27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1E314D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1E314D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80941"/>
            <a:ext cx="139868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Architecture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#0D2240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#1E314D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#42536A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0D2240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#0D2240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E314D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#1E314D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42536A"/>
          </a:solidFill>
          <a:ln w="12698">
            <a:solidFill>
              <a:srgbClr val="42536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#42536A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ED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architectural-blueprint</a:t>
            </a:r>
            <a:endParaRPr lang="en-US" sz="1333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DD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E8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28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064544"/>
            <a:ext cx="5947030" cy="1588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Maximalist Collage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889772"/>
            <a:ext cx="1625194" cy="67667"/>
          </a:xfrm>
          <a:prstGeom prst="rect">
            <a:avLst/>
          </a:prstGeom>
          <a:solidFill>
            <a:srgbClr val="E830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16063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303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Energetic · Layered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6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6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602"/>
            <a:ext cx="18649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002"/>
            <a:ext cx="18649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maximalist-collage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DACFC3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963737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684587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Advertising, fashion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#E8DDD0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E8DDD0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#E8DDD0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E83030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#E83030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F5D020"/>
          </a:solidFill>
          <a:ln w="12698">
            <a:solidFill>
              <a:srgbClr val="BBB2A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7454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333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305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59DB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29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33017" y="1487091"/>
            <a:ext cx="7122919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SciFi Holographic Data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0230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33017" y="2744788"/>
            <a:ext cx="712291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59DB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Hologram · HUD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33017" y="3267075"/>
            <a:ext cx="712291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AI, quantum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03131E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#03050D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#00C8FF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#03131E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0C8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#59DBFF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3050D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#03050D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0C8FF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#00C8FF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3131E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#03131E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59DBFF"/>
          </a:solidFill>
          <a:ln w="12698">
            <a:solidFill>
              <a:srgbClr val="0230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019D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#59DBFF</a:t>
            </a:r>
            <a:endParaRPr lang="en-US" sz="1333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2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E834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30 / 92 · builtin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80555" y="1419027"/>
            <a:ext cx="5827843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Risograph Print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C4D1D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80555" y="2812852"/>
            <a:ext cx="582784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344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CMYK · Indie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80555" y="3335139"/>
            <a:ext cx="582784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Publishing, art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7E8E3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#F7F2E8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#E8344A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#0D5C9E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D5C9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7F2E8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#F7F2E8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E8344A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#E8344A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D5C9E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#0D5C9E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5D020"/>
          </a:solidFill>
          <a:ln w="12698">
            <a:solidFill>
              <a:srgbClr val="C4D1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07DA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#F5D020</a:t>
            </a:r>
            <a:endParaRPr lang="en-US" sz="1333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343766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Minimal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434376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Refined · Business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31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E6E6E1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E6E6E1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208507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presentations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#F5F5F0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#E8E8E3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#666666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5F5F0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#F5F5F0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E8E8E3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#E8E8E3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666666"/>
          </a:solidFill>
          <a:ln w="12698">
            <a:solidFill>
              <a:srgbClr val="D4D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A4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#666666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76130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A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7613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executive-minimal</a:t>
            </a:r>
            <a:endParaRPr lang="en-US" sz="1333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8C4B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424016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Sage Professional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424016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D2D2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Calm · Trustworthy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2D2D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32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F8FAF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F8FAF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1968516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Consulting, healthcare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#B8C4B8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#A3B0A3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#F8FAF8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B8C4B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#B8C4B8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A3B0A3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#A3B0A3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F8FAF8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#F8FAF8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9AA89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D3F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76130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D3F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7613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sage-professional</a:t>
            </a:r>
            <a:endParaRPr lang="en-US" sz="1333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0F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3846376" cy="771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74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Modern Dark</a:t>
            </a:r>
            <a:endParaRPr lang="en-US" sz="4533" dirty="0"/>
          </a:p>
        </p:txBody>
      </p:sp>
      <p:sp>
        <p:nvSpPr>
          <p:cNvPr id="3" name="Text 1"/>
          <p:cNvSpPr/>
          <p:nvPr/>
        </p:nvSpPr>
        <p:spPr>
          <a:xfrm>
            <a:off x="677098" y="1448594"/>
            <a:ext cx="384637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High-impact · Dramatic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33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038548"/>
            <a:ext cx="7009044" cy="3329384"/>
          </a:xfrm>
          <a:prstGeom prst="rect">
            <a:avLst/>
          </a:prstGeom>
          <a:solidFill>
            <a:srgbClr val="252525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323828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038548"/>
            <a:ext cx="3588837" cy="2559248"/>
          </a:xfrm>
          <a:prstGeom prst="rect">
            <a:avLst/>
          </a:prstGeom>
          <a:solidFill>
            <a:srgbClr val="252525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83136"/>
            <a:ext cx="198146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Tech talks, demos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#0F0F0F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#252525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0F0F0F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#0F0F0F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252525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#252525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33549" y="56388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ACAC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33549" y="59182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modern-dark</a:t>
            </a:r>
            <a:endParaRPr lang="en-US" sz="1333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354608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Corporate Blue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354608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Traditional · Professional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34 / 92 · builtin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EFF0F1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EFF0F1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167064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Enterprise, reports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#F7F9FC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#1E2A3A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A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#5A6B7D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7F9FC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#F7F9FC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E2A3A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#1E2A3A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5A6B7D"/>
          </a:solidFill>
          <a:ln w="12698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0596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#5A6B7D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A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A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145048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0596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145048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A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corporate-blue</a:t>
            </a:r>
            <a:endParaRPr lang="en-US" sz="1333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DD8D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C45A3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35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BUILTIN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Neutral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45A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· Approachable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ECEAE7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46987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#FAF8F5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#F0EBE3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#2D2A26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D2A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#6B6560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1041338" cy="236934"/>
          </a:xfrm>
          <a:prstGeom prst="rect">
            <a:avLst/>
          </a:prstGeom>
          <a:solidFill>
            <a:srgbClr val="FAF8F5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106216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#FAF8F5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343431" y="5613400"/>
            <a:ext cx="1041338" cy="236934"/>
          </a:xfrm>
          <a:prstGeom prst="rect">
            <a:avLst/>
          </a:prstGeom>
          <a:solidFill>
            <a:srgbClr val="F0EBE3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343431" y="5918002"/>
            <a:ext cx="106216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#F0EBE3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486344" y="5613400"/>
            <a:ext cx="1041338" cy="236934"/>
          </a:xfrm>
          <a:prstGeom prst="rect">
            <a:avLst/>
          </a:prstGeom>
          <a:solidFill>
            <a:srgbClr val="2D2A26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86344" y="5918002"/>
            <a:ext cx="106216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#2D2A26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629256" y="5613400"/>
            <a:ext cx="1041338" cy="236934"/>
          </a:xfrm>
          <a:prstGeom prst="rect">
            <a:avLst/>
          </a:prstGeom>
          <a:solidFill>
            <a:srgbClr val="6B6560"/>
          </a:solidFill>
          <a:ln w="12698">
            <a:solidFill>
              <a:srgbClr val="DDD8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629256" y="5918002"/>
            <a:ext cx="106216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A575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#6B6560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7076694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076694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D2A2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735614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735614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D2A2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0292959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A575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292959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D2A2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warm-neutral</a:t>
            </a:r>
            <a:endParaRPr lang="en-US" sz="1333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0B5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36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컨설팅 정밀그리드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B5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F4F5F7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2743109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#F4F5F7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#6B7280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6096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911739" y="5613400"/>
            <a:ext cx="609646" cy="236934"/>
          </a:xfrm>
          <a:prstGeom prst="rect">
            <a:avLst/>
          </a:prstGeom>
          <a:solidFill>
            <a:srgbClr val="F4F5F7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911739" y="5918002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#F4F5F7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622960" y="5613400"/>
            <a:ext cx="6096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22960" y="5918002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334180" y="5613400"/>
            <a:ext cx="609646" cy="236934"/>
          </a:xfrm>
          <a:prstGeom prst="rect">
            <a:avLst/>
          </a:prstGeom>
          <a:solidFill>
            <a:srgbClr val="6B7280"/>
          </a:solidFill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34180" y="5918002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72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#6B7280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349926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349926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008846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008846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566191" y="5664002"/>
            <a:ext cx="300457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566191" y="5918002"/>
            <a:ext cx="30045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ppt-consulting-precision-grid</a:t>
            </a:r>
            <a:endParaRPr lang="en-US" sz="1333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0071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37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Keynote 미니멀 풀블리드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0071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71E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full-bleed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#1D1D1F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#86868B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1D1D1F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#1D1D1F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6868B"/>
          </a:solidFill>
          <a:ln w="12698">
            <a:solidFill>
              <a:srgbClr val="CDCDC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F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#86868B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30045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71E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ppt-keynote-minimal-fullbleed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F4F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0071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5D2E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1B66C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38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 정책보고서 네이비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B66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minimal-sans · strict-grid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E8F1FB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555706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#E8F1FB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#5C6470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812795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2905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14888" y="5613400"/>
            <a:ext cx="812795" cy="236934"/>
          </a:xfrm>
          <a:prstGeom prst="rect">
            <a:avLst/>
          </a:prstGeom>
          <a:solidFill>
            <a:srgbClr val="E8F1FB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14888" y="5918002"/>
            <a:ext cx="82905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#E8F1FB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29258" y="5613400"/>
            <a:ext cx="812795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29258" y="5918002"/>
            <a:ext cx="82905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943628" y="5613400"/>
            <a:ext cx="812795" cy="236934"/>
          </a:xfrm>
          <a:prstGeom prst="rect">
            <a:avLst/>
          </a:prstGeom>
          <a:solidFill>
            <a:srgbClr val="5C6470"/>
          </a:solidFill>
          <a:ln w="12698">
            <a:solidFill>
              <a:srgbClr val="C5D2E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43628" y="5918002"/>
            <a:ext cx="82905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47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#5C6470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162523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162523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821443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821443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378788" y="5664002"/>
            <a:ext cx="217572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4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378788" y="5918002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ppt-korea-policy-navy</a:t>
            </a:r>
            <a:endParaRPr lang="en-US" sz="1333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C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39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05062"/>
            <a:ext cx="5947030" cy="907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다크모드 테크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549452"/>
            <a:ext cx="1625194" cy="67667"/>
          </a:xfrm>
          <a:prstGeom prst="rect">
            <a:avLst/>
          </a:prstGeom>
          <a:solidFill>
            <a:srgbClr val="3DF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82031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DF5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· mono · asymmetric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577779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577779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33549" y="56388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33549" y="59182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ppt-dark-tech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1828602"/>
            <a:ext cx="4077062" cy="151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549452"/>
            <a:ext cx="4077062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related · modern-dark, cyberpunk-outline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#0C0D10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#16181D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#E4E6EB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4E6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#8A8F9A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0C0D10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#0C0D10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6181D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#16181D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E4E6EB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#E4E6EB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8A8F9A"/>
          </a:solidFill>
          <a:ln w="12698">
            <a:solidFill>
              <a:srgbClr val="2A2D3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F9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#8A8F9A</a:t>
            </a:r>
            <a:endParaRPr lang="en-US" sz="1333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EC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E8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17763"/>
            <a:ext cx="5947030" cy="907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2B2724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핸드드로운 스케치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562152"/>
            <a:ext cx="1625194" cy="67667"/>
          </a:xfrm>
          <a:prstGeom prst="rect">
            <a:avLst/>
          </a:prstGeom>
          <a:solidFill>
            <a:srgbClr val="E8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83301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65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mixed · asymmetric · balanced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200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B27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1624995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1624995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B27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080766" y="5664200"/>
            <a:ext cx="217572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80766" y="5918200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B272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ppt-hand-drawn-sketch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6DECF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44F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hand-drawn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#F4ECDC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#2B2724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#7A7268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7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2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#E8654A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4ECDC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#F4ECDC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2B2724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#2B2724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7A7268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#7A7268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E8654A"/>
          </a:solidFill>
          <a:ln w="12698">
            <a:solidFill>
              <a:srgbClr val="CFC4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2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#E8654A</a:t>
            </a:r>
            <a:endParaRPr lang="en-US" sz="1333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931449" cy="771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74"/>
              </a:lnSpc>
              <a:buNone/>
            </a:pPr>
            <a:r>
              <a:rPr lang="en-US" sz="4533" b="1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인포그래픽 헤비</a:t>
            </a:r>
            <a:endParaRPr lang="en-US" sz="4533" dirty="0"/>
          </a:p>
        </p:txBody>
      </p:sp>
      <p:sp>
        <p:nvSpPr>
          <p:cNvPr id="3" name="Text 1"/>
          <p:cNvSpPr/>
          <p:nvPr/>
        </p:nvSpPr>
        <p:spPr>
          <a:xfrm>
            <a:off x="677098" y="1448594"/>
            <a:ext cx="593144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block-grid · dense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41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038548"/>
            <a:ext cx="7009044" cy="3354784"/>
          </a:xfrm>
          <a:prstGeom prst="rect">
            <a:avLst/>
          </a:prstGeom>
          <a:solidFill>
            <a:srgbClr val="FFFFFF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336528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038548"/>
            <a:ext cx="3588837" cy="2584648"/>
          </a:xfrm>
          <a:prstGeom prst="rect">
            <a:avLst/>
          </a:prstGeom>
          <a:solidFill>
            <a:srgbClr val="FFFFFF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95836"/>
            <a:ext cx="308228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data-infographic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#F7F8FA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#1E2229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E22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#6E7480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7F8FA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#F7F8FA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E2229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#1E2229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6E7480"/>
          </a:solidFill>
          <a:ln w="12698">
            <a:solidFill>
              <a:srgbClr val="E2E5E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748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#6E7480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22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22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269375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74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269375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E222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ppt-data-infographic-heavy</a:t>
            </a:r>
            <a:endParaRPr lang="en-US" sz="1333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0A0A0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42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0A0A0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모노크롬 리스크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heavy-display · strict-grid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E6E6E6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657281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#E6E6E6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#0A0A0A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#767676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838189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40282" y="5613400"/>
            <a:ext cx="838189" cy="236934"/>
          </a:xfrm>
          <a:prstGeom prst="rect">
            <a:avLst/>
          </a:prstGeom>
          <a:solidFill>
            <a:srgbClr val="E6E6E6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40282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#E6E6E6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80045" y="5613400"/>
            <a:ext cx="838189" cy="236934"/>
          </a:xfrm>
          <a:prstGeom prst="rect">
            <a:avLst/>
          </a:prstGeom>
          <a:solidFill>
            <a:srgbClr val="0A0A0A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80045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#0A0A0A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019809" y="5613400"/>
            <a:ext cx="838189" cy="236934"/>
          </a:xfrm>
          <a:prstGeom prst="rect">
            <a:avLst/>
          </a:prstGeom>
          <a:solidFill>
            <a:srgbClr val="767676"/>
          </a:solidFill>
          <a:ln w="12698">
            <a:solidFill>
              <a:srgbClr val="0A0A0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19809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676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#767676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264098" y="5664002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264098" y="59180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024592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024592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581937" y="5664002"/>
            <a:ext cx="196851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676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581937" y="5918002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ppt-monochrome-risk</a:t>
            </a:r>
            <a:endParaRPr lang="en-US" sz="1333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EC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FF3B7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43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258219"/>
            <a:ext cx="5947030" cy="907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1A1A1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90s 멤피스 레트로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402608"/>
            <a:ext cx="1625194" cy="67667"/>
          </a:xfrm>
          <a:prstGeom prst="rect">
            <a:avLst/>
          </a:prstGeom>
          <a:solidFill>
            <a:srgbClr val="FF3B7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673475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3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asymmetric · dense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893362" y="5664200"/>
            <a:ext cx="217572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893362" y="5918200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ppt-memphis-retro-90s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1A1A1A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DCD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memphis-pop-pattern, retro-y2k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#F4ECD8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#FF3B7F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A48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#00B5C9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4ECD8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#F4ECD8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FF3B7F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#FF3B7F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00B5C9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A484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#00B5C9</a:t>
            </a:r>
            <a:endParaRPr lang="en-US" sz="1333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A8A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478422" y="1362273"/>
            <a:ext cx="5232108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미니멀 모노 노트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478422" y="2869605"/>
            <a:ext cx="523210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 · mono · centered · airy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478422" y="3391892"/>
            <a:ext cx="523210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related · monochrome-minimal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EEEEE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#8A8A8A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#EEEEEE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11111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8A8A8A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#8A8A8A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EEEEEE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5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#EEEEEE</a:t>
            </a:r>
            <a:endParaRPr lang="en-US" sz="1333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EA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B5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45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405062"/>
            <a:ext cx="5947030" cy="907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3A352C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보태니컬 오가닉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549452"/>
            <a:ext cx="1625194" cy="67667"/>
          </a:xfrm>
          <a:prstGeom prst="rect">
            <a:avLst/>
          </a:prstGeom>
          <a:solidFill>
            <a:srgbClr val="B565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82031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5654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earth · serif-editorial · asymmetric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52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52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4096512" y="5638800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4096512" y="5918200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A352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ppt-botanical-organic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5D9C3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018308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359745"/>
            <a:ext cx="4077062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related · hand-crafted-organic, dark-forest-nature, nordic-minimalism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#F2EAD9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#E5D9C3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#3A352C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A352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25D5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#B5654A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2EAD9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#F2EAD9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E5D9C3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#E5D9C3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3A352C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#3A352C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B5654A"/>
          </a:solidFill>
          <a:ln w="12698">
            <a:solidFill>
              <a:srgbClr val="7C8B5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25D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#B5654A</a:t>
            </a:r>
            <a:endParaRPr lang="en-US" sz="1333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A1C7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D11D8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46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07555"/>
            <a:ext cx="11051451" cy="1179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90"/>
              </a:lnSpc>
              <a:buNone/>
            </a:pPr>
            <a:r>
              <a:rPr lang="en-US" sz="6932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비비드 그라디언트 퓨처</a:t>
            </a:r>
            <a:endParaRPr lang="en-US" sz="6932" dirty="0"/>
          </a:p>
        </p:txBody>
      </p:sp>
      <p:sp>
        <p:nvSpPr>
          <p:cNvPr id="5" name="Text 3"/>
          <p:cNvSpPr/>
          <p:nvPr/>
        </p:nvSpPr>
        <p:spPr>
          <a:xfrm>
            <a:off x="677098" y="3158133"/>
            <a:ext cx="2031492" cy="67667"/>
          </a:xfrm>
          <a:prstGeom prst="rect">
            <a:avLst/>
          </a:prstGeom>
          <a:solidFill>
            <a:srgbClr val="D11D8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462734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D11D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heavy-display · full-bleed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#3A1C71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#D11D8E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#2563EB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#06B6D4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3A1C71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#3A1C71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D11D8E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#D11D8E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2563EB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#2563EB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06B6D4"/>
          </a:solidFill>
          <a:ln w="12698">
            <a:solidFill>
              <a:srgbClr val="654E9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D4CDE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#06B6D4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11D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ppt-vivid-gradient-future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D4CD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D11D8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281482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C1B17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프린트-퍼스트 뉴스페이퍼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528148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231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mono · serif-editorial · block-grid · dense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A8231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47 / 92 · variant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20070"/>
          </a:xfrm>
          <a:prstGeom prst="rect">
            <a:avLst/>
          </a:prstGeom>
          <a:solidFill>
            <a:srgbClr val="E5E2D9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783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49934"/>
          </a:xfrm>
          <a:prstGeom prst="rect">
            <a:avLst/>
          </a:prstGeom>
          <a:solidFill>
            <a:srgbClr val="E5E2D9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867620"/>
            <a:ext cx="3151487" cy="810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related · brutalist-newspaper, risograph-print, editorial-magazine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#F4F1E8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#1C1B17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#2E2C26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B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#A8231B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4F1E8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#F4F1E8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C1B17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#1C1B17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2E2C26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#2E2C26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A8231B"/>
          </a:solidFill>
          <a:ln w="12698">
            <a:solidFill>
              <a:srgbClr val="1C1B1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A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#A8231B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B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B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A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B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ppt-print-first-newspaper</a:t>
            </a:r>
            <a:endParaRPr lang="en-US" sz="1333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FF4A1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48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스위스 에디토리얼 볼드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strict-grid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111111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1494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#F2F0EB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#111111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#FF4A1C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#0047FF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711221" cy="236934"/>
          </a:xfrm>
          <a:prstGeom prst="rect">
            <a:avLst/>
          </a:prstGeom>
          <a:solidFill>
            <a:srgbClr val="F2F0EB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7254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#F2F0EB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13314" y="5613400"/>
            <a:ext cx="711221" cy="236934"/>
          </a:xfrm>
          <a:prstGeom prst="rect">
            <a:avLst/>
          </a:prstGeom>
          <a:solidFill>
            <a:srgbClr val="111111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013314" y="5918002"/>
            <a:ext cx="7254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#111111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826109" y="5613400"/>
            <a:ext cx="711221" cy="236934"/>
          </a:xfrm>
          <a:prstGeom prst="rect">
            <a:avLst/>
          </a:prstGeom>
          <a:solidFill>
            <a:srgbClr val="FF4A1C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826109" y="5918002"/>
            <a:ext cx="7254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#FF4A1C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638904" y="5613400"/>
            <a:ext cx="711221" cy="236934"/>
          </a:xfrm>
          <a:prstGeom prst="rect">
            <a:avLst/>
          </a:prstGeom>
          <a:solidFill>
            <a:srgbClr val="0047FF"/>
          </a:solidFill>
          <a:ln w="12698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638904" y="5918002"/>
            <a:ext cx="7254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342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#0047FF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756225" y="5664002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756225" y="59180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516719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516719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074064" y="5664002"/>
            <a:ext cx="2486546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342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074064" y="5918002"/>
            <a:ext cx="248654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1111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ppt-swiss-editorial-bold</a:t>
            </a:r>
            <a:endParaRPr lang="en-US" sz="1333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D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49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804392"/>
            <a:ext cx="5947030" cy="18149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146"/>
              </a:lnSpc>
              <a:buNone/>
            </a:pPr>
            <a:r>
              <a:rPr lang="en-US" sz="5333" b="1" dirty="0">
                <a:solidFill>
                  <a:srgbClr val="1A1A1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바우하우스 지오메트릭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677098" y="3856236"/>
            <a:ext cx="1625194" cy="67667"/>
          </a:xfrm>
          <a:prstGeom prst="rect">
            <a:avLst/>
          </a:prstGeom>
          <a:solidFill>
            <a:srgbClr val="D628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127103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D628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asymmetric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437592" y="5664002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437592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893362" y="5664002"/>
            <a:ext cx="217572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893362" y="5918002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ppt-bauhaus-geometric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FFFFFF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bauhaus-geometric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#F0EDE4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948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#D62828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0EDE4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#F0EDE4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D62828"/>
          </a:solidFill>
          <a:ln w="12698">
            <a:solidFill>
              <a:srgbClr val="1A1A1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948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#D62828</a:t>
            </a:r>
            <a:endParaRPr lang="en-US" sz="1333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E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529975" cy="771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074"/>
              </a:lnSpc>
              <a:buNone/>
            </a:pPr>
            <a:r>
              <a:rPr lang="en-US" sz="4533" b="1" dirty="0">
                <a:solidFill>
                  <a:srgbClr val="1D1B20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익스프레시브 머티리얼</a:t>
            </a:r>
            <a:endParaRPr lang="en-US" sz="4533" dirty="0"/>
          </a:p>
        </p:txBody>
      </p:sp>
      <p:sp>
        <p:nvSpPr>
          <p:cNvPr id="3" name="Text 1"/>
          <p:cNvSpPr/>
          <p:nvPr/>
        </p:nvSpPr>
        <p:spPr>
          <a:xfrm>
            <a:off x="677098" y="1448594"/>
            <a:ext cx="5529975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6750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mixed · block-grid · balanced · playful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6750A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50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038548"/>
            <a:ext cx="7009044" cy="3354784"/>
          </a:xfrm>
          <a:prstGeom prst="roundRect">
            <a:avLst>
              <a:gd name="adj" fmla="val 5047"/>
            </a:avLst>
          </a:prstGeom>
          <a:solidFill>
            <a:srgbClr val="F3EDF7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336528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038548"/>
            <a:ext cx="3588837" cy="2584648"/>
          </a:xfrm>
          <a:prstGeom prst="roundRect">
            <a:avLst>
              <a:gd name="adj" fmla="val 6551"/>
            </a:avLst>
          </a:prstGeom>
          <a:solidFill>
            <a:srgbClr val="F3EDF7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060700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expressive-material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#FEF7FF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#F3EDF7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#1D1B20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D1B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#6750A4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EF7FF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#FEF7FF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3EDF7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#F3EDF7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1D1B20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#1D1B20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6750A4"/>
          </a:solidFill>
          <a:ln w="12698">
            <a:solidFill>
              <a:srgbClr val="CAC4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F4B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#6750A4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D1B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1624995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624995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D1B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080766" y="5664200"/>
            <a:ext cx="2382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F4B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080766" y="5918200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D1B2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ppt-expressive-material</a:t>
            </a:r>
            <a:endParaRPr lang="en-US" sz="1333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A888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51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930645" y="1419027"/>
            <a:ext cx="6327661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A1814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럭셔리 에디토리얼 세리프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A8884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30645" y="2812852"/>
            <a:ext cx="632766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884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mono · serif-editorial · centered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930645" y="3335139"/>
            <a:ext cx="632766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luxury-serif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AE8E3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#FAF8F3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#1A1814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#8C887E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A181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B494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#A8884E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AF8F3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#FAF8F3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A1814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#1A1814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8C887E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#8C887E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A8884E"/>
          </a:solidFill>
          <a:ln w="12698">
            <a:solidFill>
              <a:srgbClr val="A8884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B494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#A8884E</a:t>
            </a:r>
            <a:endParaRPr lang="en-US" sz="1333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5B5B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52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090911" y="1362273"/>
            <a:ext cx="6007130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5161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스타트업 피치 컬러풀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E5E7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90911" y="2869605"/>
            <a:ext cx="60071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5B5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mixed · centered · balanced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090911" y="3391892"/>
            <a:ext cx="6007130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startup-pitch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4F6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#F4F6FF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#15161B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5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8494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#5B5BFF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4F6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#F4F6FF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5161B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#15161B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5B5BFF"/>
          </a:solidFill>
          <a:ln w="12698">
            <a:solidFill>
              <a:srgbClr val="E5E7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8494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#5B5BFF</a:t>
            </a:r>
            <a:endParaRPr lang="en-US" sz="1333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53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531070"/>
            <a:ext cx="594703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Precision Fintech Deck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448645"/>
            <a:ext cx="1625194" cy="67667"/>
          </a:xfrm>
          <a:prstGeom prst="rect">
            <a:avLst/>
          </a:prstGeom>
          <a:solidFill>
            <a:srgbClr val="5A55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19512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5A55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 · minimal-sans · asymmetric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2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6017" y="5664002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6017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2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91788" y="5664002"/>
            <a:ext cx="2693758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91788" y="5918002"/>
            <a:ext cx="269375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2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ppt-precision-fintech-deck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oundRect">
            <a:avLst>
              <a:gd name="adj" fmla="val 3710"/>
            </a:avLst>
          </a:prstGeom>
          <a:solidFill>
            <a:srgbClr val="F6F9FC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precision-fintech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#F6F9FC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#EBF0F6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2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6B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#0A2540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F6F9FC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#F6F9FC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EBF0F6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#EBF0F6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0A2540"/>
          </a:solidFill>
          <a:ln w="12698">
            <a:solidFill>
              <a:srgbClr val="E3E8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B7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#0A2540</a:t>
            </a:r>
            <a:endParaRPr lang="en-US" sz="1333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E0E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8B7B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391207" y="1487091"/>
            <a:ext cx="5406538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Engineered Dark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26262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391207" y="2744788"/>
            <a:ext cx="540653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B7B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minimal-sans · centered · airy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391207" y="3267075"/>
            <a:ext cx="540653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modern-dark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16161A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#0E0E11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#16161A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#2E2E36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7D828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#9CA3AF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E0E11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#0E0E11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16161A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#16161A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2E2E36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#2E2E36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9CA3AF"/>
          </a:solidFill>
          <a:ln w="12698">
            <a:solidFill>
              <a:srgbClr val="2626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D828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#9CA3AF</a:t>
            </a:r>
            <a:endParaRPr lang="en-US" sz="1333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F462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55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866305"/>
            <a:ext cx="11051451" cy="862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788"/>
              </a:lnSpc>
              <a:buNone/>
            </a:pPr>
            <a:r>
              <a:rPr lang="en-US" sz="5066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Hospitality Deck</a:t>
            </a:r>
            <a:endParaRPr lang="en-US" sz="5066" dirty="0"/>
          </a:p>
        </p:txBody>
      </p:sp>
      <p:sp>
        <p:nvSpPr>
          <p:cNvPr id="5" name="Text 3"/>
          <p:cNvSpPr/>
          <p:nvPr/>
        </p:nvSpPr>
        <p:spPr>
          <a:xfrm>
            <a:off x="677098" y="2999383"/>
            <a:ext cx="2031492" cy="67667"/>
          </a:xfrm>
          <a:prstGeom prst="rect">
            <a:avLst/>
          </a:prstGeom>
          <a:solidFill>
            <a:srgbClr val="F462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03984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462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minimal-sans · full-bleed · airy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#FBF7F4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#2B2B2E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#79767A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FBF7F4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#FBF7F4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2B2B2E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#2B2B2E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79767A"/>
          </a:solidFill>
          <a:ln w="12698">
            <a:solidFill>
              <a:srgbClr val="EDE8E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9767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#79767A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59015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625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ppt-warm-hospitality-deck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976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F462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56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499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30"/>
              </a:lnSpc>
              <a:buNone/>
            </a:pPr>
            <a:r>
              <a:rPr lang="en-US" sz="2933" b="1" dirty="0">
                <a:solidFill>
                  <a:srgbClr val="000000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Monochrome Infrastructure Deck</a:t>
            </a:r>
            <a:endParaRPr lang="en-US" sz="2933" dirty="0"/>
          </a:p>
        </p:txBody>
      </p:sp>
      <p:sp>
        <p:nvSpPr>
          <p:cNvPr id="6" name="Text 4"/>
          <p:cNvSpPr/>
          <p:nvPr/>
        </p:nvSpPr>
        <p:spPr>
          <a:xfrm>
            <a:off x="2200518" y="1210270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mixed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42431"/>
            <a:ext cx="9311336" cy="1258094"/>
          </a:xfrm>
          <a:prstGeom prst="rect">
            <a:avLst/>
          </a:prstGeom>
          <a:solidFill>
            <a:srgbClr val="F2F2F2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19206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2946259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#F2F2F2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#666666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660433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67364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962526" y="5613598"/>
            <a:ext cx="660433" cy="236934"/>
          </a:xfrm>
          <a:prstGeom prst="rect">
            <a:avLst/>
          </a:prstGeom>
          <a:solidFill>
            <a:srgbClr val="F2F2F2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962526" y="5918200"/>
            <a:ext cx="67364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#F2F2F2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724534" y="5613598"/>
            <a:ext cx="660433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24534" y="5918200"/>
            <a:ext cx="67364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486542" y="5613598"/>
            <a:ext cx="660433" cy="236934"/>
          </a:xfrm>
          <a:prstGeom prst="rect">
            <a:avLst/>
          </a:prstGeom>
          <a:solidFill>
            <a:srgbClr val="666666"/>
          </a:solidFill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86542" y="5918200"/>
            <a:ext cx="67364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6666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#666666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553075" y="5664200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553075" y="5918200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500973" y="5664200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6500973" y="59182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058318" y="5664200"/>
            <a:ext cx="352260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058318" y="5918200"/>
            <a:ext cx="35226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ppt-monochrome-infrastructure-deck</a:t>
            </a:r>
            <a:endParaRPr lang="en-US" sz="1333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574737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E8E8E8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Expressive Soundwave Deck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6574737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6B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heavy-display · block-grid · balanced · playful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FF6B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57 / 92 · variant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58977"/>
          </a:xfrm>
          <a:prstGeom prst="rect">
            <a:avLst/>
          </a:prstGeom>
          <a:solidFill>
            <a:srgbClr val="1E1E1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343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88841"/>
          </a:xfrm>
          <a:prstGeom prst="rect">
            <a:avLst/>
          </a:prstGeom>
          <a:solidFill>
            <a:srgbClr val="1E1E1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58703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dark-neon-miami, typographic-bold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#121212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#1E1E1E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#2E2E2E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#E8E8E8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121212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#121212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1E1E1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#1E1E1E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2E2E2E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#2E2E2E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8E8E8"/>
          </a:solidFill>
          <a:ln w="12698">
            <a:solidFill>
              <a:srgbClr val="3A3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#E8E8E8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893362" y="5664200"/>
            <a:ext cx="300457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893362" y="5918200"/>
            <a:ext cx="30045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ppt-expressive-soundwave-deck</a:t>
            </a:r>
            <a:endParaRPr lang="en-US" sz="1333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B5503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58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61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23"/>
              </a:lnSpc>
              <a:buNone/>
            </a:pPr>
            <a:r>
              <a:rPr lang="en-US" sz="3600" b="1" dirty="0">
                <a:solidFill>
                  <a:srgbClr val="1F1B16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Editorial Product Deck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00518" y="1323777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5503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earth · serif-editorial · strict-grid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99184"/>
            <a:ext cx="9311336" cy="1258094"/>
          </a:xfrm>
          <a:prstGeom prst="rect">
            <a:avLst/>
          </a:prstGeom>
          <a:solidFill>
            <a:srgbClr val="FCFAF5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48819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2743109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#F7F4EE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#FCFAF5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#1F1B16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F1B16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#7A7164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609646" cy="236934"/>
          </a:xfrm>
          <a:prstGeom prst="rect">
            <a:avLst/>
          </a:prstGeom>
          <a:solidFill>
            <a:srgbClr val="F7F4EE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#F7F4EE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911739" y="5613598"/>
            <a:ext cx="609646" cy="236934"/>
          </a:xfrm>
          <a:prstGeom prst="rect">
            <a:avLst/>
          </a:prstGeom>
          <a:solidFill>
            <a:srgbClr val="FCFAF5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911739" y="5918200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#FCFAF5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622960" y="5613598"/>
            <a:ext cx="609646" cy="236934"/>
          </a:xfrm>
          <a:prstGeom prst="rect">
            <a:avLst/>
          </a:prstGeom>
          <a:solidFill>
            <a:srgbClr val="1F1B16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22960" y="5918200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#1F1B16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334180" y="5613598"/>
            <a:ext cx="609646" cy="236934"/>
          </a:xfrm>
          <a:prstGeom prst="rect">
            <a:avLst/>
          </a:prstGeom>
          <a:solidFill>
            <a:srgbClr val="7A7164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34180" y="5918200"/>
            <a:ext cx="62183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A716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#7A7164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349926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349926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F1B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313570" y="56388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313570" y="59182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F1B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870915" y="5638800"/>
            <a:ext cx="269375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A7164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870915" y="5918200"/>
            <a:ext cx="269375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F1B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ppt-editorial-product-deck</a:t>
            </a:r>
            <a:endParaRPr lang="en-US" sz="1333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E8B3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59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866305"/>
            <a:ext cx="11051451" cy="862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788"/>
              </a:lnSpc>
              <a:buNone/>
            </a:pPr>
            <a:r>
              <a:rPr lang="en-US" sz="5066" b="1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Cinematic Keynote Deck</a:t>
            </a:r>
            <a:endParaRPr lang="en-US" sz="5066" dirty="0"/>
          </a:p>
        </p:txBody>
      </p:sp>
      <p:sp>
        <p:nvSpPr>
          <p:cNvPr id="5" name="Text 3"/>
          <p:cNvSpPr/>
          <p:nvPr/>
        </p:nvSpPr>
        <p:spPr>
          <a:xfrm>
            <a:off x="677098" y="2999383"/>
            <a:ext cx="2031492" cy="67667"/>
          </a:xfrm>
          <a:prstGeom prst="rect">
            <a:avLst/>
          </a:prstGeom>
          <a:solidFill>
            <a:srgbClr val="E8B3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03984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B3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minimal-sans · full-bleed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#0E0E0E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#F5F5F7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5F5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#8A8A8E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0E0E0E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#0E0E0E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F5F5F7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#F5F5F7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A8A8E"/>
          </a:solidFill>
          <a:ln w="12698">
            <a:solidFill>
              <a:srgbClr val="26262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8A8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#8A8A8E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69375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B34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ppt-cinematic-keynote-deck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A8A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E8B3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F053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916906"/>
            <a:ext cx="5947030" cy="1361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41414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Confident Color-Block Deck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515122"/>
            <a:ext cx="1625194" cy="67667"/>
          </a:xfrm>
          <a:prstGeom prst="rect">
            <a:avLst/>
          </a:prstGeom>
          <a:solidFill>
            <a:srgbClr val="F053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785989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053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asymmetric · airy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435402"/>
            <a:ext cx="123861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689402"/>
            <a:ext cx="12386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1454" y="5435402"/>
            <a:ext cx="95269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1454" y="5689402"/>
            <a:ext cx="95269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05489" y="5435402"/>
            <a:ext cx="285807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05489" y="5689402"/>
            <a:ext cx="28580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ppt-confident-color-block-deck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FEFEF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confident-color-block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#141414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#6E6E6E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#F0531C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41414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#141414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6E6E6E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#6E6E6E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F0531C"/>
          </a:solidFill>
          <a:ln w="12698">
            <a:solidFill>
              <a:srgbClr val="E0E0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#F0531C</a:t>
            </a:r>
            <a:endParaRPr lang="en-US" sz="1333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7D0D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2563E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61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14213D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Strategy Navy Deck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mixed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ect">
            <a:avLst/>
          </a:prstGeom>
          <a:solidFill>
            <a:srgbClr val="F1F4F9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4165154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#F1F4F9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#14213D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#5B6472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96515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9844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267250" y="5613400"/>
            <a:ext cx="965157" cy="236934"/>
          </a:xfrm>
          <a:prstGeom prst="rect">
            <a:avLst/>
          </a:prstGeom>
          <a:solidFill>
            <a:srgbClr val="F1F4F9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67250" y="5918002"/>
            <a:ext cx="9844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#F1F4F9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333982" y="5613400"/>
            <a:ext cx="965157" cy="236934"/>
          </a:xfrm>
          <a:prstGeom prst="rect">
            <a:avLst/>
          </a:prstGeom>
          <a:solidFill>
            <a:srgbClr val="14213D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333982" y="5918002"/>
            <a:ext cx="9844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#14213D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400714" y="5613400"/>
            <a:ext cx="965157" cy="236934"/>
          </a:xfrm>
          <a:prstGeom prst="rect">
            <a:avLst/>
          </a:prstGeom>
          <a:solidFill>
            <a:srgbClr val="5B6472"/>
          </a:solidFill>
          <a:ln w="12698">
            <a:solidFill>
              <a:srgbClr val="C7D0D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400714" y="5918002"/>
            <a:ext cx="9844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47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#5B6472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771971" y="5664002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1971" y="5918002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21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719868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719868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21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277213" y="5664002"/>
            <a:ext cx="227933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47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277213" y="5918002"/>
            <a:ext cx="227933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213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ppt-strategy-navy-deck</a:t>
            </a:r>
            <a:endParaRPr lang="en-US" sz="1333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DE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62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369962" y="1487091"/>
            <a:ext cx="5448831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A2E1F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Heritage Luxury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A889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369962" y="2744788"/>
            <a:ext cx="544883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A8893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earth · serif-editorial · centered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369962" y="3267075"/>
            <a:ext cx="544883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heritage-luxury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4EFE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#EDE6D6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#F4EFE3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#3A2E1F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2E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1564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#8A7C63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EDE6D6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#EDE6D6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4EFE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#F4EFE3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3A2E1F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#3A2E1F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7C63"/>
          </a:solidFill>
          <a:ln w="12698">
            <a:solidFill>
              <a:srgbClr val="A889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1564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#8A7C63</a:t>
            </a:r>
            <a:endParaRPr lang="en-US" sz="1333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3B6F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63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54653" y="1487091"/>
            <a:ext cx="5879646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Isometric Platform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E3E8E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54653" y="2744788"/>
            <a:ext cx="587964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B6F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centered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54653" y="3267075"/>
            <a:ext cx="5879646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isometric-platform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FFFFF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#EEF1F5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#E3E8EF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B233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5C66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#1B2330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EEF1F5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#EEF1F5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3E8EF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#E3E8EF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1B2330"/>
          </a:solidFill>
          <a:ln w="12698">
            <a:solidFill>
              <a:srgbClr val="E3E8E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6679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#1B2330</a:t>
            </a:r>
            <a:endParaRPr lang="en-US" sz="1333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2319353" cy="363934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190750"/>
            <a:ext cx="5947030" cy="1361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MBB Ghost Deck Framework</a:t>
            </a:r>
            <a:endParaRPr lang="en-US" sz="3999" dirty="0"/>
          </a:p>
        </p:txBody>
      </p:sp>
      <p:sp>
        <p:nvSpPr>
          <p:cNvPr id="5" name="Text 3"/>
          <p:cNvSpPr/>
          <p:nvPr/>
        </p:nvSpPr>
        <p:spPr>
          <a:xfrm>
            <a:off x="677098" y="3788966"/>
            <a:ext cx="1625194" cy="676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059833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F3A5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asymmetric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36017" y="5664002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36017" y="5918002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91788" y="5664002"/>
            <a:ext cx="2382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91788" y="5918002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ppt-mckinsey-ghost-deck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EFEFEF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018308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359745"/>
            <a:ext cx="4077062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swiss-international-style, executive-minimal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#3D4350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C4C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#7A828F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3D4350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#3D4350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7A828F"/>
          </a:solidFill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C4C4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#7A828F</a:t>
            </a:r>
            <a:endParaRPr lang="en-US" sz="1333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E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4FC8E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65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61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23"/>
              </a:lnSpc>
              <a:buNone/>
            </a:pPr>
            <a:r>
              <a:rPr lang="en-US" sz="3600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Blueprint Schematic Deck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00518" y="1323777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4FC8E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dark · mono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99184"/>
            <a:ext cx="9311336" cy="1258094"/>
          </a:xfrm>
          <a:prstGeom prst="rect">
            <a:avLst/>
          </a:prstGeom>
          <a:solidFill>
            <a:srgbClr val="1D2A4A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48819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360292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#0E1B3D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#E8EEF7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#8FA3C8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#4FC8E8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824500" cy="236934"/>
          </a:xfrm>
          <a:prstGeom prst="rect">
            <a:avLst/>
          </a:prstGeom>
          <a:solidFill>
            <a:srgbClr val="0E1B3D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84099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#0E1B3D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26593" y="5613598"/>
            <a:ext cx="824500" cy="236934"/>
          </a:xfrm>
          <a:prstGeom prst="rect">
            <a:avLst/>
          </a:prstGeom>
          <a:solidFill>
            <a:srgbClr val="E8EEF7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26593" y="5918200"/>
            <a:ext cx="84099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#E8EEF7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52668" y="5613598"/>
            <a:ext cx="824500" cy="236934"/>
          </a:xfrm>
          <a:prstGeom prst="rect">
            <a:avLst/>
          </a:prstGeom>
          <a:solidFill>
            <a:srgbClr val="8FA3C8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52668" y="5918200"/>
            <a:ext cx="84099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#8FA3C8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978743" y="5613598"/>
            <a:ext cx="824500" cy="236934"/>
          </a:xfrm>
          <a:prstGeom prst="rect">
            <a:avLst/>
          </a:prstGeom>
          <a:solidFill>
            <a:srgbClr val="4FC8E8"/>
          </a:solidFill>
          <a:ln w="12698">
            <a:solidFill>
              <a:srgbClr val="4FC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78743" y="5918200"/>
            <a:ext cx="84099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#4FC8E8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209739" y="56388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209739" y="5918200"/>
            <a:ext cx="4698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mono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110420" y="56388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110420" y="59182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667765" y="5638800"/>
            <a:ext cx="290097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8FA3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667765" y="5918200"/>
            <a:ext cx="290097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EF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ppt-blueprint-schematic-deck</a:t>
            </a:r>
            <a:endParaRPr lang="en-US" sz="1333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449479" cy="5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66"/>
              </a:lnSpc>
              <a:buNone/>
            </a:pPr>
            <a:r>
              <a:rPr lang="en-US" sz="3333" b="1" dirty="0">
                <a:solidFill>
                  <a:srgbClr val="1C1A17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Editorial Infographic Deck</a:t>
            </a:r>
            <a:endParaRPr lang="en-US" sz="3333" dirty="0"/>
          </a:p>
        </p:txBody>
      </p:sp>
      <p:sp>
        <p:nvSpPr>
          <p:cNvPr id="3" name="Text 1"/>
          <p:cNvSpPr/>
          <p:nvPr/>
        </p:nvSpPr>
        <p:spPr>
          <a:xfrm>
            <a:off x="677098" y="1244402"/>
            <a:ext cx="644947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22B1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vivid-primary · serif-editorial · block-grid · balanced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B22B1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66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834356"/>
            <a:ext cx="7009044" cy="3533577"/>
          </a:xfrm>
          <a:prstGeom prst="rect">
            <a:avLst/>
          </a:prstGeom>
          <a:solidFill>
            <a:srgbClr val="E7E4DD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2163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834356"/>
            <a:ext cx="3588837" cy="2763441"/>
          </a:xfrm>
          <a:prstGeom prst="rect">
            <a:avLst/>
          </a:prstGeom>
          <a:solidFill>
            <a:srgbClr val="E7E4DD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46003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editorial-infographic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#F6F3EC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#1C1A17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#6B655B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C1A1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#33302A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6F3EC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#F6F3EC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1C1A17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#1C1A17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6B655B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#6B655B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33302A"/>
          </a:solidFill>
          <a:ln w="12698">
            <a:solidFill>
              <a:srgbClr val="C8C2B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55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#33302A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A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A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31081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55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31081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C1A1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ppt-editorial-infographic-deck</a:t>
            </a:r>
            <a:endParaRPr lang="en-US" sz="1333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B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6246517" cy="4764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52"/>
              </a:lnSpc>
              <a:buNone/>
            </a:pPr>
            <a:r>
              <a:rPr lang="en-US" sz="2800" b="1" dirty="0">
                <a:solidFill>
                  <a:srgbClr val="211B33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Vivid Gradient Infographic Deck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77098" y="1153716"/>
            <a:ext cx="6246517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7C3AE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heavy-display · block-grid · balanced · playful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192501" y="508000"/>
            <a:ext cx="2319353" cy="363934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344863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67 / 92 · variant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743670"/>
            <a:ext cx="7009044" cy="3649663"/>
          </a:xfrm>
          <a:prstGeom prst="roundRect">
            <a:avLst>
              <a:gd name="adj" fmla="val 4639"/>
            </a:avLst>
          </a:prstGeom>
          <a:solidFill>
            <a:srgbClr val="FFFFFF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189089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743670"/>
            <a:ext cx="3588837" cy="2879527"/>
          </a:xfrm>
          <a:prstGeom prst="roundRect">
            <a:avLst>
              <a:gd name="adj" fmla="val 5880"/>
            </a:avLst>
          </a:prstGeom>
          <a:solidFill>
            <a:srgbClr val="FFFFFF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13261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gradient-mesh, aurora-neon-glow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#FBFAFE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#211B33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1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#7C7591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BFAFE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#FBFAFE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211B33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#211B33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7C7591"/>
          </a:solidFill>
          <a:ln w="12698">
            <a:solidFill>
              <a:srgbClr val="ECE8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C759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#7C7591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11B3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11B3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893362" y="5664200"/>
            <a:ext cx="362621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C75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893362" y="5918200"/>
            <a:ext cx="36262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11B3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ppt-vivid-gradient-infographic-deck</a:t>
            </a:r>
            <a:endParaRPr lang="en-US" sz="1333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931449" cy="4764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52"/>
              </a:lnSpc>
              <a:buNone/>
            </a:pPr>
            <a:r>
              <a:rPr lang="en-US" sz="2800" b="1" dirty="0">
                <a:solidFill>
                  <a:srgbClr val="2A2D34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Bold Block Infographic Deck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77098" y="1153716"/>
            <a:ext cx="5931449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block-grid · dense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68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743670"/>
            <a:ext cx="7009044" cy="3649663"/>
          </a:xfrm>
          <a:prstGeom prst="rect">
            <a:avLst/>
          </a:prstGeom>
          <a:solidFill>
            <a:srgbClr val="2A2D34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189089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743670"/>
            <a:ext cx="3588837" cy="2879527"/>
          </a:xfrm>
          <a:prstGeom prst="rect">
            <a:avLst/>
          </a:prstGeom>
          <a:solidFill>
            <a:srgbClr val="2A2D34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2913261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D0D1D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bold-block-infographic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#2A2D34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#6B6F76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2A2D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#E8A317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2A2D34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#2A2D34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6B6F76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#6B6F76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8A317"/>
          </a:solidFill>
          <a:ln w="12698">
            <a:solidFill>
              <a:srgbClr val="D0D1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B6F7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#E8A317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34687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3468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A2D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437592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437592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A2D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893362" y="5664200"/>
            <a:ext cx="3211789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B6F7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893362" y="5918200"/>
            <a:ext cx="321178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A2D3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ppt-bold-block-infographic-deck</a:t>
            </a:r>
            <a:endParaRPr lang="en-US" sz="1333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69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934369"/>
            <a:ext cx="11051451" cy="726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717"/>
              </a:lnSpc>
              <a:buNone/>
            </a:pPr>
            <a:r>
              <a:rPr lang="en-US" sz="4266" b="1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Prismatic Dark Diagram Deck</a:t>
            </a:r>
            <a:endParaRPr lang="en-US" sz="4266" dirty="0"/>
          </a:p>
        </p:txBody>
      </p:sp>
      <p:sp>
        <p:nvSpPr>
          <p:cNvPr id="5" name="Text 3"/>
          <p:cNvSpPr/>
          <p:nvPr/>
        </p:nvSpPr>
        <p:spPr>
          <a:xfrm>
            <a:off x="677098" y="2931319"/>
            <a:ext cx="2031492" cy="67667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235920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gradient · minimal-sans · full-bleed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#0B0E1A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#141A2E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#E8EAF0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#8A90A6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0B0E1A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#0B0E1A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141A2E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#141A2E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E8EAF0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#E8EAF0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A90A6"/>
          </a:solidFill>
          <a:ln w="12698">
            <a:solidFill>
              <a:srgbClr val="1E233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A90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#8A90A6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22D3E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ppt-prismatic-dark-deck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518453" y="5761633"/>
            <a:ext cx="203327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A9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minimal-sans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22D3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8B72D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102850" y="1487091"/>
            <a:ext cx="5983252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Soft Pastel System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D0CD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02850" y="2744788"/>
            <a:ext cx="598325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B72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 · minimal-sans · centered · balanced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102850" y="3267075"/>
            <a:ext cx="598325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soft-pastel-system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#FAF7F4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#3A3640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A3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460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#8A8492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AF7F4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#FAF7F4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3A3640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#3A3640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8492"/>
          </a:solidFill>
          <a:ln w="12698">
            <a:solidFill>
              <a:srgbClr val="D0CDC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460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#8A8492</a:t>
            </a:r>
            <a:endParaRPr lang="en-US" sz="1333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FE9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C9C0A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71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61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23"/>
              </a:lnSpc>
              <a:buNone/>
            </a:pPr>
            <a:r>
              <a:rPr lang="en-US" sz="3600" b="1" dirty="0">
                <a:solidFill>
                  <a:srgbClr val="33302A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Archival Index Deck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00518" y="1323777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mixed · strict-grid · dense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2999184"/>
            <a:ext cx="9311336" cy="1258094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48819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598"/>
            <a:ext cx="4063579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#EFE9DD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#F6F2E8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#FBF8F0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330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#33302A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598"/>
            <a:ext cx="939763" cy="236934"/>
          </a:xfrm>
          <a:prstGeom prst="rect">
            <a:avLst/>
          </a:prstGeom>
          <a:solidFill>
            <a:srgbClr val="EFE9DD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200"/>
            <a:ext cx="95855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#EFE9DD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241857" y="5613598"/>
            <a:ext cx="939763" cy="236934"/>
          </a:xfrm>
          <a:prstGeom prst="rect">
            <a:avLst/>
          </a:prstGeom>
          <a:solidFill>
            <a:srgbClr val="F6F2E8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241857" y="5918200"/>
            <a:ext cx="95855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#F6F2E8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283195" y="5613598"/>
            <a:ext cx="939763" cy="236934"/>
          </a:xfrm>
          <a:prstGeom prst="rect">
            <a:avLst/>
          </a:prstGeom>
          <a:solidFill>
            <a:srgbClr val="FBF8F0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283195" y="5918200"/>
            <a:ext cx="95855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#FBF8F0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324533" y="5613598"/>
            <a:ext cx="939763" cy="236934"/>
          </a:xfrm>
          <a:prstGeom prst="rect">
            <a:avLst/>
          </a:prstGeom>
          <a:solidFill>
            <a:srgbClr val="33302A"/>
          </a:solidFill>
          <a:ln w="12698">
            <a:solidFill>
              <a:srgbClr val="C9C0A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24533" y="5918200"/>
            <a:ext cx="95855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951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#33302A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670396" y="5664200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670396" y="5918200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618293" y="5664200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618293" y="5918200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175638" y="5664200"/>
            <a:ext cx="23829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C59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175638" y="5918200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3302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ppt-archival-index-deck</a:t>
            </a:r>
            <a:endParaRPr lang="en-US" sz="1333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EB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C2693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72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82594" y="1487091"/>
            <a:ext cx="7023765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Warm Minimal Diagram Deck</a:t>
            </a:r>
            <a:endParaRPr lang="en-US" sz="4133" dirty="0"/>
          </a:p>
        </p:txBody>
      </p:sp>
      <p:sp>
        <p:nvSpPr>
          <p:cNvPr id="5" name="Text 3"/>
          <p:cNvSpPr/>
          <p:nvPr/>
        </p:nvSpPr>
        <p:spPr>
          <a:xfrm>
            <a:off x="4232209" y="2461220"/>
            <a:ext cx="3724336" cy="12700"/>
          </a:xfrm>
          <a:prstGeom prst="rect">
            <a:avLst/>
          </a:prstGeom>
          <a:solidFill>
            <a:srgbClr val="3D35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82594" y="2744788"/>
            <a:ext cx="7023765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269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minimal-sans · centered · airy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82594" y="3267075"/>
            <a:ext cx="702376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warm-minimal-diagram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BF7EF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#F2EBDF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#FBF7EF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#3D3528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3D35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655D5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#8A8170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2EBDF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#F2EBDF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BF7EF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#FBF7EF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3D3528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#3D3528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8A8170"/>
          </a:solidFill>
          <a:ln w="12698">
            <a:solidFill>
              <a:srgbClr val="3D352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55D5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#8A8170</a:t>
            </a:r>
            <a:endParaRPr lang="en-US" sz="1333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D6DAD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177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73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VARIANT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BCG 익스히빗 덱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177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F2F4F3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657281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#F2F4F3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#1A1A1A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#5B636E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838189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140282" y="5613400"/>
            <a:ext cx="838189" cy="236934"/>
          </a:xfrm>
          <a:prstGeom prst="rect">
            <a:avLst/>
          </a:prstGeom>
          <a:solidFill>
            <a:srgbClr val="F2F4F3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140282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#F2F4F3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4080045" y="5613400"/>
            <a:ext cx="838189" cy="236934"/>
          </a:xfrm>
          <a:prstGeom prst="rect">
            <a:avLst/>
          </a:prstGeom>
          <a:solidFill>
            <a:srgbClr val="1A1A1A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080045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#1A1A1A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5019809" y="5613400"/>
            <a:ext cx="838189" cy="236934"/>
          </a:xfrm>
          <a:prstGeom prst="rect">
            <a:avLst/>
          </a:prstGeom>
          <a:solidFill>
            <a:srgbClr val="5B636E"/>
          </a:solidFill>
          <a:ln w="12698">
            <a:solidFill>
              <a:srgbClr val="D6DA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19809" y="5918002"/>
            <a:ext cx="85495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B636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#5B636E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264098" y="5664002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264098" y="5918002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923017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923017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480362" y="5664002"/>
            <a:ext cx="207212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B63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480362" y="5918002"/>
            <a:ext cx="20721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1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ppt-bcg-exhibit-deck</a:t>
            </a:r>
            <a:endParaRPr lang="en-US" sz="1333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4700" y="541734"/>
            <a:ext cx="2319353" cy="363934"/>
          </a:xfrm>
          <a:prstGeom prst="rect">
            <a:avLst/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66916" y="609402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74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3096375" y="1362273"/>
            <a:ext cx="5996203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베인 리절츠 덱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CBCCC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096375" y="2869605"/>
            <a:ext cx="5996203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C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centered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3096375" y="3391892"/>
            <a:ext cx="599620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related · executive-minimal, corporate-blue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F4F5F6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#F4F5F6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#111827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454B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#9CA3AF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F4F5F6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#F4F5F6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111827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#111827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9CA3AF"/>
          </a:solidFill>
          <a:ln w="12698">
            <a:solidFill>
              <a:srgbClr val="CBCCC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54B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#9CA3AF</a:t>
            </a:r>
            <a:endParaRPr lang="en-US" sz="1333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3B4759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C8A24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75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E8E5DE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골드만 IR 덱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8A24B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dark · serif-editorial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1F3A5F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45413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#0A1A33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#1F3A5F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#E8E5DE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8E5DE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#9AA6BC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787402" cy="236934"/>
          </a:xfrm>
          <a:prstGeom prst="rect">
            <a:avLst/>
          </a:prstGeom>
          <a:solidFill>
            <a:srgbClr val="0A1A33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803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#0A1A33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89495" y="5613400"/>
            <a:ext cx="787402" cy="236934"/>
          </a:xfrm>
          <a:prstGeom prst="rect">
            <a:avLst/>
          </a:prstGeom>
          <a:solidFill>
            <a:srgbClr val="1F3A5F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089495" y="5918002"/>
            <a:ext cx="803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#1F3A5F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978471" y="5613400"/>
            <a:ext cx="787402" cy="236934"/>
          </a:xfrm>
          <a:prstGeom prst="rect">
            <a:avLst/>
          </a:prstGeom>
          <a:solidFill>
            <a:srgbClr val="E8E5DE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978471" y="5918002"/>
            <a:ext cx="803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#E8E5DE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867447" y="5613400"/>
            <a:ext cx="787402" cy="236934"/>
          </a:xfrm>
          <a:prstGeom prst="rect">
            <a:avLst/>
          </a:prstGeom>
          <a:solidFill>
            <a:srgbClr val="9AA6BC"/>
          </a:solidFill>
          <a:ln w="12698">
            <a:solidFill>
              <a:srgbClr val="3B475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867447" y="5918002"/>
            <a:ext cx="803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A6BC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#9AA6BC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060948" y="5638602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060948" y="5918002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5D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024592" y="56386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8024592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5D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9581937" y="5638602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A6BC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9581937" y="5918002"/>
            <a:ext cx="1968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E8E5D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ppt-goldman-ir-deck</a:t>
            </a:r>
            <a:endParaRPr lang="en-US" sz="1333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413418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Every 골든 그리드 키노트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541341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B5A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 · minimal-sans · block-grid · balanced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B5A6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76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ect">
            <a:avLst/>
          </a:prstGeom>
          <a:solidFill>
            <a:srgbClr val="EAEAE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ect">
            <a:avLst/>
          </a:prstGeom>
          <a:solidFill>
            <a:srgbClr val="EAEAE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2641955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golden-grid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#FAFAF8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#161616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#6E6E68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616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#B5A642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AFAF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161616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#161616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6E6E68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#6E6E68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B5A642"/>
          </a:solidFill>
          <a:ln w="12698">
            <a:solidFill>
              <a:srgbClr val="D8D8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E6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#B5A642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616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616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300457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E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300457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6161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ppt-every-golden-grid-keynote</a:t>
            </a:r>
            <a:endParaRPr lang="en-US" sz="1333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77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Pattern 볼드 포스터 키노트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E0E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heavy-display · full-bleed · airy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#1F3DFF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#FF4D2E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#0E0E0E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1F3DFF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#1F3DFF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FF4D2E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#FF4D2E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0E0E0E"/>
          </a:solidFill>
          <a:ln w="12698">
            <a:solidFill>
              <a:srgbClr val="5068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ED4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#0E0E0E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321178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E0E0E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ppt-pattern-bold-poster-keynote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CE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0E0E0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2EE6A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78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962944"/>
            <a:ext cx="5947030" cy="1588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F4F4F6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Altezza 울트라모던 키노트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788172"/>
            <a:ext cx="1625194" cy="67667"/>
          </a:xfrm>
          <a:prstGeom prst="rect">
            <a:avLst/>
          </a:prstGeom>
          <a:solidFill>
            <a:srgbClr val="2EE6A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4059039"/>
            <a:ext cx="594703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2EE6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heavy-display · asymmetric · dense · snappy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435402"/>
            <a:ext cx="1215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689402"/>
            <a:ext cx="1215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F4F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heavy-display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08838" y="5435402"/>
            <a:ext cx="93508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08838" y="5689402"/>
            <a:ext cx="93508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F4F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665613" y="5435402"/>
            <a:ext cx="289874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665613" y="5689402"/>
            <a:ext cx="28987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4F4F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ppt-altezza-ultramodern-keynote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3A3C4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ultramodern-clip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#13141A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#3A3C46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#F4F4F6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4F4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9A9C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#9A9CA6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13141A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#13141A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3A3C4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#3A3C46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F4F4F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#F4F4F6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9A9CA6"/>
          </a:solidFill>
          <a:ln w="12698">
            <a:solidFill>
              <a:srgbClr val="45454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A9CA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#9A9CA6</a:t>
            </a:r>
            <a:endParaRPr lang="en-US" sz="1333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D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5245261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Kula 미니멀리스트 키노트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524526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8C85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earth · minimal-sans · block-grid · airy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8C85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79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1947862"/>
            <a:ext cx="7009044" cy="3445470"/>
          </a:xfrm>
          <a:prstGeom prst="roundRect">
            <a:avLst>
              <a:gd name="adj" fmla="val 4914"/>
            </a:avLst>
          </a:prstGeom>
          <a:solidFill>
            <a:srgbClr val="FFFFFF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291086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1947862"/>
            <a:ext cx="3588837" cy="2675334"/>
          </a:xfrm>
          <a:prstGeom prst="roundRect">
            <a:avLst>
              <a:gd name="adj" fmla="val 6329"/>
            </a:avLst>
          </a:prstGeom>
          <a:solidFill>
            <a:srgbClr val="FFFFFF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50394"/>
            <a:ext cx="283621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kula-lookbook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#EDE8E0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#4A4540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4A45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#8C857C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EDE8E0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#EDE8E0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4A4540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#4A4540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8C857C"/>
          </a:solidFill>
          <a:ln w="12698">
            <a:solidFill>
              <a:srgbClr val="C9C4B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6E69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#8C857C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A4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A4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279736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6E69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27973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4A454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ppt-kula-minimalist-keynote</a:t>
            </a:r>
            <a:endParaRPr lang="en-US" sz="1333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A1E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7FA9C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901506" y="1419027"/>
            <a:ext cx="6385940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E6E8EC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Epoch 프리미엄 키노트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474A5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01506" y="2812852"/>
            <a:ext cx="638594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7FA9C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mixed · centered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901506" y="3335139"/>
            <a:ext cx="6385940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epoch-corporate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2C313B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#1A1E26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#2C313B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#E6E8EC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E6E8E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298A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#9298A4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1A1E26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#1A1E26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2C313B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#2C313B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E6E8EC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#E6E8EC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9298A4"/>
          </a:solidFill>
          <a:ln w="12698">
            <a:solidFill>
              <a:srgbClr val="474A5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9298A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#9298A4</a:t>
            </a:r>
            <a:endParaRPr lang="en-US" sz="1333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845404" cy="363934"/>
          </a:xfrm>
          <a:prstGeom prst="rect">
            <a:avLst/>
          </a:prstGeom>
          <a:solidFill>
            <a:srgbClr val="FF5C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81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2200473"/>
            <a:ext cx="5947030" cy="7941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253"/>
              </a:lnSpc>
              <a:buNone/>
            </a:pPr>
            <a:r>
              <a:rPr lang="en-US" sz="4666" b="1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Folio 포트폴리오 키노트</a:t>
            </a:r>
            <a:endParaRPr lang="en-US" sz="4666" dirty="0"/>
          </a:p>
        </p:txBody>
      </p:sp>
      <p:sp>
        <p:nvSpPr>
          <p:cNvPr id="5" name="Text 3"/>
          <p:cNvSpPr/>
          <p:nvPr/>
        </p:nvSpPr>
        <p:spPr>
          <a:xfrm>
            <a:off x="677098" y="3231555"/>
            <a:ext cx="1625194" cy="67667"/>
          </a:xfrm>
          <a:prstGeom prst="rect">
            <a:avLst/>
          </a:prstGeom>
          <a:solidFill>
            <a:srgbClr val="FF5C3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502422"/>
            <a:ext cx="594703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F5C3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asymmetric · balanced · playful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5435402"/>
            <a:ext cx="123659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677098" y="5689402"/>
            <a:ext cx="1236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329471" y="5435402"/>
            <a:ext cx="1030395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2329471" y="5689402"/>
            <a:ext cx="10303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asymmetric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3779686" y="5435402"/>
            <a:ext cx="278239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779686" y="5689402"/>
            <a:ext cx="27823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41414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ppt-folio-portfolio-keynote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947544" y="541734"/>
            <a:ext cx="4564112" cy="4834930"/>
          </a:xfrm>
          <a:prstGeom prst="rect">
            <a:avLst/>
          </a:prstGeom>
          <a:solidFill>
            <a:srgbClr val="FFFFFF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1040" y="2153444"/>
            <a:ext cx="4077062" cy="11382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231040" y="3494881"/>
            <a:ext cx="4077062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folio-portfolio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6947544" y="5613598"/>
            <a:ext cx="4564112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#F7F7F5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#141414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46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#9A9A9A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7544" y="5613598"/>
            <a:ext cx="1064946" cy="236934"/>
          </a:xfrm>
          <a:prstGeom prst="rect">
            <a:avLst/>
          </a:prstGeom>
          <a:solidFill>
            <a:srgbClr val="F7F7F5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47544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#F7F7F5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8114065" y="5613598"/>
            <a:ext cx="1064946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4065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280586" y="5613598"/>
            <a:ext cx="1064946" cy="236934"/>
          </a:xfrm>
          <a:prstGeom prst="rect">
            <a:avLst/>
          </a:prstGeom>
          <a:solidFill>
            <a:srgbClr val="141414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28058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#141414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10447106" y="5613598"/>
            <a:ext cx="1064946" cy="236934"/>
          </a:xfrm>
          <a:prstGeom prst="rect">
            <a:avLst/>
          </a:prstGeom>
          <a:solidFill>
            <a:srgbClr val="9A9A9A"/>
          </a:solidFill>
          <a:ln w="12698">
            <a:solidFill>
              <a:srgbClr val="C5C5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0447106" y="5918200"/>
            <a:ext cx="10862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46464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#9A9A9A</a:t>
            </a:r>
            <a:endParaRPr lang="en-US" sz="1333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0B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2319353" cy="363934"/>
          </a:xfrm>
          <a:prstGeom prst="rect">
            <a:avLst/>
          </a:prstGeom>
          <a:solidFill>
            <a:srgbClr val="C9A3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20549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82 / 92 · variant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07555"/>
            <a:ext cx="11051451" cy="1179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90"/>
              </a:lnSpc>
              <a:buNone/>
            </a:pPr>
            <a:r>
              <a:rPr lang="en-US" sz="6932" b="1" dirty="0">
                <a:solidFill>
                  <a:srgbClr val="EDEAE3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다크 럭셔리 키노트</a:t>
            </a:r>
            <a:endParaRPr lang="en-US" sz="6932" dirty="0"/>
          </a:p>
        </p:txBody>
      </p:sp>
      <p:sp>
        <p:nvSpPr>
          <p:cNvPr id="5" name="Text 3"/>
          <p:cNvSpPr/>
          <p:nvPr/>
        </p:nvSpPr>
        <p:spPr>
          <a:xfrm>
            <a:off x="677098" y="3158133"/>
            <a:ext cx="2031492" cy="67667"/>
          </a:xfrm>
          <a:prstGeom prst="rect">
            <a:avLst/>
          </a:prstGeom>
          <a:solidFill>
            <a:srgbClr val="C9A3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462734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C9A36A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dark · serif-editorial · full-bleed · airy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#0B0B0C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#1A1A1C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#EDEAE3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DEAE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#8E8A82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0B0B0C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#0B0B0C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1A1A1C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#1A1A1C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EDEAE3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#EDEAE3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8E8A82"/>
          </a:solidFill>
          <a:ln w="12698">
            <a:solidFill>
              <a:srgbClr val="3D3C3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8E8A8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#8E8A82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238294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C9A36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ppt-dark-luxury-keynote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378788" y="5748933"/>
            <a:ext cx="217572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8E8A82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serif-editorial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C9A3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0028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83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027937" y="1362273"/>
            <a:ext cx="8133078" cy="9528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7503"/>
              </a:lnSpc>
              <a:buNone/>
            </a:pPr>
            <a:r>
              <a:rPr lang="en-US" sz="5599" b="1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삼성전자 IR 절제</a:t>
            </a:r>
            <a:endParaRPr lang="en-US" sz="5599" dirty="0"/>
          </a:p>
        </p:txBody>
      </p:sp>
      <p:sp>
        <p:nvSpPr>
          <p:cNvPr id="5" name="Text 3"/>
          <p:cNvSpPr/>
          <p:nvPr/>
        </p:nvSpPr>
        <p:spPr>
          <a:xfrm>
            <a:off x="4232209" y="2586038"/>
            <a:ext cx="3724336" cy="12700"/>
          </a:xfrm>
          <a:prstGeom prst="rect">
            <a:avLst/>
          </a:prstGeom>
          <a:solidFill>
            <a:srgbClr val="0D206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027937" y="2869605"/>
            <a:ext cx="813307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28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vivid-primary · minimal-sans · asymmetric-content-driven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027937" y="3391892"/>
            <a:ext cx="813307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samsung-global-ir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ect">
            <a:avLst/>
          </a:prstGeom>
          <a:solidFill>
            <a:srgbClr val="EDEEEF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#06122A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#030414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0108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93E5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#F6F8FA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6122A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#06122A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30414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#030414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6F8FA"/>
          </a:solidFill>
          <a:ln w="12698">
            <a:solidFill>
              <a:srgbClr val="0D206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93E52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#F6F8FA</a:t>
            </a:r>
            <a:endParaRPr lang="en-US" sz="1333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882392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00000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SKT 인터랙티브 AI 피라미드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882392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23C3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monochrome-blue · thin-display · asymmetric-content-driven · balanced-with-whitespace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0023C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84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266950"/>
            <a:ext cx="7009044" cy="3100983"/>
          </a:xfrm>
          <a:prstGeom prst="rect">
            <a:avLst/>
          </a:prstGeom>
          <a:solidFill>
            <a:srgbClr val="E4EEFB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437930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266950"/>
            <a:ext cx="3588837" cy="2330847"/>
          </a:xfrm>
          <a:prstGeom prst="rect">
            <a:avLst/>
          </a:prstGeom>
          <a:solidFill>
            <a:srgbClr val="E4EEFB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62300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design-diversity · skt-interactive-report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347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#E4EEFB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#595757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347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34731"/>
            <a:ext cx="821127" cy="236934"/>
          </a:xfrm>
          <a:prstGeom prst="rect">
            <a:avLst/>
          </a:prstGeom>
          <a:solidFill>
            <a:srgbClr val="E4EEFB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#E4EEFB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34731"/>
            <a:ext cx="821127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34731"/>
            <a:ext cx="821127" cy="236934"/>
          </a:xfrm>
          <a:prstGeom prst="rect">
            <a:avLst/>
          </a:prstGeom>
          <a:solidFill>
            <a:srgbClr val="595757"/>
          </a:solidFill>
          <a:ln w="12698">
            <a:solidFill>
              <a:srgbClr val="D7D7D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393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95757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#595757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388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640741" y="56388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640741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4096512" y="5638800"/>
            <a:ext cx="31081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595757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4096512" y="5918200"/>
            <a:ext cx="31081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ppt-skt-interactive-ai-pyramid</a:t>
            </a:r>
            <a:endParaRPr lang="en-US" sz="1333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01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66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85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86930"/>
            <a:ext cx="11051451" cy="10209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39"/>
              </a:lnSpc>
              <a:buNone/>
            </a:pPr>
            <a:r>
              <a:rPr lang="en-US" sz="5999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현대차 시네마틱 인베스터데이</a:t>
            </a:r>
            <a:endParaRPr lang="en-US" sz="5999" dirty="0"/>
          </a:p>
        </p:txBody>
      </p:sp>
      <p:sp>
        <p:nvSpPr>
          <p:cNvPr id="5" name="Text 3"/>
          <p:cNvSpPr/>
          <p:nvPr/>
        </p:nvSpPr>
        <p:spPr>
          <a:xfrm>
            <a:off x="677098" y="3078758"/>
            <a:ext cx="2031492" cy="67667"/>
          </a:xfrm>
          <a:prstGeom prst="rect">
            <a:avLst/>
          </a:prstGeom>
          <a:solidFill>
            <a:srgbClr val="66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383359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66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heavy-display · full-bleed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#101030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#101838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#0E1329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#14274A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101030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#101030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101838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#101838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0E1329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#0E1329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14274A"/>
          </a:solidFill>
          <a:ln w="12698">
            <a:solidFill>
              <a:srgbClr val="45455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A8B4C8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#14274A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352260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66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ppt-hyundai-cinematic-investor-day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9454968" y="5761633"/>
            <a:ext cx="209802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A8B4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heavy-display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66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882392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통합보고서 어워드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8823920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3C7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multi-segment-signature · giant-display-sans · data-card-grid · dual-mode-breath · subtle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03C7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86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266950"/>
            <a:ext cx="7009044" cy="3126383"/>
          </a:xfrm>
          <a:prstGeom prst="roundRect">
            <a:avLst>
              <a:gd name="adj" fmla="val 5416"/>
            </a:avLst>
          </a:prstGeom>
          <a:solidFill>
            <a:srgbClr val="F5F5F5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450630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266950"/>
            <a:ext cx="3588837" cy="2356247"/>
          </a:xfrm>
          <a:prstGeom prst="roundRect">
            <a:avLst>
              <a:gd name="adj" fmla="val 7186"/>
            </a:avLst>
          </a:prstGeom>
          <a:solidFill>
            <a:srgbClr val="F5F5F5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175000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E3E3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naver-communication-design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#FAFAFA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#F5F5F5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#0A0A0A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FAFAFA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#FAFAFA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F5F5F5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#F5F5F5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0A0A0A"/>
          </a:solidFill>
          <a:ln w="12698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7B7B7B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#0A0A0A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341900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7B7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341900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ppt-naver-integrated-report-award</a:t>
            </a:r>
            <a:endParaRPr lang="en-US" sz="1333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BFBF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007AB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87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7032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38"/>
              </a:lnSpc>
              <a:buNone/>
            </a:pPr>
            <a:r>
              <a:rPr lang="en-US" sz="4133" b="1" dirty="0">
                <a:solidFill>
                  <a:srgbClr val="000000"/>
                </a:solidFill>
                <a:latin typeface="PlayfairDisplay" pitchFamily="34" charset="0"/>
                <a:ea typeface="PlayfairDisplay" pitchFamily="34" charset="-122"/>
                <a:cs typeface="PlayfairDisplay" pitchFamily="34" charset="-120"/>
              </a:rPr>
              <a:t>카카오 1Q26 보수 IR</a:t>
            </a:r>
            <a:endParaRPr lang="en-US" sz="4133" dirty="0"/>
          </a:p>
        </p:txBody>
      </p:sp>
      <p:sp>
        <p:nvSpPr>
          <p:cNvPr id="6" name="Text 4"/>
          <p:cNvSpPr/>
          <p:nvPr/>
        </p:nvSpPr>
        <p:spPr>
          <a:xfrm>
            <a:off x="2200518" y="1414463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7ABF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accent-signal · humanist-sans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044428"/>
            <a:ext cx="9311336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294063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2539960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#F2F2F2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#FFFFFF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#000000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#7F7F7F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558859" cy="236934"/>
          </a:xfrm>
          <a:prstGeom prst="rect">
            <a:avLst/>
          </a:prstGeom>
          <a:solidFill>
            <a:srgbClr val="F2F2F2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5700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#F2F2F2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2860952" y="5613400"/>
            <a:ext cx="558859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60952" y="5918002"/>
            <a:ext cx="5700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521385" y="5613400"/>
            <a:ext cx="558859" cy="236934"/>
          </a:xfrm>
          <a:prstGeom prst="rect">
            <a:avLst/>
          </a:prstGeom>
          <a:solidFill>
            <a:srgbClr val="000000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521385" y="5918002"/>
            <a:ext cx="5700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#000000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181818" y="5613400"/>
            <a:ext cx="558859" cy="236934"/>
          </a:xfrm>
          <a:prstGeom prst="rect">
            <a:avLst/>
          </a:prstGeom>
          <a:solidFill>
            <a:srgbClr val="7F7F7F"/>
          </a:solidFill>
          <a:ln w="12698">
            <a:solidFill>
              <a:srgbClr val="BFBF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181818" y="5918002"/>
            <a:ext cx="57003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53535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#7F7F7F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146777" y="5638602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146777" y="5918002"/>
            <a:ext cx="15540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serif-editorial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7110420" y="56386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7110420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667765" y="5638602"/>
            <a:ext cx="290097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353535"/>
                </a:solidFill>
                <a:latin typeface="SourceSerif4" pitchFamily="34" charset="0"/>
                <a:ea typeface="SourceSerif4" pitchFamily="34" charset="-122"/>
                <a:cs typeface="SourceSerif4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667765" y="5918002"/>
            <a:ext cx="290097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0000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ppt-kakao-friendly-card-news</a:t>
            </a:r>
            <a:endParaRPr lang="en-US" sz="1333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018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8823920" cy="680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359"/>
              </a:lnSpc>
              <a:buNone/>
            </a:pPr>
            <a:r>
              <a:rPr lang="en-US" sz="3999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산업통상부 슬로건 캘리그래피</a:t>
            </a:r>
            <a:endParaRPr lang="en-US" sz="3999" dirty="0"/>
          </a:p>
        </p:txBody>
      </p:sp>
      <p:sp>
        <p:nvSpPr>
          <p:cNvPr id="3" name="Text 1"/>
          <p:cNvSpPr/>
          <p:nvPr/>
        </p:nvSpPr>
        <p:spPr>
          <a:xfrm>
            <a:off x="677098" y="1357908"/>
            <a:ext cx="8823920" cy="957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navy-mono-with-gold-cyan-accent · slogan-calligraphy-driven · asymmetric-card-grid + photo-fullscreen + map-pin-infographic · generous-breathing-slogan-dominant · none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9666450" y="508000"/>
            <a:ext cx="1845404" cy="363934"/>
          </a:xfrm>
          <a:prstGeom prst="rect">
            <a:avLst/>
          </a:prstGeom>
          <a:solidFill>
            <a:srgbClr val="E8F8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818812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88 / 92 · new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677098" y="2586038"/>
            <a:ext cx="7009044" cy="2807295"/>
          </a:xfrm>
          <a:prstGeom prst="rect">
            <a:avLst/>
          </a:prstGeom>
          <a:solidFill>
            <a:srgbClr val="FFFFFF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0594" y="3610173"/>
            <a:ext cx="6570893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923017" y="2586038"/>
            <a:ext cx="3588837" cy="2037159"/>
          </a:xfrm>
          <a:prstGeom prst="rect">
            <a:avLst/>
          </a:prstGeom>
          <a:solidFill>
            <a:srgbClr val="FFFFFF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172589" y="3334544"/>
            <a:ext cx="3151487" cy="5401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4040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korea-gov-slogan-deck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923017" y="4860131"/>
            <a:ext cx="358883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#001838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#002858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#003070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#E8F0F8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23017" y="4860131"/>
            <a:ext cx="821127" cy="236934"/>
          </a:xfrm>
          <a:prstGeom prst="rect">
            <a:avLst/>
          </a:prstGeom>
          <a:solidFill>
            <a:srgbClr val="001838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23017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#001838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8845719" y="4860131"/>
            <a:ext cx="821127" cy="236934"/>
          </a:xfrm>
          <a:prstGeom prst="rect">
            <a:avLst/>
          </a:prstGeom>
          <a:solidFill>
            <a:srgbClr val="002858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845719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#002858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768421" y="4860131"/>
            <a:ext cx="821127" cy="236934"/>
          </a:xfrm>
          <a:prstGeom prst="rect">
            <a:avLst/>
          </a:prstGeom>
          <a:solidFill>
            <a:srgbClr val="003070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768421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#003070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10691123" y="4860131"/>
            <a:ext cx="821127" cy="236934"/>
          </a:xfrm>
          <a:prstGeom prst="rect">
            <a:avLst/>
          </a:prstGeom>
          <a:solidFill>
            <a:srgbClr val="E8F0F8"/>
          </a:solidFill>
          <a:ln w="12698">
            <a:solidFill>
              <a:srgbClr val="384B6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691123" y="5164733"/>
            <a:ext cx="837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7CCD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#E8F0F8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677098" y="5664200"/>
            <a:ext cx="124327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77098" y="5918200"/>
            <a:ext cx="1243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minimal-sans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2336017" y="5664200"/>
            <a:ext cx="103606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2336017" y="5918200"/>
            <a:ext cx="103606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block-grid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3791788" y="5664200"/>
            <a:ext cx="2900971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7CCD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791788" y="5918200"/>
            <a:ext cx="290097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ppt-motie-slogan-infographic</a:t>
            </a:r>
            <a:endParaRPr lang="en-US" sz="1333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7F1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89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1259592" y="1259483"/>
            <a:ext cx="9669767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과기정통부 정통 정부 라이트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369741"/>
            <a:ext cx="3724336" cy="12700"/>
          </a:xfrm>
          <a:prstGeom prst="rect">
            <a:avLst/>
          </a:prstGeom>
          <a:solidFill>
            <a:srgbClr val="BAC5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59592" y="2653308"/>
            <a:ext cx="9669767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02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light-navy-pale-blue · pretendard-balanced · asymmetric-2col-with-ribbon · balanced · none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1259592" y="3494683"/>
            <a:ext cx="966976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korea-gov-navy-ribbon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#E7F1FA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#E0EEF9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#F4F9FC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1C284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3C48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#FFFFFF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E7F1FA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#E7F1FA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E0EEF9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#E0EEF9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F4F9FC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#F4F9FC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FFFFFF"/>
          </a:solidFill>
          <a:ln w="12698">
            <a:solidFill>
              <a:srgbClr val="BAC5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3C4860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#FFFFFF</a:t>
            </a:r>
            <a:endParaRPr lang="en-US" sz="1333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509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71774" y="541734"/>
            <a:ext cx="1845404" cy="363934"/>
          </a:xfrm>
          <a:prstGeom prst="rect">
            <a:avLst/>
          </a:prstGeom>
          <a:solidFill>
            <a:srgbClr val="FCFC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308729" y="609402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33" b="1" dirty="0">
                <a:solidFill>
                  <a:srgbClr val="0A0A0A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90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2590688" y="1419027"/>
            <a:ext cx="7007576" cy="83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10"/>
              </a:lnSpc>
              <a:buNone/>
            </a:pPr>
            <a:r>
              <a:rPr lang="en-US" sz="4933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기획재정부 시네마틱 브리핑</a:t>
            </a:r>
            <a:endParaRPr lang="en-US" sz="4933" dirty="0"/>
          </a:p>
        </p:txBody>
      </p:sp>
      <p:sp>
        <p:nvSpPr>
          <p:cNvPr id="5" name="Text 3"/>
          <p:cNvSpPr/>
          <p:nvPr/>
        </p:nvSpPr>
        <p:spPr>
          <a:xfrm>
            <a:off x="4232209" y="2529284"/>
            <a:ext cx="3724336" cy="12700"/>
          </a:xfrm>
          <a:prstGeom prst="rect">
            <a:avLst/>
          </a:prstGeom>
          <a:solidFill>
            <a:srgbClr val="3C3F4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90688" y="2812852"/>
            <a:ext cx="7007576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FCFCF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multi · mixed · hybrid · medium · minimal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590688" y="3335139"/>
            <a:ext cx="7007576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design-diversity · korea-gov-cinematic-briefing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049472" y="4118570"/>
            <a:ext cx="10090008" cy="1258094"/>
          </a:xfrm>
          <a:prstGeom prst="roundRect">
            <a:avLst>
              <a:gd name="adj" fmla="val 13458"/>
            </a:avLst>
          </a:prstGeom>
          <a:solidFill>
            <a:srgbClr val="FFFFFF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66893" y="4368205"/>
            <a:ext cx="964427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049472" y="5613598"/>
            <a:ext cx="10090008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#05091A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#040716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#050818</a:t>
            </a:r>
            <a:endParaRPr lang="en-US" sz="1600" dirty="0"/>
          </a:p>
          <a:p>
            <a:pPr algn="ctr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C8C9C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#050B1E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49472" y="5613598"/>
            <a:ext cx="2446321" cy="236934"/>
          </a:xfrm>
          <a:prstGeom prst="rect">
            <a:avLst/>
          </a:prstGeom>
          <a:solidFill>
            <a:srgbClr val="05091A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5009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#05091A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3597368" y="5613598"/>
            <a:ext cx="2446321" cy="236934"/>
          </a:xfrm>
          <a:prstGeom prst="rect">
            <a:avLst/>
          </a:prstGeom>
          <a:solidFill>
            <a:srgbClr val="040716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72904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#040716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6145263" y="5613598"/>
            <a:ext cx="2446321" cy="236934"/>
          </a:xfrm>
          <a:prstGeom prst="rect">
            <a:avLst/>
          </a:prstGeom>
          <a:solidFill>
            <a:srgbClr val="050818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20800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#050818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8693159" y="5613598"/>
            <a:ext cx="2446321" cy="236934"/>
          </a:xfrm>
          <a:prstGeom prst="rect">
            <a:avLst/>
          </a:prstGeom>
          <a:solidFill>
            <a:srgbClr val="050B1E"/>
          </a:solidFill>
          <a:ln w="12698">
            <a:solidFill>
              <a:srgbClr val="3C3F4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68696" y="5918200"/>
            <a:ext cx="2495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8C9C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#050B1E</a:t>
            </a:r>
            <a:endParaRPr lang="en-US" sz="1333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E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08000"/>
            <a:ext cx="1845404" cy="363934"/>
          </a:xfrm>
          <a:prstGeom prst="rect">
            <a:avLst/>
          </a:prstGeom>
          <a:solidFill>
            <a:srgbClr val="022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9460" y="575667"/>
            <a:ext cx="157149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91 / 92 · new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677098" y="1707555"/>
            <a:ext cx="11051451" cy="1179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90"/>
              </a:lnSpc>
              <a:buNone/>
            </a:pPr>
            <a:r>
              <a:rPr lang="en-US" sz="6932" b="1" dirty="0">
                <a:solidFill>
                  <a:srgbClr val="32355D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문체부 K-컬처 라벤더</a:t>
            </a:r>
            <a:endParaRPr lang="en-US" sz="6932" dirty="0"/>
          </a:p>
        </p:txBody>
      </p:sp>
      <p:sp>
        <p:nvSpPr>
          <p:cNvPr id="5" name="Text 3"/>
          <p:cNvSpPr/>
          <p:nvPr/>
        </p:nvSpPr>
        <p:spPr>
          <a:xfrm>
            <a:off x="677098" y="3158133"/>
            <a:ext cx="2031492" cy="67667"/>
          </a:xfrm>
          <a:prstGeom prst="rect">
            <a:avLst/>
          </a:prstGeom>
          <a:solidFill>
            <a:srgbClr val="022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3462734"/>
            <a:ext cx="11051451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02285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pastel-accent · mixed · hybrid · medium · static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677098" y="4617442"/>
            <a:ext cx="638938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7516719" y="4843066"/>
            <a:ext cx="3995135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#EEF2F7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#E7EDF5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#E5ECF4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32355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#E2E9EE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16719" y="4843066"/>
            <a:ext cx="922702" cy="236934"/>
          </a:xfrm>
          <a:prstGeom prst="rect">
            <a:avLst/>
          </a:prstGeom>
          <a:solidFill>
            <a:srgbClr val="EEF2F7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1671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#EEF2F7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8540995" y="4843066"/>
            <a:ext cx="922702" cy="236934"/>
          </a:xfrm>
          <a:prstGeom prst="rect">
            <a:avLst/>
          </a:prstGeom>
          <a:solidFill>
            <a:srgbClr val="E7EDF5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540995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#E7EDF5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9565272" y="4843066"/>
            <a:ext cx="922702" cy="236934"/>
          </a:xfrm>
          <a:prstGeom prst="rect">
            <a:avLst/>
          </a:prstGeom>
          <a:solidFill>
            <a:srgbClr val="E5ECF4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65272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#E5ECF4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10589549" y="4843066"/>
            <a:ext cx="922702" cy="236934"/>
          </a:xfrm>
          <a:prstGeom prst="rect">
            <a:avLst/>
          </a:prstGeom>
          <a:solidFill>
            <a:srgbClr val="E2E9EE"/>
          </a:solidFill>
          <a:ln w="12698">
            <a:solidFill>
              <a:srgbClr val="C5C8D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589549" y="5147667"/>
            <a:ext cx="94115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5C5C6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#E2E9EE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677098" y="5748933"/>
            <a:ext cx="18649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022853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ppt-mcst-k-culture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10115203" y="5761633"/>
            <a:ext cx="142458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5C5C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· full-bleed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0" y="6688733"/>
            <a:ext cx="12188952" cy="169267"/>
          </a:xfrm>
          <a:prstGeom prst="rect">
            <a:avLst/>
          </a:prstGeom>
          <a:solidFill>
            <a:srgbClr val="0228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508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54146" y="0"/>
            <a:ext cx="0" cy="6858000"/>
          </a:xfrm>
          <a:prstGeom prst="line">
            <a:avLst/>
          </a:prstGeom>
          <a:noFill/>
          <a:ln w="12698">
            <a:solidFill>
              <a:srgbClr val="3C3E58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7098" y="508000"/>
            <a:ext cx="1092113" cy="635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002"/>
              </a:lnSpc>
              <a:buNone/>
            </a:pPr>
            <a:r>
              <a:rPr lang="en-US" sz="3733" b="1" dirty="0">
                <a:solidFill>
                  <a:srgbClr val="EDF4FD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92</a:t>
            </a:r>
            <a:endParaRPr lang="en-US" sz="3733" dirty="0"/>
          </a:p>
        </p:txBody>
      </p:sp>
      <p:sp>
        <p:nvSpPr>
          <p:cNvPr id="4" name="Text 2"/>
          <p:cNvSpPr/>
          <p:nvPr/>
        </p:nvSpPr>
        <p:spPr>
          <a:xfrm>
            <a:off x="677098" y="5918200"/>
            <a:ext cx="109211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NEW</a:t>
            </a:r>
            <a:endParaRPr lang="en-US" sz="1333" dirty="0"/>
          </a:p>
        </p:txBody>
      </p:sp>
      <p:sp>
        <p:nvSpPr>
          <p:cNvPr id="5" name="Text 3"/>
          <p:cNvSpPr/>
          <p:nvPr/>
        </p:nvSpPr>
        <p:spPr>
          <a:xfrm>
            <a:off x="2200518" y="508000"/>
            <a:ext cx="9497562" cy="8167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431"/>
              </a:lnSpc>
              <a:buNone/>
            </a:pPr>
            <a:r>
              <a:rPr lang="en-US" sz="4799" b="1" dirty="0">
                <a:solidFill>
                  <a:srgbClr val="FFFFFF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통일부 한반도 평화공존</a:t>
            </a:r>
            <a:endParaRPr lang="en-US" sz="4799" dirty="0"/>
          </a:p>
        </p:txBody>
      </p:sp>
      <p:sp>
        <p:nvSpPr>
          <p:cNvPr id="6" name="Text 4"/>
          <p:cNvSpPr/>
          <p:nvPr/>
        </p:nvSpPr>
        <p:spPr>
          <a:xfrm>
            <a:off x="2200518" y="1527969"/>
            <a:ext cx="9497562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13"/>
              </a:lnSpc>
              <a:buNone/>
            </a:pPr>
            <a:r>
              <a:rPr lang="en-US" sz="1733" b="1" dirty="0">
                <a:solidFill>
                  <a:srgbClr val="EDF4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dark · mixed · strict-grid · balanced · subtle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2200518" y="3101181"/>
            <a:ext cx="9311336" cy="1258094"/>
          </a:xfrm>
          <a:prstGeom prst="rect">
            <a:avLst/>
          </a:prstGeom>
          <a:solidFill>
            <a:srgbClr val="FFFFFF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84015" y="3350816"/>
            <a:ext cx="8919230" cy="758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1866" dirty="0">
                <a:solidFill>
                  <a:srgbClr val="0A0A0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인공지능이 업무를 대신 실행하기 시작하면, 조직이 먼저 정해야 하는 것은 도구가 아니라 사람이 개입할 지점이다.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2200518" y="5613400"/>
            <a:ext cx="3352557" cy="533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#050829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#02072B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#02153D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/>
            </a:r>
            <a:pPr algn="l" indent="0" marL="0">
              <a:buNone/>
            </a:pPr>
            <a:r>
              <a:rPr lang="en-US" sz="1600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#001B4A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00518" y="5613400"/>
            <a:ext cx="762008" cy="236934"/>
          </a:xfrm>
          <a:prstGeom prst="rect">
            <a:avLst/>
          </a:prstGeom>
          <a:solidFill>
            <a:srgbClr val="050829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200518" y="5918002"/>
            <a:ext cx="777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#050829</a:t>
            </a:r>
            <a:endParaRPr lang="en-US" sz="1333" dirty="0"/>
          </a:p>
        </p:txBody>
      </p:sp>
      <p:sp>
        <p:nvSpPr>
          <p:cNvPr id="12" name="Text 10"/>
          <p:cNvSpPr/>
          <p:nvPr/>
        </p:nvSpPr>
        <p:spPr>
          <a:xfrm>
            <a:off x="3064101" y="5613400"/>
            <a:ext cx="762008" cy="236934"/>
          </a:xfrm>
          <a:prstGeom prst="rect">
            <a:avLst/>
          </a:prstGeom>
          <a:solidFill>
            <a:srgbClr val="02072B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064101" y="5918002"/>
            <a:ext cx="777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#02072B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3927683" y="5613400"/>
            <a:ext cx="762008" cy="236934"/>
          </a:xfrm>
          <a:prstGeom prst="rect">
            <a:avLst/>
          </a:prstGeom>
          <a:solidFill>
            <a:srgbClr val="02153D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927683" y="5918002"/>
            <a:ext cx="777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#02153D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4791266" y="5613400"/>
            <a:ext cx="762008" cy="236934"/>
          </a:xfrm>
          <a:prstGeom prst="rect">
            <a:avLst/>
          </a:prstGeom>
          <a:solidFill>
            <a:srgbClr val="001B4A"/>
          </a:solidFill>
          <a:ln w="12698">
            <a:solidFill>
              <a:srgbClr val="3C3E5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791266" y="5918002"/>
            <a:ext cx="777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Bef>
                <a:spcPts val="533"/>
              </a:spcBef>
              <a:buNone/>
            </a:pPr>
            <a:r>
              <a:rPr lang="en-US" sz="1333" dirty="0">
                <a:solidFill>
                  <a:srgbClr val="C9D9E6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#001B4A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5959374" y="5664002"/>
            <a:ext cx="51803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TYPE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5959374" y="5918002"/>
            <a:ext cx="51803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mixed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6907271" y="5664002"/>
            <a:ext cx="1139667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6907271" y="5918002"/>
            <a:ext cx="113966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strict-grid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8464616" y="5664002"/>
            <a:ext cx="310818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33" dirty="0">
                <a:solidFill>
                  <a:srgbClr val="C9D9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8464616" y="5918002"/>
            <a:ext cx="310818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FFFFFF"/>
                </a:solidFill>
                <a:latin typeface="JetBrainsMono" pitchFamily="34" charset="0"/>
                <a:ea typeface="JetBrainsMono" pitchFamily="34" charset="-122"/>
                <a:cs typeface="JetBrainsMono" pitchFamily="34" charset="-120"/>
              </a:rPr>
              <a:t>ppt-unikorea-peace-coexistence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2026-08-27T16:58:31Z</dcterms:created>
  <dcterms:modified xsi:type="dcterms:W3CDTF">2026-08-27T16:58:31Z</dcterms:modified>
</cp:coreProperties>
</file>