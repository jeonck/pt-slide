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298" y="406400"/>
            <a:ext cx="7059435" cy="4088408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0247" y="880467"/>
            <a:ext cx="6233768" cy="236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E8A3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ENGINEERING · PLATFORM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880247" y="1286669"/>
            <a:ext cx="6233768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99"/>
              </a:lnSpc>
              <a:spcBef>
                <a:spcPts val="1333"/>
              </a:spcBef>
              <a:buNone/>
            </a:pPr>
            <a:r>
              <a:rPr lang="en-US" sz="5333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Deployment</a:t>
            </a:r>
            <a:endParaRPr lang="en-US" sz="5333" dirty="0"/>
          </a:p>
          <a:p>
            <a:pPr algn="l" indent="0" marL="0">
              <a:lnSpc>
                <a:spcPts val="6399"/>
              </a:lnSpc>
              <a:spcBef>
                <a:spcPts val="1333"/>
              </a:spcBef>
              <a:buNone/>
            </a:pPr>
            <a:r>
              <a:rPr lang="en-US" sz="5333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strategies</a:t>
            </a:r>
            <a:endParaRPr lang="en-US" sz="5333" dirty="0"/>
          </a:p>
        </p:txBody>
      </p:sp>
      <p:sp>
        <p:nvSpPr>
          <p:cNvPr id="5" name="Text 3"/>
          <p:cNvSpPr/>
          <p:nvPr/>
        </p:nvSpPr>
        <p:spPr>
          <a:xfrm>
            <a:off x="880247" y="3115072"/>
            <a:ext cx="6233768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· Blue-green · Canary</a:t>
            </a:r>
            <a:endParaRPr lang="en-US" sz="1866" dirty="0"/>
          </a:p>
        </p:txBody>
      </p:sp>
      <p:sp>
        <p:nvSpPr>
          <p:cNvPr id="6" name="Text 4"/>
          <p:cNvSpPr/>
          <p:nvPr/>
        </p:nvSpPr>
        <p:spPr>
          <a:xfrm>
            <a:off x="880247" y="3783806"/>
            <a:ext cx="6233768" cy="236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559"/>
              </a:spcBef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06298" y="4596408"/>
            <a:ext cx="7059435" cy="1855192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4748" y="4934942"/>
            <a:ext cx="6510186" cy="1178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3"/>
              </a:lnSpc>
              <a:buNone/>
            </a:pPr>
            <a:r>
              <a:rPr lang="en-US" sz="2133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strategy is not a matter of taste. It is decided by how fast you must be able to roll back, and by whether your traffic can be split.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7567308" y="406400"/>
            <a:ext cx="4215346" cy="1947267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72031" y="851694"/>
            <a:ext cx="367801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buNone/>
            </a:pPr>
            <a:r>
              <a:rPr lang="en-US" sz="45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4533" dirty="0"/>
          </a:p>
        </p:txBody>
      </p:sp>
      <p:sp>
        <p:nvSpPr>
          <p:cNvPr id="11" name="Text 9"/>
          <p:cNvSpPr/>
          <p:nvPr/>
        </p:nvSpPr>
        <p:spPr>
          <a:xfrm>
            <a:off x="7872031" y="1576189"/>
            <a:ext cx="3678016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267"/>
              </a:spcBef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567308" y="2455267"/>
            <a:ext cx="4215346" cy="1947267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72031" y="2900561"/>
            <a:ext cx="367801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buNone/>
            </a:pPr>
            <a:r>
              <a:rPr lang="en-US" sz="45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4533" dirty="0"/>
          </a:p>
        </p:txBody>
      </p:sp>
      <p:sp>
        <p:nvSpPr>
          <p:cNvPr id="14" name="Text 12"/>
          <p:cNvSpPr/>
          <p:nvPr/>
        </p:nvSpPr>
        <p:spPr>
          <a:xfrm>
            <a:off x="7872031" y="3625056"/>
            <a:ext cx="3678016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267"/>
              </a:spcBef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BLUE-GREEN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7567308" y="4504134"/>
            <a:ext cx="4215346" cy="1947267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72031" y="4949428"/>
            <a:ext cx="367801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buNone/>
            </a:pPr>
            <a:r>
              <a:rPr lang="en-US" sz="45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4533" dirty="0"/>
          </a:p>
        </p:txBody>
      </p:sp>
      <p:sp>
        <p:nvSpPr>
          <p:cNvPr id="17" name="Text 15"/>
          <p:cNvSpPr/>
          <p:nvPr/>
        </p:nvSpPr>
        <p:spPr>
          <a:xfrm>
            <a:off x="7872031" y="5673923"/>
            <a:ext cx="3678016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267"/>
              </a:spcBef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</a:t>
            </a:r>
            <a:endParaRPr lang="en-US" sz="186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873" y="457200"/>
            <a:ext cx="783581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9"/>
              </a:lnSpc>
              <a:buNone/>
            </a:pPr>
            <a:r>
              <a:rPr lang="en-US" sz="3200" b="1" dirty="0">
                <a:solidFill>
                  <a:srgbClr val="2A2D3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ways to replace a running version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23993" y="492720"/>
            <a:ext cx="457086" cy="457200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12871" y="567333"/>
            <a:ext cx="284917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677098" y="2236589"/>
            <a:ext cx="1519691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RELEASES</a:t>
            </a:r>
            <a:endParaRPr lang="en-US" sz="1466" dirty="0"/>
          </a:p>
        </p:txBody>
      </p:sp>
      <p:sp>
        <p:nvSpPr>
          <p:cNvPr id="6" name="Text 4"/>
          <p:cNvSpPr/>
          <p:nvPr/>
        </p:nvSpPr>
        <p:spPr>
          <a:xfrm>
            <a:off x="507873" y="3110508"/>
            <a:ext cx="1828343" cy="1244798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7098" y="3481388"/>
            <a:ext cx="1519691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ROLLS BACK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677098" y="4726186"/>
            <a:ext cx="1519691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COSTS YOU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2437790" y="1222375"/>
            <a:ext cx="3013314" cy="4377928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40940" y="1368028"/>
            <a:ext cx="336720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21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3106358" y="1395412"/>
            <a:ext cx="106560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2437790" y="1872059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0940" y="2162373"/>
            <a:ext cx="265915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instances in batches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2437790" y="3116858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0940" y="3241278"/>
            <a:ext cx="2659156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Deploying the old build again, batch by batch</a:t>
            </a:r>
            <a:endParaRPr lang="en-US" sz="1866" dirty="0"/>
          </a:p>
        </p:txBody>
      </p:sp>
      <p:sp>
        <p:nvSpPr>
          <p:cNvPr id="16" name="Shape 14"/>
          <p:cNvSpPr/>
          <p:nvPr/>
        </p:nvSpPr>
        <p:spPr>
          <a:xfrm>
            <a:off x="2437790" y="4361656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0940" y="4486077"/>
            <a:ext cx="2659156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fleet, with headroom for the surge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5552679" y="1222375"/>
            <a:ext cx="3013314" cy="4377928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55828" y="1368028"/>
            <a:ext cx="336720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21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133" dirty="0"/>
          </a:p>
        </p:txBody>
      </p:sp>
      <p:sp>
        <p:nvSpPr>
          <p:cNvPr id="20" name="Text 18"/>
          <p:cNvSpPr/>
          <p:nvPr/>
        </p:nvSpPr>
        <p:spPr>
          <a:xfrm>
            <a:off x="6221246" y="1395412"/>
            <a:ext cx="158525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BLUE-GREEN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5552679" y="1872059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5828" y="2162373"/>
            <a:ext cx="265915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 a router to a second full stack</a:t>
            </a:r>
            <a:endParaRPr lang="en-US" sz="1866" dirty="0"/>
          </a:p>
        </p:txBody>
      </p:sp>
      <p:sp>
        <p:nvSpPr>
          <p:cNvPr id="23" name="Shape 21"/>
          <p:cNvSpPr/>
          <p:nvPr/>
        </p:nvSpPr>
        <p:spPr>
          <a:xfrm>
            <a:off x="5552679" y="3116858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55828" y="3407172"/>
            <a:ext cx="265915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 the router back</a:t>
            </a:r>
            <a:endParaRPr lang="en-US" sz="1866" dirty="0"/>
          </a:p>
        </p:txBody>
      </p:sp>
      <p:sp>
        <p:nvSpPr>
          <p:cNvPr id="25" name="Shape 23"/>
          <p:cNvSpPr/>
          <p:nvPr/>
        </p:nvSpPr>
        <p:spPr>
          <a:xfrm>
            <a:off x="5552679" y="4361656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55828" y="4651970"/>
            <a:ext cx="265915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full environments at once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8667567" y="1222375"/>
            <a:ext cx="3013314" cy="4377928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70716" y="1368028"/>
            <a:ext cx="336720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21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133" dirty="0"/>
          </a:p>
        </p:txBody>
      </p:sp>
      <p:sp>
        <p:nvSpPr>
          <p:cNvPr id="29" name="Text 27"/>
          <p:cNvSpPr/>
          <p:nvPr/>
        </p:nvSpPr>
        <p:spPr>
          <a:xfrm>
            <a:off x="9336134" y="1395412"/>
            <a:ext cx="105224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8667567" y="1872059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70716" y="2162373"/>
            <a:ext cx="265915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a slice of traffic to the new build</a:t>
            </a:r>
            <a:endParaRPr lang="en-US" sz="1866" dirty="0"/>
          </a:p>
        </p:txBody>
      </p:sp>
      <p:sp>
        <p:nvSpPr>
          <p:cNvPr id="32" name="Shape 30"/>
          <p:cNvSpPr/>
          <p:nvPr/>
        </p:nvSpPr>
        <p:spPr>
          <a:xfrm>
            <a:off x="8667567" y="3116858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70716" y="3573264"/>
            <a:ext cx="2659156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Withdrawing the slice</a:t>
            </a:r>
            <a:endParaRPr lang="en-US" sz="1866" dirty="0"/>
          </a:p>
        </p:txBody>
      </p:sp>
      <p:sp>
        <p:nvSpPr>
          <p:cNvPr id="34" name="Shape 32"/>
          <p:cNvSpPr/>
          <p:nvPr/>
        </p:nvSpPr>
        <p:spPr>
          <a:xfrm>
            <a:off x="8667567" y="4361656"/>
            <a:ext cx="301331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70716" y="4651970"/>
            <a:ext cx="265915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routing and per-slice telemetry</a:t>
            </a:r>
            <a:endParaRPr lang="en-US" sz="1866" dirty="0"/>
          </a:p>
        </p:txBody>
      </p:sp>
      <p:sp>
        <p:nvSpPr>
          <p:cNvPr id="36" name="Text 34"/>
          <p:cNvSpPr/>
          <p:nvPr/>
        </p:nvSpPr>
        <p:spPr>
          <a:xfrm>
            <a:off x="507873" y="5735637"/>
            <a:ext cx="11173206" cy="715963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78672" y="5921772"/>
            <a:ext cx="10844239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one of the three undoes a release by deploying again. The other two undo it by routing.</a:t>
            </a:r>
            <a:endParaRPr lang="en-US" sz="18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873" y="457200"/>
            <a:ext cx="792283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9"/>
              </a:lnSpc>
              <a:buNone/>
            </a:pPr>
            <a:r>
              <a:rPr lang="en-US" sz="3200" b="1" dirty="0">
                <a:solidFill>
                  <a:srgbClr val="2A2D3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two questions that actually decide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23993" y="492720"/>
            <a:ext cx="457086" cy="457200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12871" y="567333"/>
            <a:ext cx="284917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2810164" y="1222375"/>
            <a:ext cx="4472465" cy="236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CANNOT BE SPLIT BY REQUEST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7296508" y="1222375"/>
            <a:ext cx="4472465" cy="236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CAN BE SPLIT BY REQUEST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63859" y="2359223"/>
            <a:ext cx="2244731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BAD RELEASE MUST STOP AT ONCE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63859" y="4531122"/>
            <a:ext cx="2244731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6B6F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BAD RELEASE CAN WAIT FOR A REDEPLOY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2810164" y="1560909"/>
            <a:ext cx="4401632" cy="2104231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47040" y="1852612"/>
            <a:ext cx="400643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Blue-green</a:t>
            </a:r>
            <a:endParaRPr lang="en-US" sz="2666" dirty="0"/>
          </a:p>
        </p:txBody>
      </p:sp>
      <p:sp>
        <p:nvSpPr>
          <p:cNvPr id="11" name="Text 9"/>
          <p:cNvSpPr/>
          <p:nvPr/>
        </p:nvSpPr>
        <p:spPr>
          <a:xfrm>
            <a:off x="3047040" y="2377480"/>
            <a:ext cx="4006439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Stopping at once needs a switch. A switch does not need per-request routing.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279447" y="1560909"/>
            <a:ext cx="4401632" cy="2104231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16322" y="1852612"/>
            <a:ext cx="400643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2A2D3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Canary</a:t>
            </a:r>
            <a:endParaRPr lang="en-US" sz="2666" dirty="0"/>
          </a:p>
        </p:txBody>
      </p:sp>
      <p:sp>
        <p:nvSpPr>
          <p:cNvPr id="14" name="Text 12"/>
          <p:cNvSpPr/>
          <p:nvPr/>
        </p:nvSpPr>
        <p:spPr>
          <a:xfrm>
            <a:off x="7516322" y="2377480"/>
            <a:ext cx="4006439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answers demanded. Exposure is bought a slice at a time, and withdrawn the same way.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2810164" y="3732808"/>
            <a:ext cx="4401632" cy="2104231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47040" y="4024511"/>
            <a:ext cx="400643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Rolling</a:t>
            </a:r>
            <a:endParaRPr lang="en-US" sz="2666" dirty="0"/>
          </a:p>
        </p:txBody>
      </p:sp>
      <p:sp>
        <p:nvSpPr>
          <p:cNvPr id="17" name="Text 15"/>
          <p:cNvSpPr/>
          <p:nvPr/>
        </p:nvSpPr>
        <p:spPr>
          <a:xfrm>
            <a:off x="3047040" y="4549378"/>
            <a:ext cx="4006439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redeploy is a fast enough exit, one fleet does it and nothing else is needed.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7279447" y="3732808"/>
            <a:ext cx="4401632" cy="2104231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16322" y="4024511"/>
            <a:ext cx="400643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Rolling, still</a:t>
            </a:r>
            <a:endParaRPr lang="en-US" sz="2666" dirty="0"/>
          </a:p>
        </p:txBody>
      </p:sp>
      <p:sp>
        <p:nvSpPr>
          <p:cNvPr id="20" name="Text 18"/>
          <p:cNvSpPr/>
          <p:nvPr/>
        </p:nvSpPr>
        <p:spPr>
          <a:xfrm>
            <a:off x="7516322" y="4549378"/>
            <a:ext cx="4006439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800"/>
              </a:spcBef>
              <a:buNone/>
            </a:pPr>
            <a:r>
              <a:rPr lang="en-US" sz="18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Splitting traffic buys staged exposure, not a faster exit. It does not decide this alone.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507873" y="6006306"/>
            <a:ext cx="1139667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marks the most demanding cell here, not the best strategy.</a:t>
            </a:r>
            <a:endParaRPr lang="en-US" sz="18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873" y="457200"/>
            <a:ext cx="878223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9"/>
              </a:lnSpc>
              <a:buNone/>
            </a:pPr>
            <a:r>
              <a:rPr lang="en-US" sz="3200" b="1" dirty="0">
                <a:solidFill>
                  <a:srgbClr val="2A2D3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each strategy demands before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23993" y="492720"/>
            <a:ext cx="457086" cy="457200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12871" y="567333"/>
            <a:ext cx="284917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507873" y="1222375"/>
            <a:ext cx="2708590" cy="1470422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4748" y="1446808"/>
            <a:ext cx="227953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buNone/>
            </a:pPr>
            <a:r>
              <a:rPr lang="en-US" sz="45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4533" dirty="0"/>
          </a:p>
        </p:txBody>
      </p:sp>
      <p:sp>
        <p:nvSpPr>
          <p:cNvPr id="7" name="Text 5"/>
          <p:cNvSpPr/>
          <p:nvPr/>
        </p:nvSpPr>
        <p:spPr>
          <a:xfrm>
            <a:off x="744748" y="2171303"/>
            <a:ext cx="227953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267"/>
              </a:spcBef>
              <a:buNone/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CHECKS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3588837" y="1459508"/>
            <a:ext cx="5594931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check that only proves the process is listening will pass a broken release — and all three strategies promote on that signal.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9446438" y="1222375"/>
            <a:ext cx="2234641" cy="1470422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49587" y="1703784"/>
            <a:ext cx="1864910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BAD BATCH IS PROMOTED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507873" y="2794397"/>
            <a:ext cx="2708590" cy="1470422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4748" y="3018830"/>
            <a:ext cx="227953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buNone/>
            </a:pPr>
            <a:r>
              <a:rPr lang="en-US" sz="4533" b="1" dirty="0">
                <a:solidFill>
                  <a:srgbClr val="2A2D3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4533" dirty="0"/>
          </a:p>
        </p:txBody>
      </p:sp>
      <p:sp>
        <p:nvSpPr>
          <p:cNvPr id="13" name="Text 11"/>
          <p:cNvSpPr/>
          <p:nvPr/>
        </p:nvSpPr>
        <p:spPr>
          <a:xfrm>
            <a:off x="744748" y="3743325"/>
            <a:ext cx="227953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267"/>
              </a:spcBef>
              <a:buNone/>
            </a:pPr>
            <a:r>
              <a:rPr lang="en-US" sz="1733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3588837" y="3031530"/>
            <a:ext cx="5594931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rollback path that has never been run is a plan, not a capability. The strategies differ only in how fast a working one fires.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9446438" y="2794397"/>
            <a:ext cx="2234641" cy="1470422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49587" y="3275806"/>
            <a:ext cx="1864910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EXIT IS UNTESTED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507873" y="4366419"/>
            <a:ext cx="2708590" cy="1470422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4748" y="4590852"/>
            <a:ext cx="227953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9"/>
              </a:lnSpc>
              <a:buNone/>
            </a:pPr>
            <a:r>
              <a:rPr lang="en-US" sz="45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4533" dirty="0"/>
          </a:p>
        </p:txBody>
      </p:sp>
      <p:sp>
        <p:nvSpPr>
          <p:cNvPr id="19" name="Text 17"/>
          <p:cNvSpPr/>
          <p:nvPr/>
        </p:nvSpPr>
        <p:spPr>
          <a:xfrm>
            <a:off x="744748" y="5315347"/>
            <a:ext cx="227953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267"/>
              </a:spcBef>
              <a:buNone/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3588837" y="4603552"/>
            <a:ext cx="5594931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serve two versions at once, if only for a moment. State pinned to one instance dies with that instance.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9446438" y="4366419"/>
            <a:ext cx="2234641" cy="1470422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49587" y="4847828"/>
            <a:ext cx="1864910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LOSE THEIR STATE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507873" y="6006306"/>
            <a:ext cx="11396670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2A2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one of these leaves you with the slowest exit you own.</a:t>
            </a:r>
            <a:endParaRPr lang="en-US" sz="18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298" y="406400"/>
            <a:ext cx="11376355" cy="2325688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298" y="406400"/>
            <a:ext cx="169225" cy="2325688"/>
          </a:xfrm>
          <a:prstGeom prst="rect">
            <a:avLst/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15548" y="846534"/>
            <a:ext cx="10533623" cy="100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29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answers pick the strategy: how long a bad release may keep serving, and whether traffic can be split.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809006" y="2055019"/>
            <a:ext cx="10533623" cy="236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66"/>
              </a:lnSpc>
              <a:spcBef>
                <a:spcPts val="1600"/>
              </a:spcBef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406298" y="2833687"/>
            <a:ext cx="3724336" cy="3617912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8672" y="3620691"/>
            <a:ext cx="3039179" cy="65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9"/>
              </a:lnSpc>
              <a:spcBef>
                <a:spcPts val="1333"/>
              </a:spcBef>
              <a:buNone/>
            </a:pPr>
            <a:r>
              <a:rPr lang="en-US" sz="42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4266" dirty="0"/>
          </a:p>
        </p:txBody>
      </p:sp>
      <p:sp>
        <p:nvSpPr>
          <p:cNvPr id="8" name="Text 6"/>
          <p:cNvSpPr/>
          <p:nvPr/>
        </p:nvSpPr>
        <p:spPr>
          <a:xfrm>
            <a:off x="778672" y="4372570"/>
            <a:ext cx="3039179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800"/>
              </a:spcBef>
              <a:buNone/>
            </a:pPr>
            <a:r>
              <a:rPr lang="en-US" sz="14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EXIT BUDGET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778672" y="4802584"/>
            <a:ext cx="3039179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333"/>
              </a:spcBef>
              <a:buNone/>
            </a:pPr>
            <a:r>
              <a:rPr lang="en-US" sz="18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long may a bad release serve before we call it an incident?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4232209" y="2833687"/>
            <a:ext cx="3724336" cy="3617912"/>
          </a:xfrm>
          <a:prstGeom prst="rect">
            <a:avLst/>
          </a:prstGeom>
          <a:solidFill>
            <a:srgbClr val="1F8A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04583" y="3620691"/>
            <a:ext cx="3039179" cy="65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9"/>
              </a:lnSpc>
              <a:spcBef>
                <a:spcPts val="1333"/>
              </a:spcBef>
              <a:buNone/>
            </a:pPr>
            <a:r>
              <a:rPr lang="en-US" sz="42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4266" dirty="0"/>
          </a:p>
        </p:txBody>
      </p:sp>
      <p:sp>
        <p:nvSpPr>
          <p:cNvPr id="12" name="Text 10"/>
          <p:cNvSpPr/>
          <p:nvPr/>
        </p:nvSpPr>
        <p:spPr>
          <a:xfrm>
            <a:off x="4604583" y="4372570"/>
            <a:ext cx="3039179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800"/>
              </a:spcBef>
              <a:buNone/>
            </a:pPr>
            <a:r>
              <a:rPr lang="en-US" sz="14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ROUTER</a:t>
            </a:r>
            <a:endParaRPr lang="en-US" sz="1466" dirty="0"/>
          </a:p>
        </p:txBody>
      </p:sp>
      <p:sp>
        <p:nvSpPr>
          <p:cNvPr id="13" name="Text 11"/>
          <p:cNvSpPr/>
          <p:nvPr/>
        </p:nvSpPr>
        <p:spPr>
          <a:xfrm>
            <a:off x="4604583" y="4802584"/>
            <a:ext cx="3039179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333"/>
              </a:spcBef>
              <a:buNone/>
            </a:pPr>
            <a:r>
              <a:rPr lang="en-US" sz="18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our ingress split traffic by request today? If not, what would it take?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8058119" y="2833687"/>
            <a:ext cx="3724336" cy="3617912"/>
          </a:xfrm>
          <a:prstGeom prst="rect">
            <a:avLst/>
          </a:prstGeom>
          <a:solidFill>
            <a:srgbClr val="2A2D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30493" y="3620691"/>
            <a:ext cx="3039179" cy="65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9"/>
              </a:lnSpc>
              <a:spcBef>
                <a:spcPts val="1333"/>
              </a:spcBef>
              <a:buNone/>
            </a:pPr>
            <a:r>
              <a:rPr lang="en-US" sz="42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4266" dirty="0"/>
          </a:p>
        </p:txBody>
      </p:sp>
      <p:sp>
        <p:nvSpPr>
          <p:cNvPr id="16" name="Text 14"/>
          <p:cNvSpPr/>
          <p:nvPr/>
        </p:nvSpPr>
        <p:spPr>
          <a:xfrm>
            <a:off x="8430493" y="4372570"/>
            <a:ext cx="3039179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800"/>
              </a:spcBef>
              <a:buNone/>
            </a:pPr>
            <a:r>
              <a:rPr lang="en-US" sz="14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DRILL</a:t>
            </a:r>
            <a:endParaRPr lang="en-US" sz="1466" dirty="0"/>
          </a:p>
        </p:txBody>
      </p:sp>
      <p:sp>
        <p:nvSpPr>
          <p:cNvPr id="17" name="Text 15"/>
          <p:cNvSpPr/>
          <p:nvPr/>
        </p:nvSpPr>
        <p:spPr>
          <a:xfrm>
            <a:off x="8430493" y="4802584"/>
            <a:ext cx="3039179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1333"/>
              </a:spcBef>
              <a:buNone/>
            </a:pPr>
            <a:r>
              <a:rPr lang="en-US" sz="18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did we last roll back on purpose, and what did it cost us to find out?</a:t>
            </a:r>
            <a:endParaRPr lang="en-US" sz="18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2026-08-27T16:17:44Z</dcterms:created>
  <dcterms:modified xsi:type="dcterms:W3CDTF">2026-08-27T16:17:44Z</dcterms:modified>
</cp:coreProperties>
</file>