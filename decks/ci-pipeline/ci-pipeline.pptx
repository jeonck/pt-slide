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5-2.svg" ContentType="image/svg+xml"/>
  <Override PartName="/ppt/media/image-5-4.svg" ContentType="image/svg+xml"/>
  <Override PartName="/ppt/media/image-5-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812597" cy="50800"/>
          </a:xfrm>
          <a:prstGeom prst="rect">
            <a:avLst/>
          </a:prstGeom>
          <a:solidFill>
            <a:srgbClr val="5A5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77098" y="829469"/>
            <a:ext cx="11051451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ENGINEERING PRACTICE · CONTINUOUS INTEGRATION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1269603"/>
            <a:ext cx="10360609" cy="16252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399"/>
              </a:lnSpc>
              <a:spcBef>
                <a:spcPts val="1600"/>
              </a:spcBef>
              <a:buNone/>
            </a:pPr>
            <a:r>
              <a:rPr lang="en-US" sz="5333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 pipeline: what belongs</a:t>
            </a:r>
            <a:endParaRPr lang="en-US" sz="5333" dirty="0"/>
          </a:p>
          <a:p>
            <a:pPr algn="l" indent="0" marL="0">
              <a:lnSpc>
                <a:spcPts val="6399"/>
              </a:lnSpc>
              <a:spcBef>
                <a:spcPts val="1600"/>
              </a:spcBef>
              <a:buNone/>
            </a:pPr>
            <a:r>
              <a:rPr lang="en-US" sz="5333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it, and what does not</a:t>
            </a:r>
            <a:endParaRPr lang="en-US" sz="5333" dirty="0"/>
          </a:p>
        </p:txBody>
      </p:sp>
      <p:sp>
        <p:nvSpPr>
          <p:cNvPr id="5" name="Text 3"/>
          <p:cNvSpPr/>
          <p:nvPr/>
        </p:nvSpPr>
        <p:spPr>
          <a:xfrm>
            <a:off x="677098" y="3233341"/>
            <a:ext cx="9151737" cy="785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93"/>
              </a:lnSpc>
              <a:spcBef>
                <a:spcPts val="2666"/>
              </a:spcBef>
              <a:buNone/>
            </a:pPr>
            <a:r>
              <a:rPr lang="en-US" sz="2133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pipeline does not get slow because there are too many tests.</a:t>
            </a:r>
            <a:endParaRPr lang="en-US" sz="2133" dirty="0"/>
          </a:p>
          <a:p>
            <a:pPr algn="l" indent="0" marL="0">
              <a:lnSpc>
                <a:spcPts val="3093"/>
              </a:lnSpc>
              <a:spcBef>
                <a:spcPts val="2666"/>
              </a:spcBef>
              <a:buNone/>
            </a:pPr>
            <a:r>
              <a:rPr lang="en-US" sz="2133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gets slow because nothing defines what belongs in it.</a:t>
            </a:r>
            <a:endParaRPr lang="en-US" sz="2133" dirty="0"/>
          </a:p>
        </p:txBody>
      </p:sp>
      <p:sp>
        <p:nvSpPr>
          <p:cNvPr id="6" name="Text 4"/>
          <p:cNvSpPr/>
          <p:nvPr/>
        </p:nvSpPr>
        <p:spPr>
          <a:xfrm>
            <a:off x="677098" y="4783733"/>
            <a:ext cx="10834756" cy="1092398"/>
          </a:xfrm>
          <a:prstGeom prst="roundRect">
            <a:avLst>
              <a:gd name="adj" fmla="val 9299"/>
            </a:avLst>
          </a:prstGeom>
          <a:solidFill>
            <a:srgbClr val="F6F9F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81822" y="5020667"/>
            <a:ext cx="2098023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spcAft>
                <a:spcPts val="667"/>
              </a:spcAft>
              <a:buNone/>
            </a:pPr>
            <a:r>
              <a:rPr lang="en-US" sz="1333" b="1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PRESENTED BY</a:t>
            </a:r>
            <a:endParaRPr lang="en-US" sz="1333" dirty="0"/>
          </a:p>
        </p:txBody>
      </p:sp>
      <p:sp>
        <p:nvSpPr>
          <p:cNvPr id="8" name="Text 6"/>
          <p:cNvSpPr/>
          <p:nvPr/>
        </p:nvSpPr>
        <p:spPr>
          <a:xfrm>
            <a:off x="981822" y="5342136"/>
            <a:ext cx="2098023" cy="2970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733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PRESENTER · TEAM</a:t>
            </a:r>
            <a:endParaRPr lang="en-US" sz="1733" dirty="0"/>
          </a:p>
        </p:txBody>
      </p:sp>
      <p:sp>
        <p:nvSpPr>
          <p:cNvPr id="9" name="Text 7"/>
          <p:cNvSpPr/>
          <p:nvPr/>
        </p:nvSpPr>
        <p:spPr>
          <a:xfrm>
            <a:off x="3986605" y="5020667"/>
            <a:ext cx="2357039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spcAft>
                <a:spcPts val="667"/>
              </a:spcAft>
              <a:buNone/>
            </a:pPr>
            <a:r>
              <a:rPr lang="en-US" sz="1333" b="1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SCOPE</a:t>
            </a:r>
            <a:endParaRPr lang="en-US" sz="1333" dirty="0"/>
          </a:p>
        </p:txBody>
      </p:sp>
      <p:sp>
        <p:nvSpPr>
          <p:cNvPr id="10" name="Text 8"/>
          <p:cNvSpPr/>
          <p:nvPr/>
        </p:nvSpPr>
        <p:spPr>
          <a:xfrm>
            <a:off x="3986605" y="5342136"/>
            <a:ext cx="2357039" cy="2970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733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commit to main</a:t>
            </a:r>
            <a:endParaRPr lang="en-US" sz="1733" dirty="0"/>
          </a:p>
        </p:txBody>
      </p:sp>
      <p:sp>
        <p:nvSpPr>
          <p:cNvPr id="11" name="Text 9"/>
          <p:cNvSpPr/>
          <p:nvPr/>
        </p:nvSpPr>
        <p:spPr>
          <a:xfrm>
            <a:off x="6015716" y="6113066"/>
            <a:ext cx="5606061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 PIPELINE · SHEET 01 / 06 · NO CHART, NO EXTERNAL DATA</a:t>
            </a:r>
            <a:endParaRPr lang="en-US" sz="1333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11051451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QUESTION</a:t>
            </a:r>
            <a:endParaRPr lang="en-US" sz="1333" dirty="0"/>
          </a:p>
        </p:txBody>
      </p:sp>
      <p:sp>
        <p:nvSpPr>
          <p:cNvPr id="3" name="Text 1"/>
          <p:cNvSpPr/>
          <p:nvPr/>
        </p:nvSpPr>
        <p:spPr>
          <a:xfrm>
            <a:off x="677098" y="863203"/>
            <a:ext cx="9669767" cy="4875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840"/>
              </a:lnSpc>
              <a:spcBef>
                <a:spcPts val="667"/>
              </a:spcBef>
              <a:buNone/>
            </a:pPr>
            <a:r>
              <a:rPr lang="en-US" sz="3200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CI answers on every commit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77098" y="1621631"/>
            <a:ext cx="50787" cy="4254500"/>
          </a:xfrm>
          <a:prstGeom prst="roundRect">
            <a:avLst>
              <a:gd name="adj" fmla="val 50007"/>
            </a:avLst>
          </a:prstGeom>
          <a:solidFill>
            <a:srgbClr val="5A5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64760" y="1621631"/>
            <a:ext cx="5951887" cy="8465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33"/>
              </a:lnSpc>
              <a:buNone/>
            </a:pPr>
            <a:r>
              <a:rPr lang="en-US" sz="2666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 main be released with this commit in it?</a:t>
            </a:r>
            <a:endParaRPr lang="en-US" sz="2666" dirty="0"/>
          </a:p>
        </p:txBody>
      </p:sp>
      <p:sp>
        <p:nvSpPr>
          <p:cNvPr id="6" name="Text 4"/>
          <p:cNvSpPr/>
          <p:nvPr/>
        </p:nvSpPr>
        <p:spPr>
          <a:xfrm>
            <a:off x="964760" y="2739033"/>
            <a:ext cx="5951887" cy="1374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spcBef>
                <a:spcPts val="2133"/>
              </a:spcBef>
              <a:buNone/>
            </a:pPr>
            <a:r>
              <a:rPr lang="en-US" sz="1866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 is not a place to run tests. It is that one question, answered on every commit — and the answer is only worth having while a red build means exactly one thing.</a:t>
            </a:r>
            <a:endParaRPr lang="en-US" sz="1866" dirty="0"/>
          </a:p>
        </p:txBody>
      </p:sp>
      <p:sp>
        <p:nvSpPr>
          <p:cNvPr id="7" name="Text 5"/>
          <p:cNvSpPr/>
          <p:nvPr/>
        </p:nvSpPr>
        <p:spPr>
          <a:xfrm>
            <a:off x="964760" y="4384675"/>
            <a:ext cx="5951887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spcBef>
                <a:spcPts val="2133"/>
              </a:spcBef>
              <a:buNone/>
            </a:pPr>
            <a:r>
              <a:rPr lang="en-US" sz="1866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stage that answers something else makes a red build mean a little less.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138393" y="1621631"/>
            <a:ext cx="4460930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spcAft>
                <a:spcPts val="1067"/>
              </a:spcAft>
              <a:buNone/>
            </a:pPr>
            <a:r>
              <a:rPr lang="en-US" sz="1333" b="1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WAYS IT GETS DILUTED</a:t>
            </a:r>
            <a:endParaRPr lang="en-US" sz="1333" dirty="0"/>
          </a:p>
        </p:txBody>
      </p:sp>
      <p:sp>
        <p:nvSpPr>
          <p:cNvPr id="9" name="Text 7"/>
          <p:cNvSpPr/>
          <p:nvPr/>
        </p:nvSpPr>
        <p:spPr>
          <a:xfrm>
            <a:off x="7138393" y="1993900"/>
            <a:ext cx="4373461" cy="1181298"/>
          </a:xfrm>
          <a:prstGeom prst="roundRect">
            <a:avLst>
              <a:gd name="adj" fmla="val 8600"/>
            </a:avLst>
          </a:prstGeom>
          <a:solidFill>
            <a:srgbClr val="F6F9F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358405" y="2282825"/>
            <a:ext cx="4012105" cy="2514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466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 that answers a different question</a:t>
            </a:r>
            <a:endParaRPr lang="en-US" sz="1466" dirty="0"/>
          </a:p>
        </p:txBody>
      </p:sp>
      <p:sp>
        <p:nvSpPr>
          <p:cNvPr id="11" name="Text 9"/>
          <p:cNvSpPr/>
          <p:nvPr/>
        </p:nvSpPr>
        <p:spPr>
          <a:xfrm>
            <a:off x="7358405" y="2601913"/>
            <a:ext cx="4012105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spcBef>
                <a:spcPts val="533"/>
              </a:spcBef>
              <a:buNone/>
            </a:pPr>
            <a:r>
              <a:rPr lang="en-US" sz="1600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Nightly soak runs, full browser matrices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138393" y="3344466"/>
            <a:ext cx="4373461" cy="1181298"/>
          </a:xfrm>
          <a:prstGeom prst="roundRect">
            <a:avLst>
              <a:gd name="adj" fmla="val 8600"/>
            </a:avLst>
          </a:prstGeom>
          <a:solidFill>
            <a:srgbClr val="F6F9F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358405" y="3491309"/>
            <a:ext cx="4012105" cy="2514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466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 nobody reads the answer to</a:t>
            </a:r>
            <a:endParaRPr lang="en-US" sz="1466" dirty="0"/>
          </a:p>
        </p:txBody>
      </p:sp>
      <p:sp>
        <p:nvSpPr>
          <p:cNvPr id="14" name="Text 12"/>
          <p:cNvSpPr/>
          <p:nvPr/>
        </p:nvSpPr>
        <p:spPr>
          <a:xfrm>
            <a:off x="7358405" y="3810397"/>
            <a:ext cx="4012105" cy="5687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spcBef>
                <a:spcPts val="533"/>
              </a:spcBef>
              <a:buNone/>
            </a:pPr>
            <a:r>
              <a:rPr lang="en-US" sz="1600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Reports produced, archived, never opened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138393" y="4695031"/>
            <a:ext cx="4373461" cy="1181298"/>
          </a:xfrm>
          <a:prstGeom prst="roundRect">
            <a:avLst>
              <a:gd name="adj" fmla="val 8600"/>
            </a:avLst>
          </a:prstGeom>
          <a:solidFill>
            <a:srgbClr val="F6F9F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358405" y="4983956"/>
            <a:ext cx="4012105" cy="2514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466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 that answers nothing</a:t>
            </a:r>
            <a:endParaRPr lang="en-US" sz="1466" dirty="0"/>
          </a:p>
        </p:txBody>
      </p:sp>
      <p:sp>
        <p:nvSpPr>
          <p:cNvPr id="17" name="Text 15"/>
          <p:cNvSpPr/>
          <p:nvPr/>
        </p:nvSpPr>
        <p:spPr>
          <a:xfrm>
            <a:off x="7358405" y="5303044"/>
            <a:ext cx="4012105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spcBef>
                <a:spcPts val="533"/>
              </a:spcBef>
              <a:buNone/>
            </a:pPr>
            <a:r>
              <a:rPr lang="en-US" sz="1600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suite retried until it happens to pass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977626" y="6113066"/>
            <a:ext cx="5644913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 PIPELINE · SHEET 02 / 06 · NO CHART, NO EXTERNAL DATA</a:t>
            </a:r>
            <a:endParaRPr lang="en-US" sz="1333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11051451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BOUNDARY</a:t>
            </a:r>
            <a:endParaRPr lang="en-US" sz="1333" dirty="0"/>
          </a:p>
        </p:txBody>
      </p:sp>
      <p:sp>
        <p:nvSpPr>
          <p:cNvPr id="3" name="Text 1"/>
          <p:cNvSpPr/>
          <p:nvPr/>
        </p:nvSpPr>
        <p:spPr>
          <a:xfrm>
            <a:off x="677098" y="863203"/>
            <a:ext cx="9669767" cy="4875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840"/>
              </a:lnSpc>
              <a:spcBef>
                <a:spcPts val="667"/>
              </a:spcBef>
              <a:buNone/>
            </a:pPr>
            <a:r>
              <a:rPr lang="en-US" sz="3200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boundary: CI, post-merge, scheduled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77098" y="1621631"/>
            <a:ext cx="3453735" cy="565547"/>
          </a:xfrm>
          <a:prstGeom prst="rect">
            <a:avLst/>
          </a:prstGeom>
          <a:solidFill>
            <a:srgbClr val="5A5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13973" y="1774031"/>
            <a:ext cx="3039584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CI</a:t>
            </a:r>
            <a:endParaRPr lang="en-US" sz="1466" dirty="0"/>
          </a:p>
        </p:txBody>
      </p:sp>
      <p:sp>
        <p:nvSpPr>
          <p:cNvPr id="6" name="Text 4"/>
          <p:cNvSpPr/>
          <p:nvPr/>
        </p:nvSpPr>
        <p:spPr>
          <a:xfrm>
            <a:off x="677098" y="2187178"/>
            <a:ext cx="3453735" cy="2407444"/>
          </a:xfrm>
          <a:prstGeom prst="rect">
            <a:avLst/>
          </a:prstGeom>
          <a:solidFill>
            <a:srgbClr val="F6F9F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13973" y="2424113"/>
            <a:ext cx="3039584" cy="5889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20"/>
              </a:lnSpc>
              <a:buNone/>
            </a:pPr>
            <a:r>
              <a:rPr lang="en-US" sz="1600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Failure means: this commit must not merge.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3973" y="3199209"/>
            <a:ext cx="2979985" cy="10562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2240"/>
              </a:lnSpc>
              <a:buSzPct val="100000"/>
              <a:buChar char="•"/>
            </a:pPr>
            <a:r>
              <a:rPr lang="en-US" sz="1600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and compile</a:t>
            </a:r>
            <a:endParaRPr lang="en-US" sz="1600" dirty="0"/>
          </a:p>
          <a:p>
            <a:pPr algn="l" marL="342900" indent="-342900">
              <a:lnSpc>
                <a:spcPts val="2240"/>
              </a:lnSpc>
              <a:buSzPct val="100000"/>
              <a:buChar char="•"/>
            </a:pPr>
            <a:r>
              <a:rPr lang="en-US" sz="1600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Unit and fast integration</a:t>
            </a:r>
            <a:endParaRPr lang="en-US" sz="1600" dirty="0"/>
          </a:p>
          <a:p>
            <a:pPr algn="l" marL="342900" indent="-342900">
              <a:lnSpc>
                <a:spcPts val="2240"/>
              </a:lnSpc>
              <a:buSzPct val="100000"/>
              <a:buChar char="•"/>
            </a:pPr>
            <a:r>
              <a:rPr lang="en-US" sz="1600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Lint and type checks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367708" y="1621631"/>
            <a:ext cx="3453735" cy="565547"/>
          </a:xfrm>
          <a:prstGeom prst="rect">
            <a:avLst/>
          </a:prstGeom>
          <a:solidFill>
            <a:srgbClr val="EBF0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604583" y="1774031"/>
            <a:ext cx="3039584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AFTER THE MERGE</a:t>
            </a:r>
            <a:endParaRPr lang="en-US" sz="1466" dirty="0"/>
          </a:p>
        </p:txBody>
      </p:sp>
      <p:sp>
        <p:nvSpPr>
          <p:cNvPr id="11" name="Text 9"/>
          <p:cNvSpPr/>
          <p:nvPr/>
        </p:nvSpPr>
        <p:spPr>
          <a:xfrm>
            <a:off x="4367708" y="2187178"/>
            <a:ext cx="3453735" cy="2407444"/>
          </a:xfrm>
          <a:prstGeom prst="rect">
            <a:avLst/>
          </a:prstGeom>
          <a:solidFill>
            <a:srgbClr val="F6F9F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604583" y="2424113"/>
            <a:ext cx="3039584" cy="5889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20"/>
              </a:lnSpc>
              <a:buNone/>
            </a:pPr>
            <a:r>
              <a:rPr lang="en-US" sz="1600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answerable once the merged result exists.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04583" y="3199209"/>
            <a:ext cx="2979985" cy="10562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2240"/>
              </a:lnSpc>
              <a:buSzPct val="100000"/>
              <a:buChar char="•"/>
            </a:pPr>
            <a:r>
              <a:rPr lang="en-US" sz="1600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Deploy to staging</a:t>
            </a:r>
            <a:endParaRPr lang="en-US" sz="1600" dirty="0"/>
          </a:p>
          <a:p>
            <a:pPr algn="l" marL="342900" indent="-342900">
              <a:lnSpc>
                <a:spcPts val="2240"/>
              </a:lnSpc>
              <a:buSzPct val="100000"/>
              <a:buChar char="•"/>
            </a:pPr>
            <a:r>
              <a:rPr lang="en-US" sz="1600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on a real env</a:t>
            </a:r>
            <a:endParaRPr lang="en-US" sz="1600" dirty="0"/>
          </a:p>
          <a:p>
            <a:pPr algn="l" marL="342900" indent="-342900">
              <a:lnSpc>
                <a:spcPts val="2240"/>
              </a:lnSpc>
              <a:buSzPct val="100000"/>
              <a:buChar char="•"/>
            </a:pPr>
            <a:r>
              <a:rPr lang="en-US" sz="1600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Post-deploy smoke tests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058318" y="1621631"/>
            <a:ext cx="3453735" cy="565547"/>
          </a:xfrm>
          <a:prstGeom prst="rect">
            <a:avLst/>
          </a:prstGeom>
          <a:solidFill>
            <a:srgbClr val="EBF0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295193" y="1774031"/>
            <a:ext cx="3039584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A SCHEDULE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8058318" y="2187178"/>
            <a:ext cx="3453735" cy="2407444"/>
          </a:xfrm>
          <a:prstGeom prst="rect">
            <a:avLst/>
          </a:prstGeom>
          <a:solidFill>
            <a:srgbClr val="F6F9F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295193" y="2424113"/>
            <a:ext cx="3039584" cy="5889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20"/>
              </a:lnSpc>
              <a:buNone/>
            </a:pPr>
            <a:r>
              <a:rPr lang="en-US" sz="1600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answer does not change commit to commit.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295193" y="3199209"/>
            <a:ext cx="2979985" cy="10562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2240"/>
              </a:lnSpc>
              <a:buSzPct val="100000"/>
              <a:buChar char="•"/>
            </a:pPr>
            <a:r>
              <a:rPr lang="en-US" sz="1600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 OS and browser matrix</a:t>
            </a:r>
            <a:endParaRPr lang="en-US" sz="1600" dirty="0"/>
          </a:p>
          <a:p>
            <a:pPr algn="l" marL="342900" indent="-342900">
              <a:lnSpc>
                <a:spcPts val="2240"/>
              </a:lnSpc>
              <a:buSzPct val="100000"/>
              <a:buChar char="•"/>
            </a:pPr>
            <a:r>
              <a:rPr lang="en-US" sz="1600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Licence and CVE audits</a:t>
            </a:r>
            <a:endParaRPr lang="en-US" sz="1600" dirty="0"/>
          </a:p>
          <a:p>
            <a:pPr algn="l" marL="342900" indent="-342900">
              <a:lnSpc>
                <a:spcPts val="2240"/>
              </a:lnSpc>
              <a:buSzPct val="100000"/>
              <a:buChar char="•"/>
            </a:pPr>
            <a:r>
              <a:rPr lang="en-US" sz="1600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Long soak and fuzz runs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77098" y="4831556"/>
            <a:ext cx="10834756" cy="1044575"/>
          </a:xfrm>
          <a:prstGeom prst="roundRect">
            <a:avLst>
              <a:gd name="adj" fmla="val 9725"/>
            </a:avLst>
          </a:prstGeom>
          <a:solidFill>
            <a:srgbClr val="EBF0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947897" y="5034756"/>
            <a:ext cx="50787" cy="638175"/>
          </a:xfrm>
          <a:prstGeom prst="roundRect">
            <a:avLst>
              <a:gd name="adj" fmla="val 50007"/>
            </a:avLst>
          </a:prstGeom>
          <a:solidFill>
            <a:srgbClr val="5A5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235560" y="5034756"/>
            <a:ext cx="10205605" cy="6381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test: ask what a failure here would mean. If the answer is not “do not merge this commit”, it is not a CI stage.</a:t>
            </a:r>
            <a:endParaRPr lang="en-US" sz="1733" dirty="0"/>
          </a:p>
        </p:txBody>
      </p:sp>
      <p:sp>
        <p:nvSpPr>
          <p:cNvPr id="22" name="Text 20"/>
          <p:cNvSpPr/>
          <p:nvPr/>
        </p:nvSpPr>
        <p:spPr>
          <a:xfrm>
            <a:off x="5977626" y="6113066"/>
            <a:ext cx="5644913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 PIPELINE · SHEET 03 / 06 · NO CHART, NO EXTERNAL DATA</a:t>
            </a:r>
            <a:endParaRPr lang="en-US" sz="1333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11051451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POLICY</a:t>
            </a:r>
            <a:endParaRPr lang="en-US" sz="1333" dirty="0"/>
          </a:p>
        </p:txBody>
      </p:sp>
      <p:sp>
        <p:nvSpPr>
          <p:cNvPr id="3" name="Text 1"/>
          <p:cNvSpPr/>
          <p:nvPr/>
        </p:nvSpPr>
        <p:spPr>
          <a:xfrm>
            <a:off x="677098" y="863203"/>
            <a:ext cx="9669767" cy="4875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840"/>
              </a:lnSpc>
              <a:spcBef>
                <a:spcPts val="667"/>
              </a:spcBef>
              <a:buNone/>
            </a:pPr>
            <a:r>
              <a:rPr lang="en-US" sz="3200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policies that keep the signal honest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77098" y="1621631"/>
            <a:ext cx="4728972" cy="4254500"/>
          </a:xfrm>
          <a:prstGeom prst="roundRect">
            <a:avLst>
              <a:gd name="adj" fmla="val 2388"/>
            </a:avLst>
          </a:prstGeom>
          <a:solidFill>
            <a:srgbClr val="F6F9F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81822" y="2828131"/>
            <a:ext cx="4201915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BOTH EXIST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981822" y="3200400"/>
            <a:ext cx="4201915" cy="7310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80"/>
              </a:lnSpc>
              <a:spcBef>
                <a:spcPts val="1067"/>
              </a:spcBef>
              <a:buNone/>
            </a:pPr>
            <a:r>
              <a:rPr lang="en-US" sz="2133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gate’s only asset is that a red build means something.</a:t>
            </a:r>
            <a:endParaRPr lang="en-US" sz="2133" dirty="0"/>
          </a:p>
        </p:txBody>
      </p:sp>
      <p:sp>
        <p:nvSpPr>
          <p:cNvPr id="7" name="Text 5"/>
          <p:cNvSpPr/>
          <p:nvPr/>
        </p:nvSpPr>
        <p:spPr>
          <a:xfrm>
            <a:off x="981822" y="4100711"/>
            <a:ext cx="4201915" cy="5687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spcBef>
                <a:spcPts val="1333"/>
              </a:spcBef>
              <a:buNone/>
            </a:pPr>
            <a:r>
              <a:rPr lang="en-US" sz="1600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Both policies protect that one asset. Neither of them is really about the test.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744520" y="1621631"/>
            <a:ext cx="5767334" cy="1991916"/>
          </a:xfrm>
          <a:prstGeom prst="roundRect">
            <a:avLst>
              <a:gd name="adj" fmla="val 5100"/>
            </a:avLst>
          </a:prstGeom>
          <a:solidFill>
            <a:srgbClr val="F6F9F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998456" y="1841698"/>
            <a:ext cx="338450" cy="338534"/>
          </a:xfrm>
          <a:prstGeom prst="roundRect">
            <a:avLst>
              <a:gd name="adj" fmla="val 50026"/>
            </a:avLst>
          </a:prstGeom>
          <a:solidFill>
            <a:srgbClr val="5A5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072455" y="1892498"/>
            <a:ext cx="194261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6540055" y="1841698"/>
            <a:ext cx="4812220" cy="2970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733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flaky test is a broken test.</a:t>
            </a:r>
            <a:endParaRPr lang="en-US" sz="1733" dirty="0"/>
          </a:p>
        </p:txBody>
      </p:sp>
      <p:sp>
        <p:nvSpPr>
          <p:cNvPr id="12" name="Text 10"/>
          <p:cNvSpPr/>
          <p:nvPr/>
        </p:nvSpPr>
        <p:spPr>
          <a:xfrm>
            <a:off x="6540055" y="2240359"/>
            <a:ext cx="4812220" cy="1137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spcBef>
                <a:spcPts val="800"/>
              </a:spcBef>
              <a:buNone/>
            </a:pPr>
            <a:r>
              <a:rPr lang="en-US" sz="1600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test that fails without a cause teaches the team to read failures as noise. Quarantine it the day it flakes, then fix it or delete it — a retry is not a fix.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744520" y="3884414"/>
            <a:ext cx="5767334" cy="1991916"/>
          </a:xfrm>
          <a:prstGeom prst="roundRect">
            <a:avLst>
              <a:gd name="adj" fmla="val 5100"/>
            </a:avLst>
          </a:prstGeom>
          <a:solidFill>
            <a:srgbClr val="F6F9F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998456" y="4104481"/>
            <a:ext cx="338450" cy="338534"/>
          </a:xfrm>
          <a:prstGeom prst="roundRect">
            <a:avLst>
              <a:gd name="adj" fmla="val 50026"/>
            </a:avLst>
          </a:prstGeom>
          <a:solidFill>
            <a:srgbClr val="5A5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059758" y="4155281"/>
            <a:ext cx="220163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333" dirty="0"/>
          </a:p>
        </p:txBody>
      </p:sp>
      <p:sp>
        <p:nvSpPr>
          <p:cNvPr id="16" name="Text 14"/>
          <p:cNvSpPr/>
          <p:nvPr/>
        </p:nvSpPr>
        <p:spPr>
          <a:xfrm>
            <a:off x="6540055" y="4104481"/>
            <a:ext cx="4812220" cy="2970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733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pipeline nobody trusts gets bypassed.</a:t>
            </a:r>
            <a:endParaRPr lang="en-US" sz="1733" dirty="0"/>
          </a:p>
        </p:txBody>
      </p:sp>
      <p:sp>
        <p:nvSpPr>
          <p:cNvPr id="17" name="Text 15"/>
          <p:cNvSpPr/>
          <p:nvPr/>
        </p:nvSpPr>
        <p:spPr>
          <a:xfrm>
            <a:off x="6540055" y="4503142"/>
            <a:ext cx="4812220" cy="1137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spcBef>
                <a:spcPts val="800"/>
              </a:spcBef>
              <a:buNone/>
            </a:pPr>
            <a:r>
              <a:rPr lang="en-US" sz="1600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by rebellion — by batching commits, merging on “probably green”, and handing out overrides. The gate holds only what people will actually wait for.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964929" y="6113066"/>
            <a:ext cx="5657864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 PIPELINE · SHEET 04 / 06 · NO CHART, NO EXTERNAL DATA</a:t>
            </a:r>
            <a:endParaRPr lang="en-US" sz="1333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11051451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IT IS ALREADY SLOW</a:t>
            </a:r>
            <a:endParaRPr lang="en-US" sz="1333" dirty="0"/>
          </a:p>
        </p:txBody>
      </p:sp>
      <p:sp>
        <p:nvSpPr>
          <p:cNvPr id="3" name="Text 1"/>
          <p:cNvSpPr/>
          <p:nvPr/>
        </p:nvSpPr>
        <p:spPr>
          <a:xfrm>
            <a:off x="677098" y="863203"/>
            <a:ext cx="9669767" cy="4875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840"/>
              </a:lnSpc>
              <a:spcBef>
                <a:spcPts val="667"/>
              </a:spcBef>
              <a:buNone/>
            </a:pPr>
            <a:r>
              <a:rPr lang="en-US" sz="3200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the pipeline is already slow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77098" y="1621631"/>
            <a:ext cx="11051451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slow pipeline is a scope problem before it is a speed problem.</a:t>
            </a:r>
            <a:endParaRPr lang="en-US" sz="1866" dirty="0"/>
          </a:p>
        </p:txBody>
      </p:sp>
      <p:sp>
        <p:nvSpPr>
          <p:cNvPr id="5" name="Text 3"/>
          <p:cNvSpPr/>
          <p:nvPr/>
        </p:nvSpPr>
        <p:spPr>
          <a:xfrm>
            <a:off x="677098" y="2236192"/>
            <a:ext cx="2353476" cy="2488009"/>
          </a:xfrm>
          <a:prstGeom prst="roundRect">
            <a:avLst>
              <a:gd name="adj" fmla="val 4316"/>
            </a:avLst>
          </a:prstGeom>
          <a:solidFill>
            <a:srgbClr val="F6F9F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13973" y="2473127"/>
            <a:ext cx="338450" cy="338534"/>
          </a:xfrm>
          <a:prstGeom prst="roundRect">
            <a:avLst>
              <a:gd name="adj" fmla="val 50026"/>
            </a:avLst>
          </a:prstGeom>
          <a:solidFill>
            <a:srgbClr val="5A5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87972" y="2523927"/>
            <a:ext cx="194261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333" dirty="0"/>
          </a:p>
        </p:txBody>
      </p:sp>
      <p:sp>
        <p:nvSpPr>
          <p:cNvPr id="8" name="Text 6"/>
          <p:cNvSpPr/>
          <p:nvPr/>
        </p:nvSpPr>
        <p:spPr>
          <a:xfrm>
            <a:off x="913973" y="2946995"/>
            <a:ext cx="191732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466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Attribute the time</a:t>
            </a:r>
            <a:endParaRPr lang="en-US" sz="1466" dirty="0"/>
          </a:p>
        </p:txBody>
      </p:sp>
      <p:sp>
        <p:nvSpPr>
          <p:cNvPr id="9" name="Text 7"/>
          <p:cNvSpPr/>
          <p:nvPr/>
        </p:nvSpPr>
        <p:spPr>
          <a:xfrm>
            <a:off x="913973" y="3539530"/>
            <a:ext cx="1917320" cy="7108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66"/>
              </a:lnSpc>
              <a:spcBef>
                <a:spcPts val="667"/>
              </a:spcBef>
              <a:buNone/>
            </a:pPr>
            <a:r>
              <a:rPr lang="en-US" sz="1333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stage, not per pipeline. A total gives you nothing to act on.</a:t>
            </a:r>
            <a:endParaRPr lang="en-US" sz="1333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115087" y="3378597"/>
            <a:ext cx="304724" cy="2032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504324" y="2236192"/>
            <a:ext cx="2353476" cy="2488009"/>
          </a:xfrm>
          <a:prstGeom prst="roundRect">
            <a:avLst>
              <a:gd name="adj" fmla="val 4316"/>
            </a:avLst>
          </a:prstGeom>
          <a:solidFill>
            <a:srgbClr val="5A5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3741199" y="2473127"/>
            <a:ext cx="338450" cy="338534"/>
          </a:xfrm>
          <a:prstGeom prst="roundRect">
            <a:avLst>
              <a:gd name="adj" fmla="val 50026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3802501" y="2523927"/>
            <a:ext cx="220163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5A55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333" dirty="0"/>
          </a:p>
        </p:txBody>
      </p:sp>
      <p:sp>
        <p:nvSpPr>
          <p:cNvPr id="14" name="Text 11"/>
          <p:cNvSpPr/>
          <p:nvPr/>
        </p:nvSpPr>
        <p:spPr>
          <a:xfrm>
            <a:off x="3741199" y="2946995"/>
            <a:ext cx="191732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46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 what the stage is for</a:t>
            </a:r>
            <a:endParaRPr lang="en-US" sz="1466" dirty="0"/>
          </a:p>
        </p:txBody>
      </p:sp>
      <p:sp>
        <p:nvSpPr>
          <p:cNvPr id="15" name="Text 12"/>
          <p:cNvSpPr/>
          <p:nvPr/>
        </p:nvSpPr>
        <p:spPr>
          <a:xfrm>
            <a:off x="3741199" y="3539530"/>
            <a:ext cx="1917320" cy="947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spcBef>
                <a:spcPts val="667"/>
              </a:spcBef>
              <a:buNone/>
            </a:pPr>
            <a:r>
              <a:rPr lang="en-US" sz="1333" dirty="0">
                <a:solidFill>
                  <a:srgbClr val="EBF0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question does its failure answer? If none, nothing else matters.</a:t>
            </a:r>
            <a:endParaRPr lang="en-US" sz="1333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42312" y="3378597"/>
            <a:ext cx="304724" cy="2032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331550" y="2236192"/>
            <a:ext cx="2353476" cy="2488009"/>
          </a:xfrm>
          <a:prstGeom prst="roundRect">
            <a:avLst>
              <a:gd name="adj" fmla="val 4316"/>
            </a:avLst>
          </a:prstGeom>
          <a:solidFill>
            <a:srgbClr val="F6F9F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4"/>
          <p:cNvSpPr/>
          <p:nvPr/>
        </p:nvSpPr>
        <p:spPr>
          <a:xfrm>
            <a:off x="6568425" y="2473127"/>
            <a:ext cx="338450" cy="338534"/>
          </a:xfrm>
          <a:prstGeom prst="roundRect">
            <a:avLst>
              <a:gd name="adj" fmla="val 50026"/>
            </a:avLst>
          </a:prstGeom>
          <a:solidFill>
            <a:srgbClr val="5A5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5"/>
          <p:cNvSpPr/>
          <p:nvPr/>
        </p:nvSpPr>
        <p:spPr>
          <a:xfrm>
            <a:off x="6629727" y="2523927"/>
            <a:ext cx="220163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333" dirty="0"/>
          </a:p>
        </p:txBody>
      </p:sp>
      <p:sp>
        <p:nvSpPr>
          <p:cNvPr id="20" name="Text 16"/>
          <p:cNvSpPr/>
          <p:nvPr/>
        </p:nvSpPr>
        <p:spPr>
          <a:xfrm>
            <a:off x="6568425" y="2946995"/>
            <a:ext cx="191732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466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 it or delete it</a:t>
            </a:r>
            <a:endParaRPr lang="en-US" sz="1466" dirty="0"/>
          </a:p>
        </p:txBody>
      </p:sp>
      <p:sp>
        <p:nvSpPr>
          <p:cNvPr id="21" name="Text 17"/>
          <p:cNvSpPr/>
          <p:nvPr/>
        </p:nvSpPr>
        <p:spPr>
          <a:xfrm>
            <a:off x="6568425" y="3539530"/>
            <a:ext cx="1917320" cy="7108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66"/>
              </a:lnSpc>
              <a:spcBef>
                <a:spcPts val="667"/>
              </a:spcBef>
              <a:buNone/>
            </a:pPr>
            <a:r>
              <a:rPr lang="en-US" sz="1333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a failure does not mean “do not merge”, it leaves the gate.</a:t>
            </a:r>
            <a:endParaRPr lang="en-US" sz="1333" dirty="0"/>
          </a:p>
        </p:txBody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769538" y="3378597"/>
            <a:ext cx="304724" cy="20320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9158775" y="2236192"/>
            <a:ext cx="2353476" cy="2488009"/>
          </a:xfrm>
          <a:prstGeom prst="roundRect">
            <a:avLst>
              <a:gd name="adj" fmla="val 4316"/>
            </a:avLst>
          </a:prstGeom>
          <a:solidFill>
            <a:srgbClr val="F6F9F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19"/>
          <p:cNvSpPr/>
          <p:nvPr/>
        </p:nvSpPr>
        <p:spPr>
          <a:xfrm>
            <a:off x="9395651" y="2473127"/>
            <a:ext cx="338450" cy="338534"/>
          </a:xfrm>
          <a:prstGeom prst="roundRect">
            <a:avLst>
              <a:gd name="adj" fmla="val 50026"/>
            </a:avLst>
          </a:prstGeom>
          <a:solidFill>
            <a:srgbClr val="5A5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0"/>
          <p:cNvSpPr/>
          <p:nvPr/>
        </p:nvSpPr>
        <p:spPr>
          <a:xfrm>
            <a:off x="9450604" y="2523927"/>
            <a:ext cx="233114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333" dirty="0"/>
          </a:p>
        </p:txBody>
      </p:sp>
      <p:sp>
        <p:nvSpPr>
          <p:cNvPr id="26" name="Text 21"/>
          <p:cNvSpPr/>
          <p:nvPr/>
        </p:nvSpPr>
        <p:spPr>
          <a:xfrm>
            <a:off x="9395651" y="2946995"/>
            <a:ext cx="191732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466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Then optimise the rest</a:t>
            </a:r>
            <a:endParaRPr lang="en-US" sz="1466" dirty="0"/>
          </a:p>
        </p:txBody>
      </p:sp>
      <p:sp>
        <p:nvSpPr>
          <p:cNvPr id="27" name="Text 22"/>
          <p:cNvSpPr/>
          <p:nvPr/>
        </p:nvSpPr>
        <p:spPr>
          <a:xfrm>
            <a:off x="9395651" y="3539530"/>
            <a:ext cx="1917320" cy="7108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66"/>
              </a:lnSpc>
              <a:spcBef>
                <a:spcPts val="667"/>
              </a:spcBef>
              <a:buNone/>
            </a:pPr>
            <a:r>
              <a:rPr lang="en-US" sz="1333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Cache and shard what genuinely has to be there.</a:t>
            </a:r>
            <a:endParaRPr lang="en-US" sz="1333" dirty="0"/>
          </a:p>
        </p:txBody>
      </p:sp>
      <p:sp>
        <p:nvSpPr>
          <p:cNvPr id="28" name="Text 23"/>
          <p:cNvSpPr/>
          <p:nvPr/>
        </p:nvSpPr>
        <p:spPr>
          <a:xfrm>
            <a:off x="677098" y="5150644"/>
            <a:ext cx="10834756" cy="725488"/>
          </a:xfrm>
          <a:prstGeom prst="roundRect">
            <a:avLst>
              <a:gd name="adj" fmla="val 14003"/>
            </a:avLst>
          </a:prstGeom>
          <a:solidFill>
            <a:srgbClr val="EBF0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4"/>
          <p:cNvSpPr/>
          <p:nvPr/>
        </p:nvSpPr>
        <p:spPr>
          <a:xfrm>
            <a:off x="947897" y="5353844"/>
            <a:ext cx="50787" cy="319088"/>
          </a:xfrm>
          <a:prstGeom prst="roundRect">
            <a:avLst>
              <a:gd name="adj" fmla="val 50007"/>
            </a:avLst>
          </a:prstGeom>
          <a:solidFill>
            <a:srgbClr val="5A5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5"/>
          <p:cNvSpPr/>
          <p:nvPr/>
        </p:nvSpPr>
        <p:spPr>
          <a:xfrm>
            <a:off x="1235560" y="5353844"/>
            <a:ext cx="7394885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Optimising first only makes a stage that should not exist finish sooner.</a:t>
            </a:r>
            <a:endParaRPr lang="en-US" sz="1733" dirty="0"/>
          </a:p>
        </p:txBody>
      </p:sp>
      <p:sp>
        <p:nvSpPr>
          <p:cNvPr id="31" name="Text 26"/>
          <p:cNvSpPr/>
          <p:nvPr/>
        </p:nvSpPr>
        <p:spPr>
          <a:xfrm>
            <a:off x="5977626" y="6113066"/>
            <a:ext cx="5644913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 PIPELINE · SHEET 05 / 06 · NO CHART, NO EXTERNAL DATA</a:t>
            </a:r>
            <a:endParaRPr lang="en-US" sz="1333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11051451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DECISIONS</a:t>
            </a:r>
            <a:endParaRPr lang="en-US" sz="1333" dirty="0"/>
          </a:p>
        </p:txBody>
      </p:sp>
      <p:sp>
        <p:nvSpPr>
          <p:cNvPr id="3" name="Text 1"/>
          <p:cNvSpPr/>
          <p:nvPr/>
        </p:nvSpPr>
        <p:spPr>
          <a:xfrm>
            <a:off x="677098" y="863203"/>
            <a:ext cx="9669767" cy="4875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840"/>
              </a:lnSpc>
              <a:spcBef>
                <a:spcPts val="667"/>
              </a:spcBef>
              <a:buNone/>
            </a:pPr>
            <a:r>
              <a:rPr lang="en-US" sz="3200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need to decide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77098" y="1621631"/>
            <a:ext cx="5767334" cy="1282700"/>
          </a:xfrm>
          <a:prstGeom prst="roundRect">
            <a:avLst>
              <a:gd name="adj" fmla="val 7920"/>
            </a:avLst>
          </a:prstGeom>
          <a:solidFill>
            <a:srgbClr val="F6F9F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31034" y="2093714"/>
            <a:ext cx="338450" cy="338534"/>
          </a:xfrm>
          <a:prstGeom prst="roundRect">
            <a:avLst>
              <a:gd name="adj" fmla="val 50026"/>
            </a:avLst>
          </a:prstGeom>
          <a:solidFill>
            <a:srgbClr val="5A5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98685" y="2144514"/>
            <a:ext cx="207212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</a:t>
            </a:r>
            <a:endParaRPr lang="en-US" sz="1333" dirty="0"/>
          </a:p>
        </p:txBody>
      </p:sp>
      <p:sp>
        <p:nvSpPr>
          <p:cNvPr id="7" name="Text 5"/>
          <p:cNvSpPr/>
          <p:nvPr/>
        </p:nvSpPr>
        <p:spPr>
          <a:xfrm>
            <a:off x="1472633" y="1955006"/>
            <a:ext cx="4812220" cy="615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is our pipeline’s one question — and which stages do not answer it?</a:t>
            </a:r>
            <a:endParaRPr lang="en-US" sz="1733" dirty="0"/>
          </a:p>
        </p:txBody>
      </p:sp>
      <p:sp>
        <p:nvSpPr>
          <p:cNvPr id="8" name="Text 6"/>
          <p:cNvSpPr/>
          <p:nvPr/>
        </p:nvSpPr>
        <p:spPr>
          <a:xfrm>
            <a:off x="677098" y="3107531"/>
            <a:ext cx="5767334" cy="1282700"/>
          </a:xfrm>
          <a:prstGeom prst="roundRect">
            <a:avLst>
              <a:gd name="adj" fmla="val 7920"/>
            </a:avLst>
          </a:prstGeom>
          <a:solidFill>
            <a:srgbClr val="F6F9F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931034" y="3579614"/>
            <a:ext cx="338450" cy="338534"/>
          </a:xfrm>
          <a:prstGeom prst="roundRect">
            <a:avLst>
              <a:gd name="adj" fmla="val 50026"/>
            </a:avLst>
          </a:prstGeom>
          <a:solidFill>
            <a:srgbClr val="5A5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85988" y="3630414"/>
            <a:ext cx="233114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Q2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1472633" y="3440906"/>
            <a:ext cx="4812220" cy="615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is allowed to quarantine a flaky test, and how fast?</a:t>
            </a:r>
            <a:endParaRPr lang="en-US" sz="1733" dirty="0"/>
          </a:p>
        </p:txBody>
      </p:sp>
      <p:sp>
        <p:nvSpPr>
          <p:cNvPr id="12" name="Text 10"/>
          <p:cNvSpPr/>
          <p:nvPr/>
        </p:nvSpPr>
        <p:spPr>
          <a:xfrm>
            <a:off x="677098" y="4593431"/>
            <a:ext cx="5767334" cy="1282700"/>
          </a:xfrm>
          <a:prstGeom prst="roundRect">
            <a:avLst>
              <a:gd name="adj" fmla="val 7920"/>
            </a:avLst>
          </a:prstGeom>
          <a:solidFill>
            <a:srgbClr val="F6F9F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931034" y="5065514"/>
            <a:ext cx="338450" cy="338534"/>
          </a:xfrm>
          <a:prstGeom prst="roundRect">
            <a:avLst>
              <a:gd name="adj" fmla="val 50026"/>
            </a:avLst>
          </a:prstGeom>
          <a:solidFill>
            <a:srgbClr val="5A5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985988" y="5116314"/>
            <a:ext cx="233114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Q3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1472633" y="4926806"/>
            <a:ext cx="4812220" cy="615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is the longest wait we will defend before a stage leaves the gate?</a:t>
            </a:r>
            <a:endParaRPr lang="en-US" sz="1733" dirty="0"/>
          </a:p>
        </p:txBody>
      </p:sp>
      <p:sp>
        <p:nvSpPr>
          <p:cNvPr id="16" name="Text 14"/>
          <p:cNvSpPr/>
          <p:nvPr/>
        </p:nvSpPr>
        <p:spPr>
          <a:xfrm>
            <a:off x="6782882" y="1621631"/>
            <a:ext cx="4728972" cy="4254500"/>
          </a:xfrm>
          <a:prstGeom prst="roundRect">
            <a:avLst>
              <a:gd name="adj" fmla="val 2388"/>
            </a:avLst>
          </a:prstGeom>
          <a:solidFill>
            <a:srgbClr val="F6F9F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087606" y="1926431"/>
            <a:ext cx="4201915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POINT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7087606" y="2298700"/>
            <a:ext cx="4201915" cy="10965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80"/>
              </a:lnSpc>
              <a:spcBef>
                <a:spcPts val="1067"/>
              </a:spcBef>
              <a:buNone/>
            </a:pPr>
            <a:r>
              <a:rPr lang="en-US" sz="2133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None of this is a tuning problem until the boundary is written down.</a:t>
            </a:r>
            <a:endParaRPr lang="en-US" sz="2133" dirty="0"/>
          </a:p>
        </p:txBody>
      </p:sp>
      <p:sp>
        <p:nvSpPr>
          <p:cNvPr id="19" name="Text 17"/>
          <p:cNvSpPr/>
          <p:nvPr/>
        </p:nvSpPr>
        <p:spPr>
          <a:xfrm>
            <a:off x="7087606" y="3598466"/>
            <a:ext cx="4201915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spcBef>
                <a:spcPts val="1600"/>
              </a:spcBef>
              <a:buNone/>
            </a:pPr>
            <a:r>
              <a:rPr lang="en-US" sz="1600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pipeline is slow because nothing says what belongs in it. Decide that first; the rest really is tuning.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087606" y="4952802"/>
            <a:ext cx="4201915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PRESENTED BY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7087606" y="5274270"/>
            <a:ext cx="4201915" cy="2970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40"/>
              </a:lnSpc>
              <a:spcBef>
                <a:spcPts val="667"/>
              </a:spcBef>
              <a:buNone/>
            </a:pPr>
            <a:r>
              <a:rPr lang="en-US" sz="1733" b="1" dirty="0">
                <a:solidFill>
                  <a:srgbClr val="0A25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PRESENTER · TEAM</a:t>
            </a:r>
            <a:endParaRPr lang="en-US" sz="1733" dirty="0"/>
          </a:p>
        </p:txBody>
      </p:sp>
      <p:sp>
        <p:nvSpPr>
          <p:cNvPr id="22" name="Text 20"/>
          <p:cNvSpPr/>
          <p:nvPr/>
        </p:nvSpPr>
        <p:spPr>
          <a:xfrm>
            <a:off x="5977626" y="6113066"/>
            <a:ext cx="5644913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5C6B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 PIPELINE · SHEET 06 / 06 · NO CHART, NO EXTERNAL DATA</a:t>
            </a:r>
            <a:endParaRPr lang="en-US" sz="133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2026-08-27T16:56:21Z</dcterms:created>
  <dcterms:modified xsi:type="dcterms:W3CDTF">2026-08-27T16:56:21Z</dcterms:modified>
</cp:coreProperties>
</file>