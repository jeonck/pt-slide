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5607680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Model Registry — operating guide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01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2641600"/>
            <a:ext cx="8633706" cy="932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73"/>
              </a:lnSpc>
              <a:buNone/>
            </a:pPr>
            <a:r>
              <a:rPr lang="en-US" sz="2533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The registry is the record of what is allowed to run —</a:t>
            </a:r>
            <a:endParaRPr lang="en-US" sz="2533" dirty="0"/>
          </a:p>
          <a:p>
            <a:pPr algn="l" indent="0" marL="0">
              <a:lnSpc>
                <a:spcPts val="3673"/>
              </a:lnSpc>
              <a:buNone/>
            </a:pPr>
            <a:r>
              <a:rPr lang="en-US" sz="2533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and of who said so.</a:t>
            </a:r>
            <a:endParaRPr lang="en-US" sz="2533" dirty="0"/>
          </a:p>
        </p:txBody>
      </p:sp>
      <p:sp>
        <p:nvSpPr>
          <p:cNvPr id="6" name="Text 4"/>
          <p:cNvSpPr/>
          <p:nvPr/>
        </p:nvSpPr>
        <p:spPr>
          <a:xfrm>
            <a:off x="541599" y="4882753"/>
            <a:ext cx="11105754" cy="1027113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204435" y="4895453"/>
            <a:ext cx="0" cy="1001712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91171" y="5081587"/>
            <a:ext cx="323344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PREPARED BY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791171" y="5403056"/>
            <a:ext cx="3233441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PRESENTER · TEAM</a:t>
            </a:r>
            <a:endParaRPr lang="en-US" sz="1733" dirty="0"/>
          </a:p>
        </p:txBody>
      </p:sp>
      <p:sp>
        <p:nvSpPr>
          <p:cNvPr id="10" name="Shape 8"/>
          <p:cNvSpPr/>
          <p:nvPr/>
        </p:nvSpPr>
        <p:spPr>
          <a:xfrm>
            <a:off x="6863626" y="4895453"/>
            <a:ext cx="0" cy="1001712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447658" y="5081587"/>
            <a:ext cx="221619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DATE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4447658" y="5403056"/>
            <a:ext cx="2216199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2026.08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7106849" y="5081587"/>
            <a:ext cx="4376548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Aft>
                <a:spcPts val="667"/>
              </a:spcAft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APPLIES TO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7106849" y="5403056"/>
            <a:ext cx="4376548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ALL REGISTERED MODELS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01/05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5504074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the registry is the record of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02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333302"/>
            <a:ext cx="11105754" cy="4029670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4296" y="1346002"/>
            <a:ext cx="11080360" cy="507603"/>
          </a:xfrm>
          <a:prstGeom prst="rect">
            <a:avLst/>
          </a:prstGeom>
          <a:solidFill>
            <a:srgbClr val="3330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788268" y="1481336"/>
            <a:ext cx="189000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FIELD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4114962" y="1481336"/>
            <a:ext cx="38113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IT ANSWERS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8325348" y="1481336"/>
            <a:ext cx="3133275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WHO WRITES IT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791171" y="2155428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A1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1788268" y="2114352"/>
            <a:ext cx="18900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Version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114962" y="2113955"/>
            <a:ext cx="381136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Which artifact is this, exactly?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8325348" y="2131814"/>
            <a:ext cx="3133275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CI pipeline</a:t>
            </a:r>
            <a:endParaRPr lang="en-US" sz="1733" dirty="0"/>
          </a:p>
        </p:txBody>
      </p:sp>
      <p:sp>
        <p:nvSpPr>
          <p:cNvPr id="14" name="Shape 12"/>
          <p:cNvSpPr/>
          <p:nvPr/>
        </p:nvSpPr>
        <p:spPr>
          <a:xfrm>
            <a:off x="554296" y="2724547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91171" y="3032720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A2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1788268" y="2991644"/>
            <a:ext cx="18900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Lineage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114962" y="2991247"/>
            <a:ext cx="381136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data and code produced it?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8325348" y="3009106"/>
            <a:ext cx="3133275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Training job</a:t>
            </a:r>
            <a:endParaRPr lang="en-US" sz="1733" dirty="0"/>
          </a:p>
        </p:txBody>
      </p:sp>
      <p:sp>
        <p:nvSpPr>
          <p:cNvPr id="19" name="Shape 17"/>
          <p:cNvSpPr/>
          <p:nvPr/>
        </p:nvSpPr>
        <p:spPr>
          <a:xfrm>
            <a:off x="554296" y="3601839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91171" y="3910012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A3</a:t>
            </a:r>
            <a:endParaRPr lang="en-US" sz="1466" dirty="0"/>
          </a:p>
        </p:txBody>
      </p:sp>
      <p:sp>
        <p:nvSpPr>
          <p:cNvPr id="21" name="Text 19"/>
          <p:cNvSpPr/>
          <p:nvPr/>
        </p:nvSpPr>
        <p:spPr>
          <a:xfrm>
            <a:off x="1788268" y="3868936"/>
            <a:ext cx="18900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Owner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114962" y="3868539"/>
            <a:ext cx="381136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Who owns it in production?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8325348" y="3886398"/>
            <a:ext cx="3133275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Registering team</a:t>
            </a:r>
            <a:endParaRPr lang="en-US" sz="1733" dirty="0"/>
          </a:p>
        </p:txBody>
      </p:sp>
      <p:sp>
        <p:nvSpPr>
          <p:cNvPr id="24" name="Shape 22"/>
          <p:cNvSpPr/>
          <p:nvPr/>
        </p:nvSpPr>
        <p:spPr>
          <a:xfrm>
            <a:off x="554296" y="4479131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91171" y="4787305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A4</a:t>
            </a:r>
            <a:endParaRPr lang="en-US" sz="1466" dirty="0"/>
          </a:p>
        </p:txBody>
      </p:sp>
      <p:sp>
        <p:nvSpPr>
          <p:cNvPr id="26" name="Text 24"/>
          <p:cNvSpPr/>
          <p:nvPr/>
        </p:nvSpPr>
        <p:spPr>
          <a:xfrm>
            <a:off x="1788268" y="4746228"/>
            <a:ext cx="18900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Stage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114962" y="4745831"/>
            <a:ext cx="381136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Where is it allowed to run?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8325348" y="4763691"/>
            <a:ext cx="3133275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Promotion workflow</a:t>
            </a:r>
            <a:endParaRPr lang="en-US" sz="1733" dirty="0"/>
          </a:p>
        </p:txBody>
      </p:sp>
      <p:sp>
        <p:nvSpPr>
          <p:cNvPr id="29" name="Text 27"/>
          <p:cNvSpPr/>
          <p:nvPr/>
        </p:nvSpPr>
        <p:spPr>
          <a:xfrm>
            <a:off x="541599" y="5566172"/>
            <a:ext cx="1132786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 field nobody writes is a field nobody can trust.</a:t>
            </a:r>
            <a:endParaRPr lang="en-US" sz="1866" dirty="0"/>
          </a:p>
        </p:txBody>
      </p:sp>
      <p:sp>
        <p:nvSpPr>
          <p:cNvPr id="30" name="Text 28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02/05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6799150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How a model moves through the registry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03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333302"/>
            <a:ext cx="4189167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STAGE · ENTRY REQUIREMENT · WHO SIGNS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9765644" y="1333302"/>
            <a:ext cx="1919343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NO STEP IS SKIPPED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541599" y="1705570"/>
            <a:ext cx="11105754" cy="3657402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30477" y="1718270"/>
            <a:ext cx="0" cy="898525"/>
          </a:xfrm>
          <a:prstGeom prst="line">
            <a:avLst/>
          </a:prstGeom>
          <a:noFill/>
          <a:ln w="152381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43533" y="2037159"/>
            <a:ext cx="51985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01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1926942" y="2001441"/>
            <a:ext cx="196892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REGISTERED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331006" y="1823839"/>
            <a:ext cx="464406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An artifact exists with a version and lineage.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9357758" y="2013545"/>
            <a:ext cx="2080418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Automatic</a:t>
            </a:r>
            <a:endParaRPr lang="en-US" sz="1733" dirty="0"/>
          </a:p>
        </p:txBody>
      </p:sp>
      <p:sp>
        <p:nvSpPr>
          <p:cNvPr id="13" name="Shape 11"/>
          <p:cNvSpPr/>
          <p:nvPr/>
        </p:nvSpPr>
        <p:spPr>
          <a:xfrm>
            <a:off x="554296" y="2623145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30477" y="2616795"/>
            <a:ext cx="0" cy="911225"/>
          </a:xfrm>
          <a:prstGeom prst="line">
            <a:avLst/>
          </a:prstGeom>
          <a:noFill/>
          <a:ln w="152381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43533" y="2948384"/>
            <a:ext cx="51985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02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1926942" y="2912666"/>
            <a:ext cx="196892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STAGING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4331006" y="2735064"/>
            <a:ext cx="464406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An evaluation report is attached and reviewed.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9357758" y="2924770"/>
            <a:ext cx="2080418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owner</a:t>
            </a:r>
            <a:endParaRPr lang="en-US" sz="1733" dirty="0"/>
          </a:p>
        </p:txBody>
      </p:sp>
      <p:sp>
        <p:nvSpPr>
          <p:cNvPr id="19" name="Shape 17"/>
          <p:cNvSpPr/>
          <p:nvPr/>
        </p:nvSpPr>
        <p:spPr>
          <a:xfrm>
            <a:off x="554296" y="3534370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0477" y="3528020"/>
            <a:ext cx="0" cy="911225"/>
          </a:xfrm>
          <a:prstGeom prst="line">
            <a:avLst/>
          </a:prstGeom>
          <a:noFill/>
          <a:ln w="152381">
            <a:solidFill>
              <a:srgbClr val="33302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43533" y="3859609"/>
            <a:ext cx="51985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03</a:t>
            </a:r>
            <a:endParaRPr lang="en-US" sz="1466" dirty="0"/>
          </a:p>
        </p:txBody>
      </p:sp>
      <p:sp>
        <p:nvSpPr>
          <p:cNvPr id="22" name="Text 20"/>
          <p:cNvSpPr/>
          <p:nvPr/>
        </p:nvSpPr>
        <p:spPr>
          <a:xfrm>
            <a:off x="1926942" y="3823891"/>
            <a:ext cx="196892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PRODUCTION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4331006" y="3646289"/>
            <a:ext cx="464406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 rollback target is named and on-call is told.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9357758" y="3835995"/>
            <a:ext cx="2080418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Owner + service</a:t>
            </a:r>
            <a:endParaRPr lang="en-US" sz="1733" dirty="0"/>
          </a:p>
        </p:txBody>
      </p:sp>
      <p:sp>
        <p:nvSpPr>
          <p:cNvPr id="25" name="Shape 23"/>
          <p:cNvSpPr/>
          <p:nvPr/>
        </p:nvSpPr>
        <p:spPr>
          <a:xfrm>
            <a:off x="554296" y="4445595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30477" y="4439245"/>
            <a:ext cx="0" cy="911225"/>
          </a:xfrm>
          <a:prstGeom prst="line">
            <a:avLst/>
          </a:prstGeom>
          <a:noFill/>
          <a:ln w="152381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43533" y="4770834"/>
            <a:ext cx="51985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04</a:t>
            </a:r>
            <a:endParaRPr lang="en-US" sz="1466" dirty="0"/>
          </a:p>
        </p:txBody>
      </p:sp>
      <p:sp>
        <p:nvSpPr>
          <p:cNvPr id="28" name="Text 26"/>
          <p:cNvSpPr/>
          <p:nvPr/>
        </p:nvSpPr>
        <p:spPr>
          <a:xfrm>
            <a:off x="1926942" y="4735116"/>
            <a:ext cx="196892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ARCHIVED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4331006" y="4557514"/>
            <a:ext cx="464406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Superseded or withdrawn, with the reason recorded.</a:t>
            </a:r>
            <a:endParaRPr lang="en-US" sz="1866" dirty="0"/>
          </a:p>
        </p:txBody>
      </p:sp>
      <p:sp>
        <p:nvSpPr>
          <p:cNvPr id="30" name="Text 28"/>
          <p:cNvSpPr/>
          <p:nvPr/>
        </p:nvSpPr>
        <p:spPr>
          <a:xfrm>
            <a:off x="9357758" y="4747220"/>
            <a:ext cx="2080418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owner</a:t>
            </a:r>
            <a:endParaRPr lang="en-US" sz="1733" dirty="0"/>
          </a:p>
        </p:txBody>
      </p:sp>
      <p:sp>
        <p:nvSpPr>
          <p:cNvPr id="31" name="Text 29"/>
          <p:cNvSpPr/>
          <p:nvPr/>
        </p:nvSpPr>
        <p:spPr>
          <a:xfrm>
            <a:off x="541599" y="5566172"/>
            <a:ext cx="1132786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 stage is a permission, not a label — the ledger records who granted it.</a:t>
            </a:r>
            <a:endParaRPr lang="en-US" sz="1866" dirty="0"/>
          </a:p>
        </p:txBody>
      </p:sp>
      <p:sp>
        <p:nvSpPr>
          <p:cNvPr id="32" name="Text 30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03/05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7174722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Four rules that keep the ledger trustworthy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04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333302"/>
            <a:ext cx="11105754" cy="4576564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4296" y="1346002"/>
            <a:ext cx="11080360" cy="507603"/>
          </a:xfrm>
          <a:prstGeom prst="rect">
            <a:avLst/>
          </a:prstGeom>
          <a:solidFill>
            <a:srgbClr val="33302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788268" y="1481336"/>
            <a:ext cx="200311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RULE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4225860" y="1481336"/>
            <a:ext cx="324639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IT SAYS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7882348" y="1481336"/>
            <a:ext cx="3585337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FE9D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BREAKS WITHOUT IT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791171" y="2223889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R-01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1788268" y="2011363"/>
            <a:ext cx="20031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One name, one lineage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225860" y="2010569"/>
            <a:ext cx="324639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 name never changes meaning.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7882348" y="2010569"/>
            <a:ext cx="358533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Two teams ship different things under one name.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554296" y="2861270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91171" y="3237905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R-02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1788268" y="3025378"/>
            <a:ext cx="20031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Deprecate before delete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225860" y="3024584"/>
            <a:ext cx="324639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Archived records stay readable.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7882348" y="3024584"/>
            <a:ext cx="358533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An audit cannot reconstruct last quarter.</a:t>
            </a:r>
            <a:endParaRPr lang="en-US" sz="1866" dirty="0"/>
          </a:p>
        </p:txBody>
      </p:sp>
      <p:sp>
        <p:nvSpPr>
          <p:cNvPr id="19" name="Shape 17"/>
          <p:cNvSpPr/>
          <p:nvPr/>
        </p:nvSpPr>
        <p:spPr>
          <a:xfrm>
            <a:off x="554296" y="3875286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91171" y="4251920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R-03</a:t>
            </a:r>
            <a:endParaRPr lang="en-US" sz="1466" dirty="0"/>
          </a:p>
        </p:txBody>
      </p:sp>
      <p:sp>
        <p:nvSpPr>
          <p:cNvPr id="21" name="Text 19"/>
          <p:cNvSpPr/>
          <p:nvPr/>
        </p:nvSpPr>
        <p:spPr>
          <a:xfrm>
            <a:off x="1788268" y="3867944"/>
            <a:ext cx="2003119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Production names its rollback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225860" y="4038600"/>
            <a:ext cx="324639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The previous version stays promotable.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7882348" y="4210447"/>
            <a:ext cx="3585337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Rollback becomes a rebuild.</a:t>
            </a:r>
            <a:endParaRPr lang="en-US" sz="1866" dirty="0"/>
          </a:p>
        </p:txBody>
      </p:sp>
      <p:sp>
        <p:nvSpPr>
          <p:cNvPr id="24" name="Shape 22"/>
          <p:cNvSpPr/>
          <p:nvPr/>
        </p:nvSpPr>
        <p:spPr>
          <a:xfrm>
            <a:off x="554296" y="4889302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91171" y="5265936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R-04</a:t>
            </a:r>
            <a:endParaRPr lang="en-US" sz="1466" dirty="0"/>
          </a:p>
        </p:txBody>
      </p:sp>
      <p:sp>
        <p:nvSpPr>
          <p:cNvPr id="26" name="Text 24"/>
          <p:cNvSpPr/>
          <p:nvPr/>
        </p:nvSpPr>
        <p:spPr>
          <a:xfrm>
            <a:off x="1788268" y="5053409"/>
            <a:ext cx="20031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Stage changes append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225860" y="5052616"/>
            <a:ext cx="3246392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The ledger is never edited in place.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7882348" y="5052616"/>
            <a:ext cx="358533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7468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Nobody can say who promoted what.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04/05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40134"/>
            <a:ext cx="4403259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we still have to settle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10186623" y="567134"/>
            <a:ext cx="1489945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Fig. 05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083667"/>
            <a:ext cx="11105754" cy="12700"/>
          </a:xfrm>
          <a:prstGeom prst="rect">
            <a:avLst/>
          </a:prstGeom>
          <a:solidFill>
            <a:srgbClr val="9A91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333302"/>
            <a:ext cx="11105754" cy="3971330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91171" y="1869083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Q1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1788268" y="1797844"/>
            <a:ext cx="9801703" cy="403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73"/>
              </a:lnSpc>
              <a:buNone/>
            </a:pPr>
            <a:r>
              <a:rPr lang="en-US" sz="22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Who signs a production promotion when the owner is away?</a:t>
            </a:r>
            <a:endParaRPr lang="en-US" sz="2266" dirty="0"/>
          </a:p>
        </p:txBody>
      </p:sp>
      <p:sp>
        <p:nvSpPr>
          <p:cNvPr id="8" name="Shape 6"/>
          <p:cNvSpPr/>
          <p:nvPr/>
        </p:nvSpPr>
        <p:spPr>
          <a:xfrm>
            <a:off x="554296" y="2659261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91171" y="3188692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Q2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1788268" y="3117453"/>
            <a:ext cx="9801703" cy="403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73"/>
              </a:lnSpc>
              <a:buNone/>
            </a:pPr>
            <a:r>
              <a:rPr lang="en-US" sz="22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How long does an archived model stay readable?</a:t>
            </a:r>
            <a:endParaRPr lang="en-US" sz="2266" dirty="0"/>
          </a:p>
        </p:txBody>
      </p:sp>
      <p:sp>
        <p:nvSpPr>
          <p:cNvPr id="11" name="Shape 9"/>
          <p:cNvSpPr/>
          <p:nvPr/>
        </p:nvSpPr>
        <p:spPr>
          <a:xfrm>
            <a:off x="554296" y="3978870"/>
            <a:ext cx="11080360" cy="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91171" y="4508302"/>
            <a:ext cx="5338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5A544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Q3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1788268" y="4437063"/>
            <a:ext cx="9801703" cy="403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73"/>
              </a:lnSpc>
              <a:buNone/>
            </a:pPr>
            <a:r>
              <a:rPr lang="en-US" sz="2266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What happens to a model whose owning team is dissolved?</a:t>
            </a:r>
            <a:endParaRPr lang="en-US" sz="2266" dirty="0"/>
          </a:p>
        </p:txBody>
      </p:sp>
      <p:sp>
        <p:nvSpPr>
          <p:cNvPr id="14" name="Text 12"/>
          <p:cNvSpPr/>
          <p:nvPr/>
        </p:nvSpPr>
        <p:spPr>
          <a:xfrm>
            <a:off x="541599" y="5541566"/>
            <a:ext cx="1346879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33302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Thank you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99779" y="5617766"/>
            <a:ext cx="198652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541599" y="6113066"/>
            <a:ext cx="113278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7A7468"/>
                </a:solidFill>
                <a:latin typeface="IBMPlexMono" pitchFamily="34" charset="0"/>
                <a:ea typeface="IBMPlexMono" pitchFamily="34" charset="-122"/>
                <a:cs typeface="IBMPlexMono" pitchFamily="34" charset="-120"/>
              </a:rPr>
              <a:t>MODEL REGISTRY — OPERATING GUIDE · SHEET 05/05 · NO CHART, NO EXTERNAL DATA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2026-08-27T16:57:02Z</dcterms:created>
  <dcterms:modified xsi:type="dcterms:W3CDTF">2026-08-27T16:57:02Z</dcterms:modified>
</cp:coreProperties>
</file>