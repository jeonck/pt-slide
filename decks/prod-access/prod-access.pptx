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5-2.svg" ContentType="image/svg+xml"/>
  <Override PartName="/ppt/media/image-5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853530" y="541734"/>
            <a:ext cx="169149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 ·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1039416"/>
            <a:ext cx="11051451" cy="1051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79"/>
              </a:lnSpc>
              <a:buNone/>
            </a:pPr>
            <a:r>
              <a:rPr lang="en-US" sz="6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Who gets into production</a:t>
            </a:r>
            <a:endParaRPr lang="en-US" sz="6133" dirty="0"/>
          </a:p>
        </p:txBody>
      </p:sp>
      <p:sp>
        <p:nvSpPr>
          <p:cNvPr id="5" name="Text 3"/>
          <p:cNvSpPr/>
          <p:nvPr/>
        </p:nvSpPr>
        <p:spPr>
          <a:xfrm>
            <a:off x="677098" y="2124472"/>
            <a:ext cx="11051451" cy="1051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279"/>
              </a:lnSpc>
              <a:spcBef>
                <a:spcPts val="267"/>
              </a:spcBef>
              <a:buNone/>
            </a:pPr>
            <a:r>
              <a:rPr lang="en-US" sz="6133" b="1" dirty="0">
                <a:solidFill>
                  <a:srgbClr val="C8A24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Standing access is the risk</a:t>
            </a:r>
            <a:endParaRPr lang="en-US" sz="6133" dirty="0"/>
          </a:p>
        </p:txBody>
      </p:sp>
      <p:sp>
        <p:nvSpPr>
          <p:cNvPr id="6" name="Text 4"/>
          <p:cNvSpPr/>
          <p:nvPr/>
        </p:nvSpPr>
        <p:spPr>
          <a:xfrm>
            <a:off x="677098" y="3582194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3962995"/>
            <a:ext cx="6354372" cy="1421805"/>
          </a:xfrm>
          <a:prstGeom prst="rect">
            <a:avLst/>
          </a:prstGeom>
          <a:noFill/>
          <a:ln/>
        </p:spPr>
        <p:txBody>
          <a:bodyPr wrap="square" lIns="0" tIns="203175" rIns="0" bIns="0" rtlCol="0" anchor="t">
            <a:normAutofit/>
          </a:bodyPr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decides to hold production credentials forever. They are granted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once, for a reason that ends — and the grant does not.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313173" y="3962995"/>
            <a:ext cx="4198285" cy="155257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29019" y="4178895"/>
            <a:ext cx="384192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REPLACES IT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529019" y="4541242"/>
            <a:ext cx="3841924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Break-glass, with an expiry and a written record.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677098" y="561538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786"/>
              </a:spcBef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7829775" y="6079331"/>
            <a:ext cx="375572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01 / 06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042718" y="541734"/>
            <a:ext cx="251851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 · ACCRUAL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Why permanent access accumulates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77098" y="2232422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7098" y="1846858"/>
            <a:ext cx="4834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1354196" y="1846858"/>
            <a:ext cx="241734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GRANT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3927287" y="1846858"/>
            <a:ext cx="773625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MAKES IT PERMANENT</a:t>
            </a:r>
            <a:endParaRPr lang="en-US" sz="1466" dirty="0"/>
          </a:p>
        </p:txBody>
      </p:sp>
      <p:sp>
        <p:nvSpPr>
          <p:cNvPr id="10" name="Shape 8"/>
          <p:cNvSpPr/>
          <p:nvPr/>
        </p:nvSpPr>
        <p:spPr>
          <a:xfrm>
            <a:off x="677098" y="3215283"/>
            <a:ext cx="10834756" cy="0"/>
          </a:xfrm>
          <a:prstGeom prst="line">
            <a:avLst/>
          </a:prstGeom>
          <a:noFill/>
          <a:ln w="12698">
            <a:solidFill>
              <a:srgbClr val="3A5A8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77098" y="2340372"/>
            <a:ext cx="48342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54196" y="2340372"/>
            <a:ext cx="241734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REVOKED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27287" y="2340372"/>
            <a:ext cx="7736259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for an incident, and the incident ended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927287" y="2763639"/>
            <a:ext cx="773625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role outlives the reason. Nothing knows the reason ended.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4198144"/>
            <a:ext cx="10834756" cy="0"/>
          </a:xfrm>
          <a:prstGeom prst="line">
            <a:avLst/>
          </a:prstGeom>
          <a:noFill/>
          <a:ln w="12698">
            <a:solidFill>
              <a:srgbClr val="3A5A8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77098" y="3323233"/>
            <a:ext cx="48342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54196" y="3323233"/>
            <a:ext cx="241734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INHERITED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27287" y="3323233"/>
            <a:ext cx="7736259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to a group, and the group kept growing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927287" y="3746500"/>
            <a:ext cx="773625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follows the team, not the task. Joining inherits all of it.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677098" y="5181005"/>
            <a:ext cx="10834756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77098" y="4306094"/>
            <a:ext cx="48342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54196" y="4306094"/>
            <a:ext cx="2417341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EXCEPTION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27287" y="4306094"/>
            <a:ext cx="7736259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Granted to unblock a launch, and the launch shipped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927287" y="4729361"/>
            <a:ext cx="773625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Removing it costs a conversation. Keeping it costs nothing.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is the only thing we add without a review date.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8" name="Text 26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02 / 06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911187" y="541734"/>
            <a:ext cx="265268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 · THE PRICE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least privilege actually costs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2944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425105"/>
            <a:ext cx="3013076" cy="758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fix waits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 a question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92944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2944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who can repair it must ask first, and asking costs most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03:00.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401235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17081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ATTENTION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4617081" y="2425105"/>
            <a:ext cx="3013076" cy="758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Someone has to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be awake to say yes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4617081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17081" y="3530402"/>
            <a:ext cx="3013076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permission that expires is requested again, and every request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someone awake.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125373" y="1846858"/>
            <a:ext cx="3385688" cy="3274219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41219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MISSING MAP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8341219" y="2425105"/>
            <a:ext cx="3013076" cy="758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You have to know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is needed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341219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341219" y="3530402"/>
            <a:ext cx="3013076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Knowing what is needed means knowing it per service and per role, and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goes stale.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Least privilege priced honestly is not free — which is why standing access wins.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03 / 06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655069" y="541734"/>
            <a:ext cx="291392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 · THE RECORD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the elevation record has to capture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5281879" cy="1912938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020" y="1994892"/>
            <a:ext cx="501639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020" y="2380853"/>
            <a:ext cx="5016397" cy="37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named human, not a role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59020" y="2861667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record that names a role names nobody. There is no one left to ask.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6229777" y="1846858"/>
            <a:ext cx="5281879" cy="1912938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411698" y="1994892"/>
            <a:ext cx="501639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11698" y="2380853"/>
            <a:ext cx="5016397" cy="37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account, role and resource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411698" y="2861667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“Production” is a place, not a scope, and proves only that something</a:t>
            </a:r>
            <a:endParaRPr lang="en-US" sz="1866" dirty="0"/>
          </a:p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happened.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77098" y="3962995"/>
            <a:ext cx="5281879" cy="1913136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9020" y="4111030"/>
            <a:ext cx="501639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9020" y="4496991"/>
            <a:ext cx="5016397" cy="37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ticket, written first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59020" y="4977805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reason given afterwards is a reason invented afterwards.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229777" y="3962995"/>
            <a:ext cx="5281879" cy="1913136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11698" y="4111030"/>
            <a:ext cx="501639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LAPSED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11698" y="4496991"/>
            <a:ext cx="5016397" cy="379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expiry, and who ended it</a:t>
            </a:r>
            <a:endParaRPr lang="en-US" sz="2133" dirty="0"/>
          </a:p>
        </p:txBody>
      </p:sp>
      <p:sp>
        <p:nvSpPr>
          <p:cNvPr id="21" name="Text 19"/>
          <p:cNvSpPr/>
          <p:nvPr/>
        </p:nvSpPr>
        <p:spPr>
          <a:xfrm>
            <a:off x="6411698" y="4977805"/>
            <a:ext cx="50163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grant with no observed end is standing access with a form attached.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7791684" y="6079331"/>
            <a:ext cx="379457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04 / 06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8938962" y="541734"/>
            <a:ext cx="262435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 · THE READ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04081"/>
            <a:ext cx="1105145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spcBef>
                <a:spcPts val="800"/>
              </a:spcBef>
              <a:buNone/>
            </a:pPr>
            <a:r>
              <a:rPr lang="en-US" sz="3200" b="1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record nobody reads is not a record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77098" y="1601589"/>
            <a:ext cx="1083475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92944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NAMED READER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425105"/>
            <a:ext cx="3013076" cy="758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“Someone reviews it”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means no one does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892944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92944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review that belongs to everyone is always about to happen.</a:t>
            </a:r>
            <a:endParaRPr lang="en-US" sz="1866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74875" y="3223220"/>
            <a:ext cx="114271" cy="177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401235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4617081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FIXED CADENCE</a:t>
            </a:r>
            <a:endParaRPr lang="en-US" sz="1466" dirty="0"/>
          </a:p>
        </p:txBody>
      </p:sp>
      <p:sp>
        <p:nvSpPr>
          <p:cNvPr id="14" name="Text 11"/>
          <p:cNvSpPr/>
          <p:nvPr/>
        </p:nvSpPr>
        <p:spPr>
          <a:xfrm>
            <a:off x="4617081" y="2425105"/>
            <a:ext cx="3013076" cy="758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 a schedule,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or never at all</a:t>
            </a:r>
            <a:endParaRPr lang="en-US" sz="2133" dirty="0"/>
          </a:p>
        </p:txBody>
      </p:sp>
      <p:sp>
        <p:nvSpPr>
          <p:cNvPr id="15" name="Text 12"/>
          <p:cNvSpPr/>
          <p:nvPr/>
        </p:nvSpPr>
        <p:spPr>
          <a:xfrm>
            <a:off x="4617081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4617081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weekly, the record is a control. Read after the fact, it is only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evidence.</a:t>
            </a:r>
            <a:endParaRPr lang="en-US" sz="1866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99012" y="3223220"/>
            <a:ext cx="114271" cy="177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125373" y="1846858"/>
            <a:ext cx="3385688" cy="2930525"/>
          </a:xfrm>
          <a:prstGeom prst="rect">
            <a:avLst/>
          </a:prstGeom>
          <a:solidFill>
            <a:srgbClr val="1F3A5F"/>
          </a:solidFill>
          <a:ln w="12698">
            <a:solidFill>
              <a:srgbClr val="C8A24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8341219" y="2062758"/>
            <a:ext cx="301307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CONSEQUENCE</a:t>
            </a:r>
            <a:endParaRPr lang="en-US" sz="1466" dirty="0"/>
          </a:p>
        </p:txBody>
      </p:sp>
      <p:sp>
        <p:nvSpPr>
          <p:cNvPr id="20" name="Text 16"/>
          <p:cNvSpPr/>
          <p:nvPr/>
        </p:nvSpPr>
        <p:spPr>
          <a:xfrm>
            <a:off x="8341219" y="2425105"/>
            <a:ext cx="3013076" cy="7584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read must</a:t>
            </a:r>
            <a:endParaRPr lang="en-US" sz="2133" dirty="0"/>
          </a:p>
          <a:p>
            <a:pPr algn="l" indent="0" marL="0">
              <a:lnSpc>
                <a:spcPts val="2986"/>
              </a:lnSpc>
              <a:spcBef>
                <a:spcPts val="800"/>
              </a:spcBef>
              <a:buNone/>
            </a:pPr>
            <a:r>
              <a:rPr lang="en-US" sz="21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change something</a:t>
            </a:r>
            <a:endParaRPr lang="en-US" sz="2133" dirty="0"/>
          </a:p>
        </p:txBody>
      </p:sp>
      <p:sp>
        <p:nvSpPr>
          <p:cNvPr id="21" name="Text 17"/>
          <p:cNvSpPr/>
          <p:nvPr/>
        </p:nvSpPr>
        <p:spPr>
          <a:xfrm>
            <a:off x="8341219" y="3352800"/>
            <a:ext cx="2953996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8341219" y="3530402"/>
            <a:ext cx="3013076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it cannot revoke a role, narrow a scope or close a gap, it is</a:t>
            </a:r>
            <a:endParaRPr lang="en-US" sz="1866" dirty="0"/>
          </a:p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theatre.</a:t>
            </a:r>
            <a:endParaRPr lang="en-US" sz="1866" dirty="0"/>
          </a:p>
        </p:txBody>
      </p:sp>
      <p:sp>
        <p:nvSpPr>
          <p:cNvPr id="23" name="Shape 19"/>
          <p:cNvSpPr/>
          <p:nvPr/>
        </p:nvSpPr>
        <p:spPr>
          <a:xfrm>
            <a:off x="677098" y="5298281"/>
            <a:ext cx="10834756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677098" y="5507831"/>
            <a:ext cx="11051451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log with no reader or consequence audits as compliant and controls nothing.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26" name="Text 22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05 / 06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65029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GOVERNANCE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595229" y="541734"/>
            <a:ext cx="19549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·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1039416"/>
            <a:ext cx="48348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5" name="Text 3"/>
          <p:cNvSpPr/>
          <p:nvPr/>
        </p:nvSpPr>
        <p:spPr>
          <a:xfrm>
            <a:off x="677098" y="1503363"/>
            <a:ext cx="4834884" cy="2331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6119"/>
              </a:lnSpc>
              <a:spcBef>
                <a:spcPts val="1600"/>
              </a:spcBef>
              <a:buNone/>
            </a:pPr>
            <a:r>
              <a:rPr lang="en-US" sz="4533" dirty="0">
                <a:solidFill>
                  <a:srgbClr val="E8E5DE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we need to </a:t>
            </a:r>
            <a:pPr algn="l" indent="0" marL="0">
              <a:lnSpc>
                <a:spcPts val="6119"/>
              </a:lnSpc>
              <a:spcBef>
                <a:spcPts val="1600"/>
              </a:spcBef>
              <a:buNone/>
            </a:pPr>
            <a:r>
              <a:rPr lang="en-US" sz="4533" b="1" dirty="0">
                <a:solidFill>
                  <a:srgbClr val="C8A24B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decide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4105473"/>
            <a:ext cx="4740082" cy="8334"/>
          </a:xfrm>
          <a:prstGeom prst="rect">
            <a:avLst/>
          </a:prstGeom>
          <a:solidFill>
            <a:srgbClr val="C8A24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4350742"/>
            <a:ext cx="483488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access is the risk. Break-glass with an expiry, and a</a:t>
            </a:r>
            <a:endParaRPr lang="en-US" sz="1866" dirty="0"/>
          </a:p>
          <a:p>
            <a:pPr algn="l" indent="0" marL="0">
              <a:lnSpc>
                <a:spcPts val="2706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someone actually reads, is what replaces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77098" y="5615384"/>
            <a:ext cx="48348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1839"/>
              </a:spcBef>
              <a:buNone/>
            </a:pPr>
            <a:r>
              <a:rPr lang="en-US" sz="1466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9" name="Shape 7"/>
          <p:cNvSpPr/>
          <p:nvPr/>
        </p:nvSpPr>
        <p:spPr>
          <a:xfrm>
            <a:off x="5823478" y="1045766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823478" y="1221383"/>
            <a:ext cx="580194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STANDING ACCESS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5823478" y="1566664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standing access go to zero, or is there a floor — and who owns what</a:t>
            </a:r>
            <a:endParaRPr lang="en-US" sz="2000" dirty="0"/>
          </a:p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left?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3478" y="2538214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23478" y="2713831"/>
            <a:ext cx="580194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THE WINDOW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5823478" y="3059113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does the glass stay broken: a fixed window, or the length of the</a:t>
            </a:r>
            <a:endParaRPr lang="en-US" sz="2000" dirty="0"/>
          </a:p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823478" y="4030662"/>
            <a:ext cx="5688178" cy="0"/>
          </a:xfrm>
          <a:prstGeom prst="line">
            <a:avLst/>
          </a:prstGeom>
          <a:noFill/>
          <a:ln w="12698">
            <a:solidFill>
              <a:srgbClr val="C8A24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23478" y="4206280"/>
            <a:ext cx="580194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C8A24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THE READER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5823478" y="4551561"/>
            <a:ext cx="580194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0"/>
              </a:lnSpc>
              <a:spcBef>
                <a:spcPts val="667"/>
              </a:spcBef>
              <a:buNone/>
            </a:pPr>
            <a:r>
              <a:rPr lang="en-US" sz="2000" dirty="0">
                <a:solidFill>
                  <a:srgbClr val="E8E5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reads the record, how often, and what are they allowed to change?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77098" y="6079331"/>
            <a:ext cx="576308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No figures in this deck; the argument is mechanical.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7804381" y="6079331"/>
            <a:ext cx="3781622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9AA6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DISCUSSION DRAFT · 06 / 06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2026-08-27T18:53:16Z</dcterms:created>
  <dcterms:modified xsi:type="dcterms:W3CDTF">2026-08-27T18:53:16Z</dcterms:modified>
</cp:coreProperties>
</file>