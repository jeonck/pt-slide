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65029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GOVERNANCE · INTERNAL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853530" y="541734"/>
            <a:ext cx="169149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COVER · 01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1039416"/>
            <a:ext cx="11051451" cy="1051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279"/>
              </a:lnSpc>
              <a:buNone/>
            </a:pPr>
            <a:r>
              <a:rPr lang="en-US" sz="6133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Who gets into production</a:t>
            </a:r>
            <a:endParaRPr lang="en-US" sz="6133" dirty="0"/>
          </a:p>
        </p:txBody>
      </p:sp>
      <p:sp>
        <p:nvSpPr>
          <p:cNvPr id="5" name="Text 3"/>
          <p:cNvSpPr/>
          <p:nvPr/>
        </p:nvSpPr>
        <p:spPr>
          <a:xfrm>
            <a:off x="677098" y="2124472"/>
            <a:ext cx="11051451" cy="1051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279"/>
              </a:lnSpc>
              <a:spcBef>
                <a:spcPts val="267"/>
              </a:spcBef>
              <a:buNone/>
            </a:pPr>
            <a:r>
              <a:rPr lang="en-US" sz="6133" b="1" dirty="0">
                <a:solidFill>
                  <a:srgbClr val="C8A24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Standing access is the risk</a:t>
            </a:r>
            <a:endParaRPr lang="en-US" sz="6133" dirty="0"/>
          </a:p>
        </p:txBody>
      </p:sp>
      <p:sp>
        <p:nvSpPr>
          <p:cNvPr id="6" name="Text 4"/>
          <p:cNvSpPr/>
          <p:nvPr/>
        </p:nvSpPr>
        <p:spPr>
          <a:xfrm>
            <a:off x="677098" y="3582194"/>
            <a:ext cx="1083475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77098" y="3962995"/>
            <a:ext cx="6354372" cy="1421805"/>
          </a:xfrm>
          <a:prstGeom prst="rect">
            <a:avLst/>
          </a:prstGeom>
          <a:noFill/>
          <a:ln/>
        </p:spPr>
        <p:txBody>
          <a:bodyPr wrap="square" lIns="0" tIns="203175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133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decides to hold production credentials forever. They are granted</a:t>
            </a:r>
            <a:endParaRPr lang="en-US" sz="2133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2133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once, for a reason that ends — and the grant does not.</a:t>
            </a:r>
            <a:endParaRPr lang="en-US" sz="2133" dirty="0"/>
          </a:p>
        </p:txBody>
      </p:sp>
      <p:sp>
        <p:nvSpPr>
          <p:cNvPr id="8" name="Text 6"/>
          <p:cNvSpPr/>
          <p:nvPr/>
        </p:nvSpPr>
        <p:spPr>
          <a:xfrm>
            <a:off x="7313173" y="3962995"/>
            <a:ext cx="4198285" cy="1552575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529019" y="4178895"/>
            <a:ext cx="384192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REPLACES IT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529019" y="4541242"/>
            <a:ext cx="3841924" cy="758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Break-glass, with an expiry and a written record.</a:t>
            </a:r>
            <a:endParaRPr lang="en-US" sz="2133" dirty="0"/>
          </a:p>
        </p:txBody>
      </p:sp>
      <p:sp>
        <p:nvSpPr>
          <p:cNvPr id="11" name="Text 9"/>
          <p:cNvSpPr/>
          <p:nvPr/>
        </p:nvSpPr>
        <p:spPr>
          <a:xfrm>
            <a:off x="677098" y="5615384"/>
            <a:ext cx="1105145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786"/>
              </a:spcBef>
              <a:buNone/>
            </a:pPr>
            <a:r>
              <a:rPr lang="en-US" sz="14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12" name="Text 10"/>
          <p:cNvSpPr/>
          <p:nvPr/>
        </p:nvSpPr>
        <p:spPr>
          <a:xfrm>
            <a:off x="677098" y="6079331"/>
            <a:ext cx="576308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No figures in this deck; the argument is mechanical.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7829775" y="6079331"/>
            <a:ext cx="375572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DISCUSSION DRAFT · 01 / 06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65029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GOVERNANCE · INTERNAL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042718" y="541734"/>
            <a:ext cx="251851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 · ACCRUAL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04081"/>
            <a:ext cx="11051451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9"/>
              </a:lnSpc>
              <a:spcBef>
                <a:spcPts val="800"/>
              </a:spcBef>
              <a:buNone/>
            </a:pPr>
            <a:r>
              <a:rPr lang="en-US" sz="3200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Why permanent access accumulates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77098" y="1601589"/>
            <a:ext cx="1083475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677098" y="2232422"/>
            <a:ext cx="10834756" cy="0"/>
          </a:xfrm>
          <a:prstGeom prst="line">
            <a:avLst/>
          </a:prstGeom>
          <a:noFill/>
          <a:ln w="12698">
            <a:solidFill>
              <a:srgbClr val="C8A2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7098" y="1846858"/>
            <a:ext cx="48342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354196" y="1846858"/>
            <a:ext cx="241734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GRANT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3927287" y="1846858"/>
            <a:ext cx="773625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MAKES IT PERMANENT</a:t>
            </a:r>
            <a:endParaRPr lang="en-US" sz="1466" dirty="0"/>
          </a:p>
        </p:txBody>
      </p:sp>
      <p:sp>
        <p:nvSpPr>
          <p:cNvPr id="10" name="Shape 8"/>
          <p:cNvSpPr/>
          <p:nvPr/>
        </p:nvSpPr>
        <p:spPr>
          <a:xfrm>
            <a:off x="677098" y="3215283"/>
            <a:ext cx="10834756" cy="0"/>
          </a:xfrm>
          <a:prstGeom prst="line">
            <a:avLst/>
          </a:prstGeom>
          <a:noFill/>
          <a:ln w="12698">
            <a:solidFill>
              <a:srgbClr val="3A5A8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7098" y="2340372"/>
            <a:ext cx="483428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54196" y="2340372"/>
            <a:ext cx="2417341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REVOKED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927287" y="2340372"/>
            <a:ext cx="773625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Granted for an incident, and the incident ended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927287" y="2763639"/>
            <a:ext cx="773625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533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role outlives the reason. Nothing knows the reason ended.</a:t>
            </a:r>
            <a:endParaRPr lang="en-US" sz="1866" dirty="0"/>
          </a:p>
        </p:txBody>
      </p:sp>
      <p:sp>
        <p:nvSpPr>
          <p:cNvPr id="15" name="Shape 13"/>
          <p:cNvSpPr/>
          <p:nvPr/>
        </p:nvSpPr>
        <p:spPr>
          <a:xfrm>
            <a:off x="677098" y="4198144"/>
            <a:ext cx="10834756" cy="0"/>
          </a:xfrm>
          <a:prstGeom prst="line">
            <a:avLst/>
          </a:prstGeom>
          <a:noFill/>
          <a:ln w="12698">
            <a:solidFill>
              <a:srgbClr val="3A5A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7098" y="3323233"/>
            <a:ext cx="483428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54196" y="3323233"/>
            <a:ext cx="2417341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INHERITED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927287" y="3323233"/>
            <a:ext cx="773625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Granted to a group, and the group kept growing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927287" y="3746500"/>
            <a:ext cx="773625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533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follows the team, not the task. Joining inherits all of it.</a:t>
            </a:r>
            <a:endParaRPr lang="en-US" sz="1866" dirty="0"/>
          </a:p>
        </p:txBody>
      </p:sp>
      <p:sp>
        <p:nvSpPr>
          <p:cNvPr id="20" name="Shape 18"/>
          <p:cNvSpPr/>
          <p:nvPr/>
        </p:nvSpPr>
        <p:spPr>
          <a:xfrm>
            <a:off x="677098" y="5181005"/>
            <a:ext cx="10834756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7098" y="4306094"/>
            <a:ext cx="483428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54196" y="4306094"/>
            <a:ext cx="2417341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EXCEPTION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927287" y="4306094"/>
            <a:ext cx="773625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Granted to unblock a launch, and the launch shipped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927287" y="4729361"/>
            <a:ext cx="773625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533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Removing it costs a conversation. Keeping it costs nothing.</a:t>
            </a:r>
            <a:endParaRPr lang="en-US" sz="1866" dirty="0"/>
          </a:p>
        </p:txBody>
      </p:sp>
      <p:sp>
        <p:nvSpPr>
          <p:cNvPr id="25" name="Shape 23"/>
          <p:cNvSpPr/>
          <p:nvPr/>
        </p:nvSpPr>
        <p:spPr>
          <a:xfrm>
            <a:off x="677098" y="5298281"/>
            <a:ext cx="10834756" cy="0"/>
          </a:xfrm>
          <a:prstGeom prst="line">
            <a:avLst/>
          </a:prstGeom>
          <a:noFill/>
          <a:ln w="12698">
            <a:solidFill>
              <a:srgbClr val="C8A24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7098" y="5507831"/>
            <a:ext cx="11051451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is the only thing we add without a review date.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677098" y="6079331"/>
            <a:ext cx="576308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No figures in this deck; the argument is mechanical.</a:t>
            </a:r>
            <a:endParaRPr lang="en-US" sz="1333" dirty="0"/>
          </a:p>
        </p:txBody>
      </p:sp>
      <p:sp>
        <p:nvSpPr>
          <p:cNvPr id="28" name="Text 26"/>
          <p:cNvSpPr/>
          <p:nvPr/>
        </p:nvSpPr>
        <p:spPr>
          <a:xfrm>
            <a:off x="7804381" y="6079331"/>
            <a:ext cx="3781622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DISCUSSION DRAFT · 02 / 06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65029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GOVERNANCE · INTERNAL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8911187" y="541734"/>
            <a:ext cx="265268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 · THE PRICE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04081"/>
            <a:ext cx="11051451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9"/>
              </a:lnSpc>
              <a:spcBef>
                <a:spcPts val="800"/>
              </a:spcBef>
              <a:buNone/>
            </a:pPr>
            <a:r>
              <a:rPr lang="en-US" sz="3200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What least privilege actually costs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77098" y="1601589"/>
            <a:ext cx="1083475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1846858"/>
            <a:ext cx="3385688" cy="3274219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92944" y="2062758"/>
            <a:ext cx="3013076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LATENCY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892944" y="2425105"/>
            <a:ext cx="3013076" cy="758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fix waits</a:t>
            </a:r>
            <a:endParaRPr lang="en-US" sz="2133" dirty="0"/>
          </a:p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on a question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892944" y="3352800"/>
            <a:ext cx="295399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92944" y="3530402"/>
            <a:ext cx="3013076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who can repair it must ask first, and asking costs most</a:t>
            </a:r>
            <a:endParaRPr lang="en-US" sz="1866" dirty="0"/>
          </a:p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at 03:00.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4401235" y="1846858"/>
            <a:ext cx="3385688" cy="3274219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617081" y="2062758"/>
            <a:ext cx="3013076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ATTENTION</a:t>
            </a:r>
            <a:endParaRPr lang="en-US" sz="1466" dirty="0"/>
          </a:p>
        </p:txBody>
      </p:sp>
      <p:sp>
        <p:nvSpPr>
          <p:cNvPr id="13" name="Text 11"/>
          <p:cNvSpPr/>
          <p:nvPr/>
        </p:nvSpPr>
        <p:spPr>
          <a:xfrm>
            <a:off x="4617081" y="2425105"/>
            <a:ext cx="3013076" cy="758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Someone has to</a:t>
            </a:r>
            <a:endParaRPr lang="en-US" sz="2133" dirty="0"/>
          </a:p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be awake to say yes</a:t>
            </a:r>
            <a:endParaRPr lang="en-US" sz="2133" dirty="0"/>
          </a:p>
        </p:txBody>
      </p:sp>
      <p:sp>
        <p:nvSpPr>
          <p:cNvPr id="14" name="Text 12"/>
          <p:cNvSpPr/>
          <p:nvPr/>
        </p:nvSpPr>
        <p:spPr>
          <a:xfrm>
            <a:off x="4617081" y="3352800"/>
            <a:ext cx="295399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617081" y="3530402"/>
            <a:ext cx="3013076" cy="137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permission that expires is requested again, and every request</a:t>
            </a:r>
            <a:endParaRPr lang="en-US" sz="1866" dirty="0"/>
          </a:p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needs someone awake.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8125373" y="1846858"/>
            <a:ext cx="3385688" cy="3274219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341219" y="2062758"/>
            <a:ext cx="3013076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MISSING MAP</a:t>
            </a:r>
            <a:endParaRPr lang="en-US" sz="1466" dirty="0"/>
          </a:p>
        </p:txBody>
      </p:sp>
      <p:sp>
        <p:nvSpPr>
          <p:cNvPr id="18" name="Text 16"/>
          <p:cNvSpPr/>
          <p:nvPr/>
        </p:nvSpPr>
        <p:spPr>
          <a:xfrm>
            <a:off x="8341219" y="2425105"/>
            <a:ext cx="3013076" cy="758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You have to know</a:t>
            </a:r>
            <a:endParaRPr lang="en-US" sz="2133" dirty="0"/>
          </a:p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what is needed</a:t>
            </a:r>
            <a:endParaRPr lang="en-US" sz="2133" dirty="0"/>
          </a:p>
        </p:txBody>
      </p:sp>
      <p:sp>
        <p:nvSpPr>
          <p:cNvPr id="19" name="Text 17"/>
          <p:cNvSpPr/>
          <p:nvPr/>
        </p:nvSpPr>
        <p:spPr>
          <a:xfrm>
            <a:off x="8341219" y="3352800"/>
            <a:ext cx="295399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341219" y="3530402"/>
            <a:ext cx="3013076" cy="137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Knowing what is needed means knowing it per service and per role, and</a:t>
            </a:r>
            <a:endParaRPr lang="en-US" sz="1866" dirty="0"/>
          </a:p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it goes stale.</a:t>
            </a:r>
            <a:endParaRPr lang="en-US" sz="1866" dirty="0"/>
          </a:p>
        </p:txBody>
      </p:sp>
      <p:sp>
        <p:nvSpPr>
          <p:cNvPr id="21" name="Shape 19"/>
          <p:cNvSpPr/>
          <p:nvPr/>
        </p:nvSpPr>
        <p:spPr>
          <a:xfrm>
            <a:off x="677098" y="5298281"/>
            <a:ext cx="10834756" cy="0"/>
          </a:xfrm>
          <a:prstGeom prst="line">
            <a:avLst/>
          </a:prstGeom>
          <a:noFill/>
          <a:ln w="12698">
            <a:solidFill>
              <a:srgbClr val="C8A24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7098" y="5507831"/>
            <a:ext cx="11051451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Least privilege priced honestly is not free — which is why standing access wins.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77098" y="6079331"/>
            <a:ext cx="576308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No figures in this deck; the argument is mechanical.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7804381" y="6079331"/>
            <a:ext cx="3781622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DISCUSSION DRAFT · 03 / 06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65029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GOVERNANCE · INTERNAL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8655069" y="541734"/>
            <a:ext cx="291392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 · THE RECORD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04081"/>
            <a:ext cx="11051451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9"/>
              </a:lnSpc>
              <a:spcBef>
                <a:spcPts val="800"/>
              </a:spcBef>
              <a:buNone/>
            </a:pPr>
            <a:r>
              <a:rPr lang="en-US" sz="3200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What the elevation record has to capture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77098" y="1601589"/>
            <a:ext cx="1083475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1846858"/>
            <a:ext cx="5281879" cy="1912938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020" y="1994892"/>
            <a:ext cx="5016397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59020" y="2380853"/>
            <a:ext cx="5016397" cy="37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 named human, not a role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859020" y="2861667"/>
            <a:ext cx="501639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record that names a role names nobody. There is no one left to ask.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6229777" y="1846858"/>
            <a:ext cx="5281879" cy="1912938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411698" y="1994892"/>
            <a:ext cx="5016397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11698" y="2380853"/>
            <a:ext cx="5016397" cy="37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account, role and resource</a:t>
            </a:r>
            <a:endParaRPr lang="en-US" sz="2133" dirty="0"/>
          </a:p>
        </p:txBody>
      </p:sp>
      <p:sp>
        <p:nvSpPr>
          <p:cNvPr id="13" name="Text 11"/>
          <p:cNvSpPr/>
          <p:nvPr/>
        </p:nvSpPr>
        <p:spPr>
          <a:xfrm>
            <a:off x="6411698" y="2861667"/>
            <a:ext cx="501639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“Production” is a place, not a scope, and proves only that something</a:t>
            </a:r>
            <a:endParaRPr lang="en-US" sz="1866" dirty="0"/>
          </a:p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happened.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677098" y="3962995"/>
            <a:ext cx="5281879" cy="1913136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59020" y="4111030"/>
            <a:ext cx="5016397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59020" y="4496991"/>
            <a:ext cx="5016397" cy="37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ticket, written first</a:t>
            </a:r>
            <a:endParaRPr lang="en-US" sz="2133" dirty="0"/>
          </a:p>
        </p:txBody>
      </p:sp>
      <p:sp>
        <p:nvSpPr>
          <p:cNvPr id="17" name="Text 15"/>
          <p:cNvSpPr/>
          <p:nvPr/>
        </p:nvSpPr>
        <p:spPr>
          <a:xfrm>
            <a:off x="859020" y="4977805"/>
            <a:ext cx="501639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reason given afterwards is a reason invented afterwards.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6229777" y="3962995"/>
            <a:ext cx="5281879" cy="1913136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11698" y="4111030"/>
            <a:ext cx="5016397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LAPSED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11698" y="4496991"/>
            <a:ext cx="5016397" cy="37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expiry, and who ended it</a:t>
            </a:r>
            <a:endParaRPr lang="en-US" sz="2133" dirty="0"/>
          </a:p>
        </p:txBody>
      </p:sp>
      <p:sp>
        <p:nvSpPr>
          <p:cNvPr id="21" name="Text 19"/>
          <p:cNvSpPr/>
          <p:nvPr/>
        </p:nvSpPr>
        <p:spPr>
          <a:xfrm>
            <a:off x="6411698" y="4977805"/>
            <a:ext cx="501639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grant with no observed end is standing access with a form attached.</a:t>
            </a:r>
            <a:endParaRPr lang="en-US" sz="1866" dirty="0"/>
          </a:p>
        </p:txBody>
      </p:sp>
      <p:sp>
        <p:nvSpPr>
          <p:cNvPr id="22" name="Text 20"/>
          <p:cNvSpPr/>
          <p:nvPr/>
        </p:nvSpPr>
        <p:spPr>
          <a:xfrm>
            <a:off x="677098" y="6079331"/>
            <a:ext cx="576308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No figures in this deck; the argument is mechanical.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7791684" y="6079331"/>
            <a:ext cx="3794573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DISCUSSION DRAFT · 04 / 06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65029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GOVERNANCE · INTERNAL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8938962" y="541734"/>
            <a:ext cx="262435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 · THE READ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04081"/>
            <a:ext cx="11051451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9"/>
              </a:lnSpc>
              <a:spcBef>
                <a:spcPts val="800"/>
              </a:spcBef>
              <a:buNone/>
            </a:pPr>
            <a:r>
              <a:rPr lang="en-US" sz="3200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 record nobody reads is not a record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77098" y="1601589"/>
            <a:ext cx="1083475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1846858"/>
            <a:ext cx="3385688" cy="2930525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92944" y="2062758"/>
            <a:ext cx="3013076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NAMED READER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892944" y="2425105"/>
            <a:ext cx="3013076" cy="758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“Someone reviews it”</a:t>
            </a:r>
            <a:endParaRPr lang="en-US" sz="2133" dirty="0"/>
          </a:p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means no one does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892944" y="3352800"/>
            <a:ext cx="295399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92944" y="3530402"/>
            <a:ext cx="3013076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review that belongs to everyone is always about to happen.</a:t>
            </a:r>
            <a:endParaRPr lang="en-US" sz="1866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74875" y="3223220"/>
            <a:ext cx="114271" cy="1778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4401235" y="1846858"/>
            <a:ext cx="3385688" cy="2930525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4617081" y="2062758"/>
            <a:ext cx="3013076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FIXED CADENCE</a:t>
            </a:r>
            <a:endParaRPr lang="en-US" sz="1466" dirty="0"/>
          </a:p>
        </p:txBody>
      </p:sp>
      <p:sp>
        <p:nvSpPr>
          <p:cNvPr id="14" name="Text 11"/>
          <p:cNvSpPr/>
          <p:nvPr/>
        </p:nvSpPr>
        <p:spPr>
          <a:xfrm>
            <a:off x="4617081" y="2425105"/>
            <a:ext cx="3013076" cy="758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On a schedule,</a:t>
            </a:r>
            <a:endParaRPr lang="en-US" sz="2133" dirty="0"/>
          </a:p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or never at all</a:t>
            </a:r>
            <a:endParaRPr lang="en-US" sz="2133" dirty="0"/>
          </a:p>
        </p:txBody>
      </p:sp>
      <p:sp>
        <p:nvSpPr>
          <p:cNvPr id="15" name="Text 12"/>
          <p:cNvSpPr/>
          <p:nvPr/>
        </p:nvSpPr>
        <p:spPr>
          <a:xfrm>
            <a:off x="4617081" y="3352800"/>
            <a:ext cx="295399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4617081" y="3530402"/>
            <a:ext cx="3013076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weekly, the record is a control. Read after the fact, it is only</a:t>
            </a:r>
            <a:endParaRPr lang="en-US" sz="1866" dirty="0"/>
          </a:p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evidence.</a:t>
            </a:r>
            <a:endParaRPr lang="en-US" sz="1866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99012" y="3223220"/>
            <a:ext cx="114271" cy="1778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8125373" y="1846858"/>
            <a:ext cx="3385688" cy="2930525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8341219" y="2062758"/>
            <a:ext cx="3013076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CONSEQUENCE</a:t>
            </a:r>
            <a:endParaRPr lang="en-US" sz="1466" dirty="0"/>
          </a:p>
        </p:txBody>
      </p:sp>
      <p:sp>
        <p:nvSpPr>
          <p:cNvPr id="20" name="Text 16"/>
          <p:cNvSpPr/>
          <p:nvPr/>
        </p:nvSpPr>
        <p:spPr>
          <a:xfrm>
            <a:off x="8341219" y="2425105"/>
            <a:ext cx="3013076" cy="758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read must</a:t>
            </a:r>
            <a:endParaRPr lang="en-US" sz="2133" dirty="0"/>
          </a:p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change something</a:t>
            </a:r>
            <a:endParaRPr lang="en-US" sz="2133" dirty="0"/>
          </a:p>
        </p:txBody>
      </p:sp>
      <p:sp>
        <p:nvSpPr>
          <p:cNvPr id="21" name="Text 17"/>
          <p:cNvSpPr/>
          <p:nvPr/>
        </p:nvSpPr>
        <p:spPr>
          <a:xfrm>
            <a:off x="8341219" y="3352800"/>
            <a:ext cx="295399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8"/>
          <p:cNvSpPr/>
          <p:nvPr/>
        </p:nvSpPr>
        <p:spPr>
          <a:xfrm>
            <a:off x="8341219" y="3530402"/>
            <a:ext cx="3013076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it cannot revoke a role, narrow a scope or close a gap, it is</a:t>
            </a:r>
            <a:endParaRPr lang="en-US" sz="1866" dirty="0"/>
          </a:p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theatre.</a:t>
            </a:r>
            <a:endParaRPr lang="en-US" sz="1866" dirty="0"/>
          </a:p>
        </p:txBody>
      </p:sp>
      <p:sp>
        <p:nvSpPr>
          <p:cNvPr id="23" name="Shape 19"/>
          <p:cNvSpPr/>
          <p:nvPr/>
        </p:nvSpPr>
        <p:spPr>
          <a:xfrm>
            <a:off x="677098" y="5298281"/>
            <a:ext cx="10834756" cy="0"/>
          </a:xfrm>
          <a:prstGeom prst="line">
            <a:avLst/>
          </a:prstGeom>
          <a:noFill/>
          <a:ln w="12698">
            <a:solidFill>
              <a:srgbClr val="C8A24B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77098" y="5507831"/>
            <a:ext cx="11051451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log with no reader or consequence audits as compliant and controls nothing.</a:t>
            </a:r>
            <a:endParaRPr lang="en-US" sz="2000" dirty="0"/>
          </a:p>
        </p:txBody>
      </p:sp>
      <p:sp>
        <p:nvSpPr>
          <p:cNvPr id="25" name="Text 21"/>
          <p:cNvSpPr/>
          <p:nvPr/>
        </p:nvSpPr>
        <p:spPr>
          <a:xfrm>
            <a:off x="677098" y="6079331"/>
            <a:ext cx="576308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No figures in this deck; the argument is mechanical.</a:t>
            </a:r>
            <a:endParaRPr lang="en-US" sz="1333" dirty="0"/>
          </a:p>
        </p:txBody>
      </p:sp>
      <p:sp>
        <p:nvSpPr>
          <p:cNvPr id="26" name="Text 22"/>
          <p:cNvSpPr/>
          <p:nvPr/>
        </p:nvSpPr>
        <p:spPr>
          <a:xfrm>
            <a:off x="7804381" y="6079331"/>
            <a:ext cx="3781622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DISCUSSION DRAFT · 05 / 06</a:t>
            </a:r>
            <a:endParaRPr lang="en-US" sz="133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65029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GOVERNANCE · INTERNAL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595229" y="541734"/>
            <a:ext cx="195495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CLOSING · 06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1039416"/>
            <a:ext cx="483488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DECISIONS</a:t>
            </a:r>
            <a:endParaRPr lang="en-US" sz="1466" dirty="0"/>
          </a:p>
        </p:txBody>
      </p:sp>
      <p:sp>
        <p:nvSpPr>
          <p:cNvPr id="5" name="Text 3"/>
          <p:cNvSpPr/>
          <p:nvPr/>
        </p:nvSpPr>
        <p:spPr>
          <a:xfrm>
            <a:off x="677098" y="1503363"/>
            <a:ext cx="4834884" cy="2331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119"/>
              </a:lnSpc>
              <a:spcBef>
                <a:spcPts val="1600"/>
              </a:spcBef>
              <a:buNone/>
            </a:pPr>
            <a:r>
              <a:rPr lang="en-US" sz="45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What we
need to
</a:t>
            </a:r>
            <a:pPr algn="l" indent="0" marL="0">
              <a:lnSpc>
                <a:spcPts val="6119"/>
              </a:lnSpc>
              <a:spcBef>
                <a:spcPts val="1600"/>
              </a:spcBef>
              <a:buNone/>
            </a:pPr>
            <a:r>
              <a:rPr lang="en-US" sz="4533" b="1" dirty="0">
                <a:solidFill>
                  <a:srgbClr val="C8A24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decide</a:t>
            </a:r>
            <a:endParaRPr lang="en-US" sz="4533" dirty="0"/>
          </a:p>
        </p:txBody>
      </p:sp>
      <p:sp>
        <p:nvSpPr>
          <p:cNvPr id="6" name="Text 4"/>
          <p:cNvSpPr/>
          <p:nvPr/>
        </p:nvSpPr>
        <p:spPr>
          <a:xfrm>
            <a:off x="677098" y="4105473"/>
            <a:ext cx="4740082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77098" y="4350742"/>
            <a:ext cx="4834884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866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Standing access is the risk. Break-glass with an expiry, and a</a:t>
            </a:r>
            <a:endParaRPr lang="en-US" sz="1866" dirty="0"/>
          </a:p>
          <a:p>
            <a:pPr algn="l" indent="0" marL="0">
              <a:lnSpc>
                <a:spcPts val="2706"/>
              </a:lnSpc>
              <a:spcBef>
                <a:spcPts val="1866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record someone actually reads, is what replaces it.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677098" y="5615384"/>
            <a:ext cx="483488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1839"/>
              </a:spcBef>
              <a:buNone/>
            </a:pPr>
            <a:r>
              <a:rPr lang="en-US" sz="14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9" name="Shape 7"/>
          <p:cNvSpPr/>
          <p:nvPr/>
        </p:nvSpPr>
        <p:spPr>
          <a:xfrm>
            <a:off x="5823478" y="1045766"/>
            <a:ext cx="5688178" cy="0"/>
          </a:xfrm>
          <a:prstGeom prst="line">
            <a:avLst/>
          </a:prstGeom>
          <a:noFill/>
          <a:ln w="12698">
            <a:solidFill>
              <a:srgbClr val="C8A24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23478" y="1221383"/>
            <a:ext cx="580194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STANDING ACCESS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5823478" y="1566664"/>
            <a:ext cx="5801941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Bef>
                <a:spcPts val="667"/>
              </a:spcBef>
              <a:buNone/>
            </a:pPr>
            <a:r>
              <a:rPr lang="en-US" sz="2000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standing access go to zero, or is there a floor — and who owns what</a:t>
            </a:r>
            <a:endParaRPr lang="en-US" sz="2000" dirty="0"/>
          </a:p>
          <a:p>
            <a:pPr algn="l" indent="0" marL="0">
              <a:lnSpc>
                <a:spcPts val="3000"/>
              </a:lnSpc>
              <a:spcBef>
                <a:spcPts val="667"/>
              </a:spcBef>
              <a:buNone/>
            </a:pPr>
            <a:r>
              <a:rPr lang="en-US" sz="2000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  is left?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823478" y="2538214"/>
            <a:ext cx="5688178" cy="0"/>
          </a:xfrm>
          <a:prstGeom prst="line">
            <a:avLst/>
          </a:prstGeom>
          <a:noFill/>
          <a:ln w="12698">
            <a:solidFill>
              <a:srgbClr val="C8A2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23478" y="2713831"/>
            <a:ext cx="580194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THE WINDOW</a:t>
            </a:r>
            <a:endParaRPr lang="en-US" sz="1466" dirty="0"/>
          </a:p>
        </p:txBody>
      </p:sp>
      <p:sp>
        <p:nvSpPr>
          <p:cNvPr id="14" name="Text 12"/>
          <p:cNvSpPr/>
          <p:nvPr/>
        </p:nvSpPr>
        <p:spPr>
          <a:xfrm>
            <a:off x="5823478" y="3059113"/>
            <a:ext cx="5801941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Bef>
                <a:spcPts val="667"/>
              </a:spcBef>
              <a:buNone/>
            </a:pPr>
            <a:r>
              <a:rPr lang="en-US" sz="2000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long does the glass stay broken: a fixed window, or the length of the</a:t>
            </a:r>
            <a:endParaRPr lang="en-US" sz="2000" dirty="0"/>
          </a:p>
          <a:p>
            <a:pPr algn="l" indent="0" marL="0">
              <a:lnSpc>
                <a:spcPts val="3000"/>
              </a:lnSpc>
              <a:spcBef>
                <a:spcPts val="667"/>
              </a:spcBef>
              <a:buNone/>
            </a:pPr>
            <a:r>
              <a:rPr lang="en-US" sz="2000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  incident?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823478" y="4030662"/>
            <a:ext cx="5688178" cy="0"/>
          </a:xfrm>
          <a:prstGeom prst="line">
            <a:avLst/>
          </a:prstGeom>
          <a:noFill/>
          <a:ln w="12698">
            <a:solidFill>
              <a:srgbClr val="C8A24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23478" y="4206280"/>
            <a:ext cx="580194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THE READER</a:t>
            </a:r>
            <a:endParaRPr lang="en-US" sz="1466" dirty="0"/>
          </a:p>
        </p:txBody>
      </p:sp>
      <p:sp>
        <p:nvSpPr>
          <p:cNvPr id="17" name="Text 15"/>
          <p:cNvSpPr/>
          <p:nvPr/>
        </p:nvSpPr>
        <p:spPr>
          <a:xfrm>
            <a:off x="5823478" y="4551561"/>
            <a:ext cx="5801941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Bef>
                <a:spcPts val="667"/>
              </a:spcBef>
              <a:buNone/>
            </a:pPr>
            <a:r>
              <a:rPr lang="en-US" sz="2000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reads the record, how often, and what are they allowed to change?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77098" y="6079331"/>
            <a:ext cx="576308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No figures in this deck; the argument is mechanical.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7804381" y="6079331"/>
            <a:ext cx="3781622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DISCUSSION DRAFT · 06 / 06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2026-08-27T14:37:07Z</dcterms:created>
  <dcterms:modified xsi:type="dcterms:W3CDTF">2026-08-27T14:37:07Z</dcterms:modified>
</cp:coreProperties>
</file>