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527966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 · FRAMEWORK THINKING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1042072" y="440134"/>
            <a:ext cx="61738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05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778669"/>
            <a:ext cx="11105754" cy="8334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293217"/>
            <a:ext cx="11327869" cy="81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99"/>
              </a:lnSpc>
              <a:buNone/>
            </a:pPr>
            <a:r>
              <a:rPr lang="en-US" sz="5333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</a:t>
            </a:r>
            <a:endParaRPr lang="en-US" sz="5333" dirty="0"/>
          </a:p>
        </p:txBody>
      </p:sp>
      <p:sp>
        <p:nvSpPr>
          <p:cNvPr id="6" name="Text 4"/>
          <p:cNvSpPr/>
          <p:nvPr/>
        </p:nvSpPr>
        <p:spPr>
          <a:xfrm>
            <a:off x="541599" y="2207419"/>
            <a:ext cx="11327869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20"/>
              </a:lnSpc>
              <a:spcBef>
                <a:spcPts val="800"/>
              </a:spcBef>
              <a:buNone/>
            </a:pPr>
            <a:r>
              <a:rPr lang="en-US" sz="2533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Framework Thinking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541599" y="2980134"/>
            <a:ext cx="947897" cy="67667"/>
          </a:xfrm>
          <a:prstGeom prst="roundRect">
            <a:avLst>
              <a:gd name="adj" fmla="val 18747268"/>
            </a:avLst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1599" y="3386336"/>
            <a:ext cx="8840918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토요타 생산 방식(TPS)의 낭비 제거 철학을 소프트웨어 개발에 적용한 가치 스트림 방법론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541599" y="3872309"/>
            <a:ext cx="8840918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핵심 원칙을 바탕으로 고객 가치를 신속하게 전달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541599" y="4544616"/>
            <a:ext cx="8840918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Bef>
                <a:spcPts val="2400"/>
              </a:spcBef>
              <a:buNone/>
            </a:pPr>
            <a:r>
              <a:rPr lang="en-US" sz="1733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무다(Muda)·무라(Mura)·무리(Muri)의 ‘3M’ 개념 적용 및 애자일·칸반·데브옵스의 이론적 기반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541599" y="5213152"/>
            <a:ext cx="11327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2666"/>
              </a:spcBef>
              <a:buNone/>
            </a:pPr>
            <a:r>
              <a:rPr lang="en-US" sz="1466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· 소속</a:t>
            </a:r>
            <a:endParaRPr lang="en-US" sz="1466" dirty="0"/>
          </a:p>
        </p:txBody>
      </p:sp>
      <p:sp>
        <p:nvSpPr>
          <p:cNvPr id="12" name="Shape 10"/>
          <p:cNvSpPr/>
          <p:nvPr/>
        </p:nvSpPr>
        <p:spPr>
          <a:xfrm>
            <a:off x="541599" y="5954316"/>
            <a:ext cx="11105754" cy="0"/>
          </a:xfrm>
          <a:prstGeom prst="line">
            <a:avLst/>
          </a:prstGeom>
          <a:noFill/>
          <a:ln w="12698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1599" y="6113066"/>
            <a:ext cx="50119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발표자 제공 개요 · fw-thinking.metacog.co.kr. 수치·차트 없음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9107988" y="6113066"/>
            <a:ext cx="25901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136428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원칙 · 1 – 4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1003981" y="440134"/>
            <a:ext cx="6562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05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778669"/>
            <a:ext cx="11105754" cy="8334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23937"/>
            <a:ext cx="11327869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23"/>
              </a:lnSpc>
              <a:spcBef>
                <a:spcPts val="1866"/>
              </a:spcBef>
              <a:buNone/>
            </a:pPr>
            <a:r>
              <a:rPr lang="en-US" sz="3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 – 7가지 원칙 (전반부)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93" y="2332236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8474" y="2332236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55374" y="2332236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낭비 제거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55374" y="2708870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Eliminate Waste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4603988" y="2332236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가치에 기여하지 않는 불필요한 활동 및 문서 제거</a:t>
            </a:r>
            <a:endParaRPr lang="en-US" sz="1866" dirty="0"/>
          </a:p>
        </p:txBody>
      </p:sp>
      <p:sp>
        <p:nvSpPr>
          <p:cNvPr id="11" name="Shape 9"/>
          <p:cNvSpPr/>
          <p:nvPr/>
        </p:nvSpPr>
        <p:spPr>
          <a:xfrm>
            <a:off x="566993" y="3165872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8474" y="3165872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55374" y="3165872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증폭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55374" y="3542506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Amplify Learning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4603988" y="3165872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반복과 실험을 통한 지식 축적 (프로토타입, A/B 테스트)</a:t>
            </a:r>
            <a:endParaRPr lang="en-US" sz="1866" dirty="0"/>
          </a:p>
        </p:txBody>
      </p:sp>
      <p:sp>
        <p:nvSpPr>
          <p:cNvPr id="16" name="Shape 14"/>
          <p:cNvSpPr/>
          <p:nvPr/>
        </p:nvSpPr>
        <p:spPr>
          <a:xfrm>
            <a:off x="566993" y="3999508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8474" y="3999508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55374" y="3999508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최대한 늦은 결정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55374" y="4376142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Decide as Late as Possible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603988" y="3999508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불확실성 속에서 비가역적 결정을 최대한 지연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566993" y="4833144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8474" y="4833144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55374" y="4833144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최대한 빠른 전달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55374" y="5209778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 as Fast as Possible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4603988" y="4833144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단위로 빈번하게 배포하여 피드백 주기 단축 (CI/CD)</a:t>
            </a:r>
            <a:endParaRPr lang="en-US" sz="1866" dirty="0"/>
          </a:p>
        </p:txBody>
      </p:sp>
      <p:sp>
        <p:nvSpPr>
          <p:cNvPr id="26" name="Shape 24"/>
          <p:cNvSpPr/>
          <p:nvPr/>
        </p:nvSpPr>
        <p:spPr>
          <a:xfrm>
            <a:off x="541599" y="5954316"/>
            <a:ext cx="11105754" cy="0"/>
          </a:xfrm>
          <a:prstGeom prst="line">
            <a:avLst/>
          </a:prstGeom>
          <a:noFill/>
          <a:ln w="12698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1599" y="6113066"/>
            <a:ext cx="50119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발표자 제공 개요 · fw-thinking.metacog.co.kr. 수치·차트 없음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9107988" y="6113066"/>
            <a:ext cx="25901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137723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원칙 · 5 – 7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1003981" y="440134"/>
            <a:ext cx="6562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05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778669"/>
            <a:ext cx="11105754" cy="8334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23937"/>
            <a:ext cx="11327869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23"/>
              </a:lnSpc>
              <a:spcBef>
                <a:spcPts val="1866"/>
              </a:spcBef>
              <a:buNone/>
            </a:pPr>
            <a:r>
              <a:rPr lang="en-US" sz="3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 – 7가지 원칙 (후반부)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93" y="2596753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8474" y="2596753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55374" y="2596753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권한 부여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55374" y="2973388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Empower the Team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4603988" y="2596753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전문가에게 의사결정 권한 위임 및 자율적 팀 구성</a:t>
            </a:r>
            <a:endParaRPr lang="en-US" sz="1866" dirty="0"/>
          </a:p>
        </p:txBody>
      </p:sp>
      <p:sp>
        <p:nvSpPr>
          <p:cNvPr id="11" name="Shape 9"/>
          <p:cNvSpPr/>
          <p:nvPr/>
        </p:nvSpPr>
        <p:spPr>
          <a:xfrm>
            <a:off x="566993" y="3582789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8474" y="3582789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55374" y="3582789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내재적 품질 구축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55374" y="3959423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Integrity In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4603988" y="3582789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단계부터 품질 내재화 (TDD, 코드 리뷰)</a:t>
            </a:r>
            <a:endParaRPr lang="en-US" sz="1866" dirty="0"/>
          </a:p>
        </p:txBody>
      </p:sp>
      <p:sp>
        <p:nvSpPr>
          <p:cNvPr id="16" name="Shape 14"/>
          <p:cNvSpPr/>
          <p:nvPr/>
        </p:nvSpPr>
        <p:spPr>
          <a:xfrm>
            <a:off x="566993" y="4568825"/>
            <a:ext cx="0" cy="613569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8474" y="4568825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55374" y="4568825"/>
            <a:ext cx="296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최적화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55374" y="4945459"/>
            <a:ext cx="296997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267"/>
              </a:spcBef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Optimize the Whole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603988" y="4568825"/>
            <a:ext cx="718423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단계가 아닌 전체 가치 흐름의 처리량 극대화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541599" y="5954316"/>
            <a:ext cx="11105754" cy="0"/>
          </a:xfrm>
          <a:prstGeom prst="line">
            <a:avLst/>
          </a:prstGeom>
          <a:noFill/>
          <a:ln w="12698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1599" y="6113066"/>
            <a:ext cx="50119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발표자 제공 개요 · fw-thinking.metacog.co.kr. 수치·차트 없음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9107988" y="6113066"/>
            <a:ext cx="25901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15109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낭비 · MUDA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1003981" y="440134"/>
            <a:ext cx="6562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05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778669"/>
            <a:ext cx="11105754" cy="8334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23937"/>
            <a:ext cx="11327869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23"/>
              </a:lnSpc>
              <a:spcBef>
                <a:spcPts val="1866"/>
              </a:spcBef>
              <a:buNone/>
            </a:pPr>
            <a:r>
              <a:rPr lang="en-US" sz="3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 Stream Analysis 및 낭비 요소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1599" y="1831181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66993" y="1831181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8474" y="1911548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중인 미완료 작업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4333387" y="1898848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미완성 기능, 브랜치 적재 (WIP 제한 필요)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541599" y="2406650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66993" y="2406650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8474" y="2487017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프로세스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4333387" y="2474317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승인, 문서, 회의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541599" y="2982119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6993" y="2982119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8474" y="3062486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기능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4333387" y="3049786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사용되지 않는 기능 개발 (YAGNI 위반)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541599" y="3557588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6993" y="3557588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8474" y="3637955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전환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4333387" y="3625255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멀티태스킹으로 인한 컨텍스트 스위칭 비용</a:t>
            </a:r>
            <a:endParaRPr lang="en-US" sz="1866" dirty="0"/>
          </a:p>
        </p:txBody>
      </p:sp>
      <p:sp>
        <p:nvSpPr>
          <p:cNvPr id="22" name="Text 20"/>
          <p:cNvSpPr/>
          <p:nvPr/>
        </p:nvSpPr>
        <p:spPr>
          <a:xfrm>
            <a:off x="541599" y="4133056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6993" y="4133056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8474" y="4213423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</a:t>
            </a:r>
            <a:endParaRPr lang="en-US" sz="1866" dirty="0"/>
          </a:p>
        </p:txBody>
      </p:sp>
      <p:sp>
        <p:nvSpPr>
          <p:cNvPr id="25" name="Text 23"/>
          <p:cNvSpPr/>
          <p:nvPr/>
        </p:nvSpPr>
        <p:spPr>
          <a:xfrm>
            <a:off x="4333387" y="4200723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리뷰 및 배포 승인 대기</a:t>
            </a:r>
            <a:endParaRPr lang="en-US" sz="1866" dirty="0"/>
          </a:p>
        </p:txBody>
      </p:sp>
      <p:sp>
        <p:nvSpPr>
          <p:cNvPr id="26" name="Text 24"/>
          <p:cNvSpPr/>
          <p:nvPr/>
        </p:nvSpPr>
        <p:spPr>
          <a:xfrm>
            <a:off x="541599" y="4708525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66993" y="4708525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8474" y="4788892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</a:t>
            </a:r>
            <a:endParaRPr lang="en-US" sz="1866" dirty="0"/>
          </a:p>
        </p:txBody>
      </p:sp>
      <p:sp>
        <p:nvSpPr>
          <p:cNvPr id="29" name="Text 27"/>
          <p:cNvSpPr/>
          <p:nvPr/>
        </p:nvSpPr>
        <p:spPr>
          <a:xfrm>
            <a:off x="4333387" y="4776192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도구와 시스템 간 불필요한 전환</a:t>
            </a:r>
            <a:endParaRPr lang="en-US" sz="1866" dirty="0"/>
          </a:p>
        </p:txBody>
      </p:sp>
      <p:sp>
        <p:nvSpPr>
          <p:cNvPr id="30" name="Text 28"/>
          <p:cNvSpPr/>
          <p:nvPr/>
        </p:nvSpPr>
        <p:spPr>
          <a:xfrm>
            <a:off x="541599" y="5283994"/>
            <a:ext cx="11105754" cy="490934"/>
          </a:xfrm>
          <a:prstGeom prst="roundRect">
            <a:avLst>
              <a:gd name="adj" fmla="val 2069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66993" y="5283994"/>
            <a:ext cx="0" cy="490934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8474" y="5364361"/>
            <a:ext cx="338439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</a:t>
            </a:r>
            <a:endParaRPr lang="en-US" sz="1866" dirty="0"/>
          </a:p>
        </p:txBody>
      </p:sp>
      <p:sp>
        <p:nvSpPr>
          <p:cNvPr id="33" name="Text 31"/>
          <p:cNvSpPr/>
          <p:nvPr/>
        </p:nvSpPr>
        <p:spPr>
          <a:xfrm>
            <a:off x="4333387" y="5351661"/>
            <a:ext cx="725303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수정 및 재작업 비용</a:t>
            </a:r>
            <a:endParaRPr lang="en-US" sz="1866" dirty="0"/>
          </a:p>
        </p:txBody>
      </p:sp>
      <p:sp>
        <p:nvSpPr>
          <p:cNvPr id="34" name="Shape 32"/>
          <p:cNvSpPr/>
          <p:nvPr/>
        </p:nvSpPr>
        <p:spPr>
          <a:xfrm>
            <a:off x="541599" y="5954316"/>
            <a:ext cx="11105754" cy="0"/>
          </a:xfrm>
          <a:prstGeom prst="line">
            <a:avLst/>
          </a:prstGeom>
          <a:noFill/>
          <a:ln w="12698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1599" y="6113066"/>
            <a:ext cx="50119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발표자 제공 개요 · fw-thinking.metacog.co.kr. 수치·차트 없음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9107988" y="6113066"/>
            <a:ext cx="25901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15627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7B7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 · 실무 적용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1016678" y="440134"/>
            <a:ext cx="643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05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778669"/>
            <a:ext cx="11105754" cy="8334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23937"/>
            <a:ext cx="11327869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23"/>
              </a:lnSpc>
              <a:spcBef>
                <a:spcPts val="1866"/>
              </a:spcBef>
              <a:buNone/>
            </a:pPr>
            <a:r>
              <a:rPr lang="en-US" sz="3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 및 실무 적용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93" y="2487414"/>
            <a:ext cx="0" cy="355600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8474" y="2487414"/>
            <a:ext cx="29009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리드 타임 단축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59438" y="2487414"/>
            <a:ext cx="794367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스트림 맵을 통한 병목 구간 시각화 및 제거</a:t>
            </a:r>
            <a:endParaRPr lang="en-US" sz="1866" dirty="0"/>
          </a:p>
        </p:txBody>
      </p:sp>
      <p:sp>
        <p:nvSpPr>
          <p:cNvPr id="9" name="Shape 7"/>
          <p:cNvSpPr/>
          <p:nvPr/>
        </p:nvSpPr>
        <p:spPr>
          <a:xfrm>
            <a:off x="566993" y="3046214"/>
            <a:ext cx="0" cy="355600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8474" y="3046214"/>
            <a:ext cx="29009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향상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59438" y="3046214"/>
            <a:ext cx="794367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TDD 및 자동화 테스트 도입을 통한 재작업 비용 절감</a:t>
            </a:r>
            <a:endParaRPr lang="en-US" sz="1866" dirty="0"/>
          </a:p>
        </p:txBody>
      </p:sp>
      <p:sp>
        <p:nvSpPr>
          <p:cNvPr id="12" name="Shape 10"/>
          <p:cNvSpPr/>
          <p:nvPr/>
        </p:nvSpPr>
        <p:spPr>
          <a:xfrm>
            <a:off x="566993" y="3605014"/>
            <a:ext cx="0" cy="355600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8474" y="3605014"/>
            <a:ext cx="29009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생산성 향상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59438" y="3605014"/>
            <a:ext cx="794367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WIP 제한과 칸반 보드를 활용한 흐름 최적화</a:t>
            </a:r>
            <a:endParaRPr lang="en-US" sz="1866" dirty="0"/>
          </a:p>
        </p:txBody>
      </p:sp>
      <p:sp>
        <p:nvSpPr>
          <p:cNvPr id="15" name="Shape 13"/>
          <p:cNvSpPr/>
          <p:nvPr/>
        </p:nvSpPr>
        <p:spPr>
          <a:xfrm>
            <a:off x="566993" y="4163814"/>
            <a:ext cx="0" cy="355600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8474" y="4163814"/>
            <a:ext cx="29009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데브옵스 연계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59438" y="4163814"/>
            <a:ext cx="794367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CI/CD 및 자동화 개발 문화 구축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541599" y="5049242"/>
            <a:ext cx="152362" cy="152400"/>
          </a:xfrm>
          <a:prstGeom prst="roundRect">
            <a:avLst>
              <a:gd name="adj" fmla="val 8326035"/>
            </a:avLst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6323" y="4959548"/>
            <a:ext cx="773160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낭비를 줄이는 것이 목적이 아니라, 전체 가치 흐름의 처리량을 올리는 것이 목적이다.</a:t>
            </a:r>
            <a:endParaRPr lang="en-US" sz="1866" dirty="0"/>
          </a:p>
        </p:txBody>
      </p:sp>
      <p:sp>
        <p:nvSpPr>
          <p:cNvPr id="20" name="Shape 18"/>
          <p:cNvSpPr/>
          <p:nvPr/>
        </p:nvSpPr>
        <p:spPr>
          <a:xfrm>
            <a:off x="541599" y="5954316"/>
            <a:ext cx="11105754" cy="0"/>
          </a:xfrm>
          <a:prstGeom prst="line">
            <a:avLst/>
          </a:prstGeom>
          <a:noFill/>
          <a:ln w="12698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1599" y="6113066"/>
            <a:ext cx="50119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— 발표자 제공 개요 · fw-thinking.metacog.co.kr. 수치·차트 없음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9107988" y="6113066"/>
            <a:ext cx="259015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B4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SOFTWARE DEVELOPMENT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2026-08-27T18:52:55Z</dcterms:created>
  <dcterms:modified xsi:type="dcterms:W3CDTF">2026-08-27T18:52:55Z</dcterms:modified>
</cp:coreProperties>
</file>