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1599" y="1394817"/>
            <a:ext cx="11327869" cy="81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399"/>
              </a:lnSpc>
              <a:buNone/>
            </a:pPr>
            <a:r>
              <a:rPr lang="en-US" sz="5333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</a:t>
            </a:r>
            <a:endParaRPr lang="en-US" sz="5333" dirty="0"/>
          </a:p>
        </p:txBody>
      </p:sp>
      <p:sp>
        <p:nvSpPr>
          <p:cNvPr id="4" name="Text 2"/>
          <p:cNvSpPr/>
          <p:nvPr/>
        </p:nvSpPr>
        <p:spPr>
          <a:xfrm>
            <a:off x="541599" y="2309019"/>
            <a:ext cx="11327869" cy="434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spcBef>
                <a:spcPts val="800"/>
              </a:spcBef>
              <a:buNone/>
            </a:pPr>
            <a:r>
              <a:rPr lang="en-US" sz="2533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 Thinking</a:t>
            </a:r>
            <a:endParaRPr lang="en-US" sz="2533" dirty="0"/>
          </a:p>
        </p:txBody>
      </p:sp>
      <p:sp>
        <p:nvSpPr>
          <p:cNvPr id="5" name="Text 3"/>
          <p:cNvSpPr/>
          <p:nvPr/>
        </p:nvSpPr>
        <p:spPr>
          <a:xfrm>
            <a:off x="541599" y="3081734"/>
            <a:ext cx="947897" cy="67667"/>
          </a:xfrm>
          <a:prstGeom prst="roundRect">
            <a:avLst>
              <a:gd name="adj" fmla="val 18747268"/>
            </a:avLst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1599" y="3487936"/>
            <a:ext cx="884091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토요타 생산 방식(TPS)의 낭비 제거 철학을 소프트웨어 개발에 적용한 가치 스트림 방법론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541599" y="3973909"/>
            <a:ext cx="8840918" cy="367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93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7가지 핵심 원칙을 바탕으로 고객 가치를 신속하게 전달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541599" y="4646216"/>
            <a:ext cx="8840918" cy="33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spcBef>
                <a:spcPts val="2400"/>
              </a:spcBef>
              <a:buNone/>
            </a:pPr>
            <a:r>
              <a:rPr lang="en-US" sz="17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무다(Muda)·무라(Mura)·무리(Muri)의 ‘3M’ 개념 적용 및 애자일·칸반·데브옵스의 이론적 기반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541599" y="5314752"/>
            <a:ext cx="113278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666"/>
              </a:spcBef>
              <a:buNone/>
            </a:pPr>
            <a:r>
              <a:rPr lang="en-US" sz="1466" b="1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· 소속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– 7가지 원칙 (전반부)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93" y="2433836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474" y="2433836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55374" y="2433836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낭비 제거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55374" y="2810470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Eliminate Waste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603988" y="2433836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가치에 기여하지 않는 불필요한 활동 및 문서 제거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566993" y="3267472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8474" y="3267472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55374" y="3267472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 증폭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55374" y="3644106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Amplify Learning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4603988" y="3267472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반복과 실험을 통한 지식 축적 (프로토타입, A/B 테스트)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66993" y="4101108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8474" y="4101108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55374" y="4101108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최대한 늦은 결정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55374" y="4477742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Decide as Late as Possible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4603988" y="4101108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불확실성 속에서 비가역적 결정을 최대한 지연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66993" y="4934744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8474" y="4934744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55374" y="4934744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최대한 빠른 전달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55374" y="5311378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Deliver as Fast as Possible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603988" y="4934744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단위로 빈번하게 배포하여 피드백 주기 단축 (CI/CD)</a:t>
            </a:r>
            <a:endParaRPr lang="en-US" sz="18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Lean Software Development – 7가지 원칙 (후반부)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93" y="2698353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474" y="2698353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55374" y="2698353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권한 부여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55374" y="3074987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Empower the Team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603988" y="2698353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전문가에게 의사결정 권한 위임 및 자율적 팀 구성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566993" y="3684389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8474" y="3684389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55374" y="3684389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내재적 품질 구축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55374" y="4061023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Integrity In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4603988" y="3684389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단계부터 품질 내재화 (TDD, 코드 리뷰)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66993" y="4670425"/>
            <a:ext cx="0" cy="613569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8474" y="4670425"/>
            <a:ext cx="4488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55374" y="4670425"/>
            <a:ext cx="29699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최적화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455374" y="5047059"/>
            <a:ext cx="2969974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67"/>
              </a:spcBef>
              <a:buNone/>
            </a:pPr>
            <a:r>
              <a:rPr lang="en-US" sz="1333" dirty="0">
                <a:solidFill>
                  <a:srgbClr val="B4B4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Optimize the Whole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4603988" y="4670425"/>
            <a:ext cx="718423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단계가 아닌 전체 가치 흐름의 처리량 극대화</a:t>
            </a:r>
            <a:endParaRPr lang="en-US" sz="18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Value Stream Analysis 및 낭비 요소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1599" y="1831181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66993" y="1831181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8474" y="1911548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미완료 작업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333387" y="1898848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미완성 기능, 브랜치 적재 (WIP 제한 필요)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541599" y="2406650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66993" y="2406650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8474" y="2487017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프로세스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333387" y="2474317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승인, 문서, 회의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541599" y="2982119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66993" y="2982119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8474" y="3062486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기능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4333387" y="3049786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사용되지 않는 기능 개발 (YAGNI 위반)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541599" y="3557588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66993" y="3557588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8474" y="3637955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전환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4333387" y="3625255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멀티태스킹으로 인한 컨텍스트 스위칭 비용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541599" y="4133056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66993" y="4133056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8474" y="4213423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333387" y="4200723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리뷰 및 배포 승인 대기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541599" y="4708525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566993" y="4708525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8474" y="4788892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4333387" y="4776192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도구와 시스템 간 불필요한 전환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541599" y="5283994"/>
            <a:ext cx="11105754" cy="490934"/>
          </a:xfrm>
          <a:prstGeom prst="roundRect">
            <a:avLst>
              <a:gd name="adj" fmla="val 20693"/>
            </a:avLst>
          </a:prstGeom>
          <a:solidFill>
            <a:srgbClr val="FAFA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66993" y="5283994"/>
            <a:ext cx="0" cy="490934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8474" y="5364361"/>
            <a:ext cx="3384398" cy="32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결함</a:t>
            </a:r>
            <a:endParaRPr lang="en-US" sz="1866" dirty="0"/>
          </a:p>
        </p:txBody>
      </p:sp>
      <p:sp>
        <p:nvSpPr>
          <p:cNvPr id="31" name="Text 29"/>
          <p:cNvSpPr/>
          <p:nvPr/>
        </p:nvSpPr>
        <p:spPr>
          <a:xfrm>
            <a:off x="4333387" y="5351661"/>
            <a:ext cx="7253034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버그 수정 및 재작업 비용</a:t>
            </a:r>
            <a:endParaRPr lang="en-US" sz="18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778669"/>
            <a:ext cx="11105754" cy="8334"/>
          </a:xfrm>
          <a:prstGeom prst="rect">
            <a:avLst/>
          </a:prstGeom>
          <a:solidFill>
            <a:srgbClr val="E8E8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1599" y="1023937"/>
            <a:ext cx="11327869" cy="536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3"/>
              </a:lnSpc>
              <a:spcBef>
                <a:spcPts val="1866"/>
              </a:spcBef>
              <a:buNone/>
            </a:pPr>
            <a:r>
              <a:rPr lang="en-US" sz="32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효과 및 실무 적용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93" y="25890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474" y="25890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리드 타임 단축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859438" y="25890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스트림 맵을 통한 병목 구간 시각화 및 제거</a:t>
            </a:r>
            <a:endParaRPr lang="en-US" sz="1866" dirty="0"/>
          </a:p>
        </p:txBody>
      </p:sp>
      <p:sp>
        <p:nvSpPr>
          <p:cNvPr id="7" name="Shape 5"/>
          <p:cNvSpPr/>
          <p:nvPr/>
        </p:nvSpPr>
        <p:spPr>
          <a:xfrm>
            <a:off x="566993" y="31478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8474" y="31478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향상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59438" y="31478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TDD 및 자동화 테스트 도입을 통한 재작업 비용 절감</a:t>
            </a:r>
            <a:endParaRPr lang="en-US" sz="1866" dirty="0"/>
          </a:p>
        </p:txBody>
      </p:sp>
      <p:sp>
        <p:nvSpPr>
          <p:cNvPr id="10" name="Shape 8"/>
          <p:cNvSpPr/>
          <p:nvPr/>
        </p:nvSpPr>
        <p:spPr>
          <a:xfrm>
            <a:off x="566993" y="37066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8474" y="37066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생산성 향상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59438" y="37066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WIP 제한과 칸반 보드를 활용한 흐름 최적화</a:t>
            </a:r>
            <a:endParaRPr lang="en-US" sz="1866" dirty="0"/>
          </a:p>
        </p:txBody>
      </p:sp>
      <p:sp>
        <p:nvSpPr>
          <p:cNvPr id="13" name="Shape 11"/>
          <p:cNvSpPr/>
          <p:nvPr/>
        </p:nvSpPr>
        <p:spPr>
          <a:xfrm>
            <a:off x="566993" y="4265414"/>
            <a:ext cx="0" cy="35560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8474" y="4265414"/>
            <a:ext cx="29009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데브옵스 연계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859438" y="4265414"/>
            <a:ext cx="794367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 및 자동화 개발 문화 구축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46323" y="5061148"/>
            <a:ext cx="7731605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낭비를 줄이는 것이 목적이 아니라, 전체 가치 흐름의 처리량을 올리는 것이 목적이다.</a:t>
            </a:r>
            <a:endParaRPr lang="en-US" sz="18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2026-08-27T15:16:38Z</dcterms:created>
  <dcterms:modified xsi:type="dcterms:W3CDTF">2026-08-27T15:16:38Z</dcterms:modified>
</cp:coreProperties>
</file>