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B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7897" y="677267"/>
            <a:ext cx="2045209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2693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ON-CALL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454248" y="677267"/>
            <a:ext cx="802543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A817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01 /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47897" y="1368425"/>
            <a:ext cx="6768796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99"/>
              </a:lnSpc>
              <a:buNone/>
            </a:pPr>
            <a:r>
              <a:rPr lang="en-US" sz="5599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On-call rotations</a:t>
            </a:r>
            <a:endParaRPr lang="en-US" sz="5599" dirty="0"/>
          </a:p>
          <a:p>
            <a:pPr algn="l" indent="0" marL="0">
              <a:lnSpc>
                <a:spcPts val="6999"/>
              </a:lnSpc>
              <a:buNone/>
            </a:pPr>
            <a:r>
              <a:rPr lang="en-US" sz="5599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people can survive</a:t>
            </a:r>
            <a:endParaRPr lang="en-US" sz="5599" dirty="0"/>
          </a:p>
        </p:txBody>
      </p:sp>
      <p:sp>
        <p:nvSpPr>
          <p:cNvPr id="5" name="Text 3"/>
          <p:cNvSpPr/>
          <p:nvPr/>
        </p:nvSpPr>
        <p:spPr>
          <a:xfrm>
            <a:off x="947897" y="3484959"/>
            <a:ext cx="6636075" cy="16867"/>
          </a:xfrm>
          <a:prstGeom prst="rect">
            <a:avLst/>
          </a:prstGeom>
          <a:solidFill>
            <a:srgbClr val="D6CC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47897" y="3806627"/>
            <a:ext cx="67687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Rotation design is a staffing problem,</a:t>
            </a:r>
            <a:endParaRPr lang="en-US" sz="24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not a goodwill problem.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47897" y="5093494"/>
            <a:ext cx="6768796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2933"/>
              </a:spcBef>
              <a:buNone/>
            </a:pPr>
            <a:r>
              <a:rPr lang="en-US" sz="1600" dirty="0">
                <a:solidFill>
                  <a:srgbClr val="8A817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PRESENTER · TEAM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29117" y="1871266"/>
            <a:ext cx="2573091" cy="25737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7897" y="5784652"/>
            <a:ext cx="10293157" cy="16867"/>
          </a:xfrm>
          <a:prstGeom prst="rect">
            <a:avLst/>
          </a:prstGeom>
          <a:solidFill>
            <a:srgbClr val="D6CC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947897" y="5919986"/>
            <a:ext cx="10499020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spcBef>
                <a:spcPts val="933"/>
              </a:spcBef>
              <a:buNone/>
            </a:pPr>
            <a:r>
              <a:rPr lang="en-US" sz="1466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 sourced figures: shift hours, page rates and roster sizes are unsourced.</a:t>
            </a:r>
            <a:endParaRPr lang="en-US" sz="146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B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7897" y="677267"/>
            <a:ext cx="1448057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2693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LEVERS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428855" y="677267"/>
            <a:ext cx="828444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A817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02 /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47897" y="1198563"/>
            <a:ext cx="104990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99"/>
              </a:lnSpc>
              <a:spcAft>
                <a:spcPts val="1333"/>
              </a:spcAft>
              <a:buNone/>
            </a:pPr>
            <a:r>
              <a:rPr lang="en-US" sz="3999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rota is a staffing decision</a:t>
            </a:r>
            <a:endParaRPr lang="en-US" sz="3999" dirty="0"/>
          </a:p>
        </p:txBody>
      </p:sp>
      <p:sp>
        <p:nvSpPr>
          <p:cNvPr id="5" name="Text 3"/>
          <p:cNvSpPr/>
          <p:nvPr/>
        </p:nvSpPr>
        <p:spPr>
          <a:xfrm>
            <a:off x="947897" y="1977430"/>
            <a:ext cx="4977354" cy="1218009"/>
          </a:xfrm>
          <a:prstGeom prst="roundRect">
            <a:avLst>
              <a:gd name="adj" fmla="val 12511"/>
            </a:avLst>
          </a:prstGeom>
          <a:noFill/>
          <a:ln w="12698">
            <a:solidFill>
              <a:srgbClr val="3D35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31394" y="2159397"/>
            <a:ext cx="372374" cy="372467"/>
          </a:xfrm>
          <a:prstGeom prst="roundRect">
            <a:avLst>
              <a:gd name="adj" fmla="val 327372"/>
            </a:avLst>
          </a:prstGeom>
          <a:solidFill>
            <a:srgbClr val="C269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73043" y="2203450"/>
            <a:ext cx="90655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BF7E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9068" y="2162770"/>
            <a:ext cx="159294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133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Shift length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1231394" y="2633464"/>
            <a:ext cx="4498568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spcBef>
                <a:spcPts val="800"/>
              </a:spcBef>
              <a:buNone/>
            </a:pPr>
            <a:r>
              <a:rPr lang="en-US" sz="1866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How long one person is reachable.</a:t>
            </a:r>
            <a:endParaRPr lang="en-US" sz="1866" dirty="0"/>
          </a:p>
        </p:txBody>
      </p:sp>
      <p:sp>
        <p:nvSpPr>
          <p:cNvPr id="10" name="Text 8"/>
          <p:cNvSpPr/>
          <p:nvPr/>
        </p:nvSpPr>
        <p:spPr>
          <a:xfrm>
            <a:off x="6263701" y="1977430"/>
            <a:ext cx="4977354" cy="1218009"/>
          </a:xfrm>
          <a:prstGeom prst="roundRect">
            <a:avLst>
              <a:gd name="adj" fmla="val 12511"/>
            </a:avLst>
          </a:prstGeom>
          <a:noFill/>
          <a:ln w="12698">
            <a:solidFill>
              <a:srgbClr val="3D35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47197" y="2159397"/>
            <a:ext cx="372374" cy="372467"/>
          </a:xfrm>
          <a:prstGeom prst="roundRect">
            <a:avLst>
              <a:gd name="adj" fmla="val 327372"/>
            </a:avLst>
          </a:prstGeom>
          <a:solidFill>
            <a:srgbClr val="C269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76149" y="2203450"/>
            <a:ext cx="116557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BF7E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54872" y="2162770"/>
            <a:ext cx="1282125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133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Handover</a:t>
            </a:r>
            <a:endParaRPr lang="en-US" sz="2133" dirty="0"/>
          </a:p>
        </p:txBody>
      </p:sp>
      <p:sp>
        <p:nvSpPr>
          <p:cNvPr id="14" name="Text 12"/>
          <p:cNvSpPr/>
          <p:nvPr/>
        </p:nvSpPr>
        <p:spPr>
          <a:xfrm>
            <a:off x="6547197" y="2633464"/>
            <a:ext cx="4498568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spcBef>
                <a:spcPts val="800"/>
              </a:spcBef>
              <a:buNone/>
            </a:pPr>
            <a:r>
              <a:rPr lang="en-US" sz="1866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moves at the change of shift.</a:t>
            </a:r>
            <a:endParaRPr lang="en-US" sz="1866" dirty="0"/>
          </a:p>
        </p:txBody>
      </p:sp>
      <p:sp>
        <p:nvSpPr>
          <p:cNvPr id="15" name="Text 13"/>
          <p:cNvSpPr/>
          <p:nvPr/>
        </p:nvSpPr>
        <p:spPr>
          <a:xfrm>
            <a:off x="947897" y="3466306"/>
            <a:ext cx="4977354" cy="1218208"/>
          </a:xfrm>
          <a:prstGeom prst="roundRect">
            <a:avLst>
              <a:gd name="adj" fmla="val 12509"/>
            </a:avLst>
          </a:prstGeom>
          <a:noFill/>
          <a:ln w="12698">
            <a:solidFill>
              <a:srgbClr val="3D35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31394" y="3648273"/>
            <a:ext cx="372374" cy="372467"/>
          </a:xfrm>
          <a:prstGeom prst="roundRect">
            <a:avLst>
              <a:gd name="adj" fmla="val 327372"/>
            </a:avLst>
          </a:prstGeom>
          <a:solidFill>
            <a:srgbClr val="C269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60346" y="3692327"/>
            <a:ext cx="116557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BF7E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9068" y="3651647"/>
            <a:ext cx="194261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133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Compensation</a:t>
            </a:r>
            <a:endParaRPr lang="en-US" sz="2133" dirty="0"/>
          </a:p>
        </p:txBody>
      </p:sp>
      <p:sp>
        <p:nvSpPr>
          <p:cNvPr id="19" name="Text 17"/>
          <p:cNvSpPr/>
          <p:nvPr/>
        </p:nvSpPr>
        <p:spPr>
          <a:xfrm>
            <a:off x="1231394" y="4122341"/>
            <a:ext cx="4498568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spcBef>
                <a:spcPts val="800"/>
              </a:spcBef>
              <a:buNone/>
            </a:pPr>
            <a:r>
              <a:rPr lang="en-US" sz="1866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the hours cost to schedule.</a:t>
            </a:r>
            <a:endParaRPr lang="en-US" sz="1866" dirty="0"/>
          </a:p>
        </p:txBody>
      </p:sp>
      <p:sp>
        <p:nvSpPr>
          <p:cNvPr id="20" name="Text 18"/>
          <p:cNvSpPr/>
          <p:nvPr/>
        </p:nvSpPr>
        <p:spPr>
          <a:xfrm>
            <a:off x="6263701" y="3466306"/>
            <a:ext cx="4977354" cy="1218208"/>
          </a:xfrm>
          <a:prstGeom prst="roundRect">
            <a:avLst>
              <a:gd name="adj" fmla="val 12509"/>
            </a:avLst>
          </a:prstGeom>
          <a:noFill/>
          <a:ln w="12698">
            <a:solidFill>
              <a:srgbClr val="3D35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547197" y="3648273"/>
            <a:ext cx="372374" cy="372467"/>
          </a:xfrm>
          <a:prstGeom prst="roundRect">
            <a:avLst>
              <a:gd name="adj" fmla="val 327372"/>
            </a:avLst>
          </a:prstGeom>
          <a:solidFill>
            <a:srgbClr val="C269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669801" y="3692327"/>
            <a:ext cx="129508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BF7E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54872" y="3651647"/>
            <a:ext cx="3211789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133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ceiling on night pages</a:t>
            </a:r>
            <a:endParaRPr lang="en-US" sz="2133" dirty="0"/>
          </a:p>
        </p:txBody>
      </p:sp>
      <p:sp>
        <p:nvSpPr>
          <p:cNvPr id="24" name="Text 22"/>
          <p:cNvSpPr/>
          <p:nvPr/>
        </p:nvSpPr>
        <p:spPr>
          <a:xfrm>
            <a:off x="6547197" y="4122341"/>
            <a:ext cx="4498568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spcBef>
                <a:spcPts val="800"/>
              </a:spcBef>
              <a:buNone/>
            </a:pPr>
            <a:r>
              <a:rPr lang="en-US" sz="1866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limit the rota may not exceed.</a:t>
            </a:r>
            <a:endParaRPr lang="en-US" sz="1866" dirty="0"/>
          </a:p>
        </p:txBody>
      </p:sp>
      <p:sp>
        <p:nvSpPr>
          <p:cNvPr id="25" name="Text 23"/>
          <p:cNvSpPr/>
          <p:nvPr/>
        </p:nvSpPr>
        <p:spPr>
          <a:xfrm>
            <a:off x="947897" y="4955381"/>
            <a:ext cx="10293157" cy="16867"/>
          </a:xfrm>
          <a:prstGeom prst="rect">
            <a:avLst/>
          </a:prstGeom>
          <a:solidFill>
            <a:srgbClr val="C269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47897" y="5141516"/>
            <a:ext cx="10499020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Bef>
                <a:spcPts val="1333"/>
              </a:spcBef>
              <a:buNone/>
            </a:pPr>
            <a:r>
              <a:rPr lang="en-US" sz="2133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Encouragement moves none of them. Only the roster does.</a:t>
            </a:r>
            <a:endParaRPr lang="en-US" sz="2133" dirty="0"/>
          </a:p>
        </p:txBody>
      </p:sp>
      <p:sp>
        <p:nvSpPr>
          <p:cNvPr id="27" name="Text 25"/>
          <p:cNvSpPr/>
          <p:nvPr/>
        </p:nvSpPr>
        <p:spPr>
          <a:xfrm>
            <a:off x="947897" y="5784652"/>
            <a:ext cx="10293157" cy="16867"/>
          </a:xfrm>
          <a:prstGeom prst="rect">
            <a:avLst/>
          </a:prstGeom>
          <a:solidFill>
            <a:srgbClr val="D6CC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47897" y="5919986"/>
            <a:ext cx="10499020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spcBef>
                <a:spcPts val="933"/>
              </a:spcBef>
              <a:buNone/>
            </a:pPr>
            <a:r>
              <a:rPr lang="en-US" sz="1466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 sourced figures: shift hours, page rates and roster sizes are unsourced.</a:t>
            </a:r>
            <a:endParaRPr lang="en-US" sz="146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B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7897" y="677267"/>
            <a:ext cx="1311265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2693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HANDOVER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428855" y="677267"/>
            <a:ext cx="828444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A817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03 /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47897" y="1198563"/>
            <a:ext cx="104990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99"/>
              </a:lnSpc>
              <a:spcAft>
                <a:spcPts val="1600"/>
              </a:spcAft>
              <a:buNone/>
            </a:pPr>
            <a:r>
              <a:rPr lang="en-US" sz="3999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a handover has to carry</a:t>
            </a:r>
            <a:endParaRPr lang="en-US" sz="3999" dirty="0"/>
          </a:p>
        </p:txBody>
      </p:sp>
      <p:sp>
        <p:nvSpPr>
          <p:cNvPr id="5" name="Text 3"/>
          <p:cNvSpPr/>
          <p:nvPr/>
        </p:nvSpPr>
        <p:spPr>
          <a:xfrm>
            <a:off x="947897" y="2011363"/>
            <a:ext cx="5180305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333"/>
              </a:spcAft>
              <a:buNone/>
            </a:pPr>
            <a:r>
              <a:rPr lang="en-US" sz="1600" b="1" dirty="0">
                <a:solidFill>
                  <a:srgbClr val="C2693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PAYLOAD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47897" y="2916634"/>
            <a:ext cx="5078730" cy="0"/>
          </a:xfrm>
          <a:prstGeom prst="line">
            <a:avLst/>
          </a:prstGeom>
          <a:noFill/>
          <a:ln w="12698">
            <a:solidFill>
              <a:srgbClr val="D6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7897" y="2464991"/>
            <a:ext cx="5180305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Open incidents and the live hypothesis</a:t>
            </a:r>
            <a:endParaRPr lang="en-US" sz="1866" dirty="0"/>
          </a:p>
        </p:txBody>
      </p:sp>
      <p:sp>
        <p:nvSpPr>
          <p:cNvPr id="8" name="Shape 6"/>
          <p:cNvSpPr/>
          <p:nvPr/>
        </p:nvSpPr>
        <p:spPr>
          <a:xfrm>
            <a:off x="947897" y="3476228"/>
            <a:ext cx="5078730" cy="0"/>
          </a:xfrm>
          <a:prstGeom prst="line">
            <a:avLst/>
          </a:prstGeom>
          <a:noFill/>
          <a:ln w="12698">
            <a:solidFill>
              <a:srgbClr val="D6CC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7897" y="3024584"/>
            <a:ext cx="5180305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was tried and already ruled out</a:t>
            </a:r>
            <a:endParaRPr lang="en-US" sz="1866" dirty="0"/>
          </a:p>
        </p:txBody>
      </p:sp>
      <p:sp>
        <p:nvSpPr>
          <p:cNvPr id="10" name="Shape 8"/>
          <p:cNvSpPr/>
          <p:nvPr/>
        </p:nvSpPr>
        <p:spPr>
          <a:xfrm>
            <a:off x="947897" y="4035822"/>
            <a:ext cx="5078730" cy="0"/>
          </a:xfrm>
          <a:prstGeom prst="line">
            <a:avLst/>
          </a:prstGeom>
          <a:noFill/>
          <a:ln w="12698">
            <a:solidFill>
              <a:srgbClr val="D6CC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7897" y="3584178"/>
            <a:ext cx="5180305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is silenced, and when it returns</a:t>
            </a:r>
            <a:endParaRPr lang="en-US" sz="1866" dirty="0"/>
          </a:p>
        </p:txBody>
      </p:sp>
      <p:sp>
        <p:nvSpPr>
          <p:cNvPr id="12" name="Shape 10"/>
          <p:cNvSpPr/>
          <p:nvPr/>
        </p:nvSpPr>
        <p:spPr>
          <a:xfrm>
            <a:off x="947897" y="4595416"/>
            <a:ext cx="5078730" cy="0"/>
          </a:xfrm>
          <a:prstGeom prst="line">
            <a:avLst/>
          </a:prstGeom>
          <a:noFill/>
          <a:ln w="12698">
            <a:solidFill>
              <a:srgbClr val="D6CC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7897" y="4143772"/>
            <a:ext cx="5180305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is degraded but not yet paging</a:t>
            </a:r>
            <a:endParaRPr lang="en-US" sz="1866" dirty="0"/>
          </a:p>
        </p:txBody>
      </p:sp>
      <p:sp>
        <p:nvSpPr>
          <p:cNvPr id="14" name="Shape 12"/>
          <p:cNvSpPr/>
          <p:nvPr/>
        </p:nvSpPr>
        <p:spPr>
          <a:xfrm>
            <a:off x="947897" y="5155009"/>
            <a:ext cx="5078730" cy="0"/>
          </a:xfrm>
          <a:prstGeom prst="line">
            <a:avLst/>
          </a:prstGeom>
          <a:noFill/>
          <a:ln w="12698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897" y="4703366"/>
            <a:ext cx="5180305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Who has been woken, and how often</a:t>
            </a:r>
            <a:endParaRPr lang="en-US" sz="1866" dirty="0"/>
          </a:p>
        </p:txBody>
      </p:sp>
      <p:sp>
        <p:nvSpPr>
          <p:cNvPr id="16" name="Text 14"/>
          <p:cNvSpPr/>
          <p:nvPr/>
        </p:nvSpPr>
        <p:spPr>
          <a:xfrm>
            <a:off x="6432926" y="2011363"/>
            <a:ext cx="16863" cy="3536355"/>
          </a:xfrm>
          <a:prstGeom prst="rect">
            <a:avLst/>
          </a:prstGeom>
          <a:solidFill>
            <a:srgbClr val="D6CC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56087" y="2011363"/>
            <a:ext cx="4472667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333"/>
              </a:spcAft>
              <a:buNone/>
            </a:pPr>
            <a:r>
              <a:rPr lang="en-US" sz="1600" b="1" dirty="0">
                <a:solidFill>
                  <a:srgbClr val="C2693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WHY IT CANNOT WAIT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6087" y="2464991"/>
            <a:ext cx="4472667" cy="792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C2693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person leaving the shift</a:t>
            </a:r>
            <a:endParaRPr lang="en-US" sz="2400" dirty="0"/>
          </a:p>
          <a:p>
            <a:pPr algn="l" indent="0" marL="0">
              <a:lnSpc>
                <a:spcPts val="312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C2693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is the one who knows.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56087" y="3460353"/>
            <a:ext cx="4472667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events are in the dashboard. The reasoning is in the head of the person going to bed.</a:t>
            </a:r>
            <a:endParaRPr lang="en-US" sz="1866" dirty="0"/>
          </a:p>
        </p:txBody>
      </p:sp>
      <p:sp>
        <p:nvSpPr>
          <p:cNvPr id="20" name="Text 18"/>
          <p:cNvSpPr/>
          <p:nvPr/>
        </p:nvSpPr>
        <p:spPr>
          <a:xfrm>
            <a:off x="6856087" y="4660702"/>
            <a:ext cx="4472667" cy="68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spcBef>
                <a:spcPts val="1333"/>
              </a:spcBef>
              <a:buNone/>
            </a:pPr>
            <a:r>
              <a:rPr lang="en-US" sz="1866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So the handover is work inside the shift, not a note sent after it.</a:t>
            </a:r>
            <a:endParaRPr lang="en-US" sz="1866" dirty="0"/>
          </a:p>
        </p:txBody>
      </p:sp>
      <p:sp>
        <p:nvSpPr>
          <p:cNvPr id="21" name="Text 19"/>
          <p:cNvSpPr/>
          <p:nvPr/>
        </p:nvSpPr>
        <p:spPr>
          <a:xfrm>
            <a:off x="947897" y="5784652"/>
            <a:ext cx="10293157" cy="16867"/>
          </a:xfrm>
          <a:prstGeom prst="rect">
            <a:avLst/>
          </a:prstGeom>
          <a:solidFill>
            <a:srgbClr val="D6CC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47897" y="5919986"/>
            <a:ext cx="10499020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spcBef>
                <a:spcPts val="933"/>
              </a:spcBef>
              <a:buNone/>
            </a:pPr>
            <a:r>
              <a:rPr lang="en-US" sz="1466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 sourced figures: shift hours, page rates and roster sizes are unsourced.</a:t>
            </a:r>
            <a:endParaRPr lang="en-US" sz="146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B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7897" y="677267"/>
            <a:ext cx="3045655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2693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NIGHT-PAGE CEILING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416158" y="677267"/>
            <a:ext cx="841395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A817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04 /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47897" y="1198563"/>
            <a:ext cx="104990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99"/>
              </a:lnSpc>
              <a:spcAft>
                <a:spcPts val="1333"/>
              </a:spcAft>
              <a:buNone/>
            </a:pPr>
            <a:r>
              <a:rPr lang="en-US" sz="3999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a page ceiling forces upstream</a:t>
            </a:r>
            <a:endParaRPr lang="en-US" sz="3999" dirty="0"/>
          </a:p>
        </p:txBody>
      </p:sp>
      <p:sp>
        <p:nvSpPr>
          <p:cNvPr id="5" name="Text 3"/>
          <p:cNvSpPr/>
          <p:nvPr/>
        </p:nvSpPr>
        <p:spPr>
          <a:xfrm>
            <a:off x="947897" y="1977430"/>
            <a:ext cx="10499020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1866"/>
              </a:spcAft>
              <a:buNone/>
            </a:pPr>
            <a:r>
              <a:rPr lang="en-US" sz="2133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ceiling does not reduce pages. It converts them into scheduled work.</a:t>
            </a:r>
            <a:endParaRPr lang="en-US" sz="2133" dirty="0"/>
          </a:p>
        </p:txBody>
      </p:sp>
      <p:sp>
        <p:nvSpPr>
          <p:cNvPr id="6" name="Text 4"/>
          <p:cNvSpPr/>
          <p:nvPr/>
        </p:nvSpPr>
        <p:spPr>
          <a:xfrm>
            <a:off x="947897" y="2620566"/>
            <a:ext cx="3160121" cy="1142603"/>
          </a:xfrm>
          <a:prstGeom prst="roundRect">
            <a:avLst>
              <a:gd name="adj" fmla="val 13336"/>
            </a:avLst>
          </a:prstGeom>
          <a:noFill/>
          <a:ln w="12698">
            <a:solidFill>
              <a:srgbClr val="3D35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29819" y="2802533"/>
            <a:ext cx="338450" cy="338534"/>
          </a:xfrm>
          <a:prstGeom prst="roundRect">
            <a:avLst>
              <a:gd name="adj" fmla="val 360185"/>
            </a:avLst>
          </a:prstGeom>
          <a:solidFill>
            <a:srgbClr val="C269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60953" y="2841427"/>
            <a:ext cx="77705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b="1" dirty="0">
                <a:solidFill>
                  <a:srgbClr val="FBF7E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466" dirty="0"/>
          </a:p>
        </p:txBody>
      </p:sp>
      <p:sp>
        <p:nvSpPr>
          <p:cNvPr id="9" name="Text 7"/>
          <p:cNvSpPr/>
          <p:nvPr/>
        </p:nvSpPr>
        <p:spPr>
          <a:xfrm>
            <a:off x="1129819" y="3225602"/>
            <a:ext cx="222753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night page fires</a:t>
            </a:r>
            <a:endParaRPr lang="en-US" sz="2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08018" y="3306167"/>
            <a:ext cx="406298" cy="27086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14316" y="2620566"/>
            <a:ext cx="3160121" cy="1142603"/>
          </a:xfrm>
          <a:prstGeom prst="roundRect">
            <a:avLst>
              <a:gd name="adj" fmla="val 13336"/>
            </a:avLst>
          </a:prstGeom>
          <a:noFill/>
          <a:ln w="12698">
            <a:solidFill>
              <a:srgbClr val="3D35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696238" y="2802533"/>
            <a:ext cx="338450" cy="338534"/>
          </a:xfrm>
          <a:prstGeom prst="roundRect">
            <a:avLst>
              <a:gd name="adj" fmla="val 360185"/>
            </a:avLst>
          </a:prstGeom>
          <a:solidFill>
            <a:srgbClr val="C269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08327" y="2841427"/>
            <a:ext cx="116557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b="1" dirty="0">
                <a:solidFill>
                  <a:srgbClr val="FBF7E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466" dirty="0"/>
          </a:p>
        </p:txBody>
      </p:sp>
      <p:sp>
        <p:nvSpPr>
          <p:cNvPr id="14" name="Text 11"/>
          <p:cNvSpPr/>
          <p:nvPr/>
        </p:nvSpPr>
        <p:spPr>
          <a:xfrm>
            <a:off x="4696238" y="3225602"/>
            <a:ext cx="207212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ceiling is hit</a:t>
            </a:r>
            <a:endParaRPr lang="en-US" sz="2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4437" y="3306167"/>
            <a:ext cx="406298" cy="27086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080736" y="2620566"/>
            <a:ext cx="3160121" cy="1142603"/>
          </a:xfrm>
          <a:prstGeom prst="roundRect">
            <a:avLst>
              <a:gd name="adj" fmla="val 13336"/>
            </a:avLst>
          </a:prstGeom>
          <a:noFill/>
          <a:ln w="12698">
            <a:solidFill>
              <a:srgbClr val="3D35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8262657" y="2802533"/>
            <a:ext cx="338450" cy="338534"/>
          </a:xfrm>
          <a:prstGeom prst="roundRect">
            <a:avLst>
              <a:gd name="adj" fmla="val 360185"/>
            </a:avLst>
          </a:prstGeom>
          <a:solidFill>
            <a:srgbClr val="C269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8374746" y="2841427"/>
            <a:ext cx="116557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b="1" dirty="0">
                <a:solidFill>
                  <a:srgbClr val="FBF7E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466" dirty="0"/>
          </a:p>
        </p:txBody>
      </p:sp>
      <p:sp>
        <p:nvSpPr>
          <p:cNvPr id="19" name="Text 15"/>
          <p:cNvSpPr/>
          <p:nvPr/>
        </p:nvSpPr>
        <p:spPr>
          <a:xfrm>
            <a:off x="8262657" y="3225602"/>
            <a:ext cx="269375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An owner, and a date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947897" y="4519414"/>
            <a:ext cx="10293157" cy="0"/>
          </a:xfrm>
          <a:prstGeom prst="line">
            <a:avLst/>
          </a:prstGeom>
          <a:noFill/>
          <a:ln w="12698">
            <a:solidFill>
              <a:srgbClr val="D6CCB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47897" y="4034036"/>
            <a:ext cx="10499020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breach becomes an engineering ticket, not a personal apology.</a:t>
            </a:r>
            <a:endParaRPr lang="en-US" sz="1866" dirty="0"/>
          </a:p>
        </p:txBody>
      </p:sp>
      <p:sp>
        <p:nvSpPr>
          <p:cNvPr id="22" name="Shape 18"/>
          <p:cNvSpPr/>
          <p:nvPr/>
        </p:nvSpPr>
        <p:spPr>
          <a:xfrm>
            <a:off x="947897" y="5146477"/>
            <a:ext cx="10293157" cy="0"/>
          </a:xfrm>
          <a:prstGeom prst="line">
            <a:avLst/>
          </a:prstGeom>
          <a:noFill/>
          <a:ln w="12698">
            <a:solidFill>
              <a:srgbClr val="D6CCB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47897" y="4661098"/>
            <a:ext cx="10499020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An alert that cannot live under the ceiling is deleted or moved to daytime.</a:t>
            </a:r>
            <a:endParaRPr lang="en-US" sz="1866" dirty="0"/>
          </a:p>
        </p:txBody>
      </p:sp>
      <p:sp>
        <p:nvSpPr>
          <p:cNvPr id="24" name="Shape 20"/>
          <p:cNvSpPr/>
          <p:nvPr/>
        </p:nvSpPr>
        <p:spPr>
          <a:xfrm>
            <a:off x="947897" y="5773539"/>
            <a:ext cx="10293157" cy="0"/>
          </a:xfrm>
          <a:prstGeom prst="line">
            <a:avLst/>
          </a:prstGeom>
          <a:noFill/>
          <a:ln w="12698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47897" y="5288161"/>
            <a:ext cx="10499020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system that only survives because someone is awake finally gets its fix.</a:t>
            </a:r>
            <a:endParaRPr lang="en-US" sz="1866" dirty="0"/>
          </a:p>
        </p:txBody>
      </p:sp>
      <p:sp>
        <p:nvSpPr>
          <p:cNvPr id="26" name="Text 22"/>
          <p:cNvSpPr/>
          <p:nvPr/>
        </p:nvSpPr>
        <p:spPr>
          <a:xfrm>
            <a:off x="947897" y="5784652"/>
            <a:ext cx="10293157" cy="16867"/>
          </a:xfrm>
          <a:prstGeom prst="rect">
            <a:avLst/>
          </a:prstGeom>
          <a:solidFill>
            <a:srgbClr val="D6CC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947897" y="5919986"/>
            <a:ext cx="10499020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spcBef>
                <a:spcPts val="933"/>
              </a:spcBef>
              <a:buNone/>
            </a:pPr>
            <a:r>
              <a:rPr lang="en-US" sz="1466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 sourced figures: shift hours, page rates and roster sizes are unsourced.</a:t>
            </a:r>
            <a:endParaRPr lang="en-US" sz="146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B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7897" y="677267"/>
            <a:ext cx="1276055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2693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DECISIONS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428855" y="677267"/>
            <a:ext cx="828444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A817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05 /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47897" y="1198563"/>
            <a:ext cx="104990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99"/>
              </a:lnSpc>
              <a:spcAft>
                <a:spcPts val="1600"/>
              </a:spcAft>
              <a:buNone/>
            </a:pPr>
            <a:r>
              <a:rPr lang="en-US" sz="3999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we need to decide</a:t>
            </a:r>
            <a:endParaRPr lang="en-US" sz="3999" dirty="0"/>
          </a:p>
        </p:txBody>
      </p:sp>
      <p:sp>
        <p:nvSpPr>
          <p:cNvPr id="5" name="Text 3"/>
          <p:cNvSpPr/>
          <p:nvPr/>
        </p:nvSpPr>
        <p:spPr>
          <a:xfrm>
            <a:off x="947897" y="2011363"/>
            <a:ext cx="4977354" cy="2571353"/>
          </a:xfrm>
          <a:prstGeom prst="roundRect">
            <a:avLst>
              <a:gd name="adj" fmla="val 5926"/>
            </a:avLst>
          </a:prstGeom>
          <a:noFill/>
          <a:ln w="12698">
            <a:solidFill>
              <a:srgbClr val="3D35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63743" y="2227263"/>
            <a:ext cx="4636575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067"/>
              </a:spcAft>
              <a:buNone/>
            </a:pPr>
            <a:r>
              <a:rPr lang="en-US" sz="1600" b="1" dirty="0">
                <a:solidFill>
                  <a:srgbClr val="C2693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DECISION ONE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63743" y="2646958"/>
            <a:ext cx="463657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1333"/>
              </a:spcAft>
              <a:buNone/>
            </a:pPr>
            <a:r>
              <a:rPr lang="en-US" sz="2400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is the minimum roster?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63743" y="3227586"/>
            <a:ext cx="4636575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size below which shift length, handover, pay and the night ceiling cannot all hold at once.</a:t>
            </a:r>
            <a:endParaRPr lang="en-US" sz="1866" dirty="0"/>
          </a:p>
        </p:txBody>
      </p:sp>
      <p:sp>
        <p:nvSpPr>
          <p:cNvPr id="9" name="Text 7"/>
          <p:cNvSpPr/>
          <p:nvPr/>
        </p:nvSpPr>
        <p:spPr>
          <a:xfrm>
            <a:off x="6263701" y="2011363"/>
            <a:ext cx="4977354" cy="2571353"/>
          </a:xfrm>
          <a:prstGeom prst="roundRect">
            <a:avLst>
              <a:gd name="adj" fmla="val 5926"/>
            </a:avLst>
          </a:prstGeom>
          <a:noFill/>
          <a:ln w="12698">
            <a:solidFill>
              <a:srgbClr val="3D35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79547" y="2227263"/>
            <a:ext cx="4636575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067"/>
              </a:spcAft>
              <a:buNone/>
            </a:pPr>
            <a:r>
              <a:rPr lang="en-US" sz="1600" b="1" dirty="0">
                <a:solidFill>
                  <a:srgbClr val="C2693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DECISION TWO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9547" y="2646958"/>
            <a:ext cx="463657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1333"/>
              </a:spcAft>
              <a:buNone/>
            </a:pPr>
            <a:r>
              <a:rPr lang="en-US" sz="2400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do we give up below it?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79547" y="3227586"/>
            <a:ext cx="4636575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Name the lever we suspend, for how long, and what pulls it back — before the rota picks for us.</a:t>
            </a:r>
            <a:endParaRPr lang="en-US" sz="1866" dirty="0"/>
          </a:p>
        </p:txBody>
      </p:sp>
      <p:sp>
        <p:nvSpPr>
          <p:cNvPr id="13" name="Text 11"/>
          <p:cNvSpPr/>
          <p:nvPr/>
        </p:nvSpPr>
        <p:spPr>
          <a:xfrm>
            <a:off x="947897" y="4853583"/>
            <a:ext cx="10293157" cy="16867"/>
          </a:xfrm>
          <a:prstGeom prst="rect">
            <a:avLst/>
          </a:prstGeom>
          <a:solidFill>
            <a:srgbClr val="C269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47897" y="5073650"/>
            <a:ext cx="10499020" cy="474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33"/>
              </a:lnSpc>
              <a:spcBef>
                <a:spcPts val="1600"/>
              </a:spcBef>
              <a:buNone/>
            </a:pPr>
            <a:r>
              <a:rPr lang="en-US" sz="2666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Below the floor, something is given up — chosen or not.</a:t>
            </a:r>
            <a:endParaRPr lang="en-US" sz="2666" dirty="0"/>
          </a:p>
        </p:txBody>
      </p:sp>
      <p:sp>
        <p:nvSpPr>
          <p:cNvPr id="15" name="Text 13"/>
          <p:cNvSpPr/>
          <p:nvPr/>
        </p:nvSpPr>
        <p:spPr>
          <a:xfrm>
            <a:off x="947897" y="5784652"/>
            <a:ext cx="10293157" cy="16867"/>
          </a:xfrm>
          <a:prstGeom prst="rect">
            <a:avLst/>
          </a:prstGeom>
          <a:solidFill>
            <a:srgbClr val="D6CC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47897" y="5919986"/>
            <a:ext cx="10499020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spcBef>
                <a:spcPts val="933"/>
              </a:spcBef>
              <a:buNone/>
            </a:pPr>
            <a:r>
              <a:rPr lang="en-US" sz="1466" dirty="0">
                <a:solidFill>
                  <a:srgbClr val="3D35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 sourced figures: shift hours, page rates and roster sizes are unsourced.</a:t>
            </a:r>
            <a:endParaRPr lang="en-US" sz="146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2026-08-27T14:37:03Z</dcterms:created>
  <dcterms:modified xsi:type="dcterms:W3CDTF">2026-08-27T14:37:03Z</dcterms:modified>
</cp:coreProperties>
</file>