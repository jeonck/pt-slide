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2.svg" ContentType="image/svg+xml"/>
  <Override PartName="/ppt/media/image-4-2.svg" ContentType="image/svg+xml"/>
  <Override PartName="/ppt/media/image-4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20452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ON-CALL DESIGN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54248" y="677267"/>
            <a:ext cx="802543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01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368425"/>
            <a:ext cx="6768796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999"/>
              </a:lnSpc>
              <a:buNone/>
            </a:pPr>
            <a:r>
              <a:rPr lang="en-US" sz="55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On-call rotations</a:t>
            </a:r>
            <a:endParaRPr lang="en-US" sz="5599" dirty="0"/>
          </a:p>
          <a:p>
            <a:pPr algn="l" indent="0" marL="0">
              <a:lnSpc>
                <a:spcPts val="6999"/>
              </a:lnSpc>
              <a:buNone/>
            </a:pPr>
            <a:r>
              <a:rPr lang="en-US" sz="55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people can survive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947897" y="3484959"/>
            <a:ext cx="6636075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7897" y="3806627"/>
            <a:ext cx="67687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Rotation design is a staffing problem,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not a goodwill problem.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7897" y="5093494"/>
            <a:ext cx="676879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2933"/>
              </a:spcBef>
              <a:buNone/>
            </a:pPr>
            <a:r>
              <a:rPr lang="en-US" sz="1600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PRESENTER · TEAM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29117" y="1871266"/>
            <a:ext cx="2573091" cy="25737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04766" y="4614267"/>
            <a:ext cx="242179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53"/>
              </a:lnSpc>
              <a:spcBef>
                <a:spcPts val="13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shift. Two handovers.</a:t>
            </a:r>
            <a:endParaRPr lang="en-US" sz="1466" dirty="0"/>
          </a:p>
        </p:txBody>
      </p:sp>
      <p:sp>
        <p:nvSpPr>
          <p:cNvPr id="10" name="Text 7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4480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LEVERS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333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rota is a staffing decision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1977430"/>
            <a:ext cx="4977354" cy="1218009"/>
          </a:xfrm>
          <a:prstGeom prst="roundRect">
            <a:avLst>
              <a:gd name="adj" fmla="val 12511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31394" y="2159397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73043" y="2203450"/>
            <a:ext cx="9065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9068" y="2162770"/>
            <a:ext cx="159294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Shift length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1231394" y="2633464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How long one person is reachable.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263701" y="1977430"/>
            <a:ext cx="4977354" cy="1218009"/>
          </a:xfrm>
          <a:prstGeom prst="roundRect">
            <a:avLst>
              <a:gd name="adj" fmla="val 12511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47197" y="2159397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76149" y="2203450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54872" y="2162770"/>
            <a:ext cx="1282125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Handover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6547197" y="2633464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moves at the change of shift.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947897" y="3466306"/>
            <a:ext cx="4977354" cy="1218208"/>
          </a:xfrm>
          <a:prstGeom prst="roundRect">
            <a:avLst>
              <a:gd name="adj" fmla="val 12509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1394" y="3648273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60346" y="3692327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9068" y="3651647"/>
            <a:ext cx="194261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Compensation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1231394" y="4122341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the hours cost to schedule.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263701" y="3466306"/>
            <a:ext cx="4977354" cy="1218208"/>
          </a:xfrm>
          <a:prstGeom prst="roundRect">
            <a:avLst>
              <a:gd name="adj" fmla="val 12509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47197" y="3648273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669801" y="3692327"/>
            <a:ext cx="12950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54872" y="3651647"/>
            <a:ext cx="3211789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ceiling on night pages</a:t>
            </a:r>
            <a:endParaRPr lang="en-US" sz="2133" dirty="0"/>
          </a:p>
        </p:txBody>
      </p:sp>
      <p:sp>
        <p:nvSpPr>
          <p:cNvPr id="24" name="Text 22"/>
          <p:cNvSpPr/>
          <p:nvPr/>
        </p:nvSpPr>
        <p:spPr>
          <a:xfrm>
            <a:off x="6547197" y="4122341"/>
            <a:ext cx="44985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limit the rota may not exceed.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947897" y="4955381"/>
            <a:ext cx="10293157" cy="16867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47897" y="5141516"/>
            <a:ext cx="10499020" cy="406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spcBef>
                <a:spcPts val="1333"/>
              </a:spcBef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Encouragement moves none of them. Only the roster does.</a:t>
            </a:r>
            <a:endParaRPr lang="en-US" sz="2133" dirty="0"/>
          </a:p>
        </p:txBody>
      </p:sp>
      <p:sp>
        <p:nvSpPr>
          <p:cNvPr id="27" name="Text 25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31126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HANDOVER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600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a handover has to carry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2011363"/>
            <a:ext cx="518030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333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PAYLOAD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47897" y="2916634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47897" y="2464991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Open incidents and the live hypothesis</a:t>
            </a:r>
            <a:endParaRPr lang="en-US" sz="1866" dirty="0"/>
          </a:p>
        </p:txBody>
      </p:sp>
      <p:sp>
        <p:nvSpPr>
          <p:cNvPr id="8" name="Shape 6"/>
          <p:cNvSpPr/>
          <p:nvPr/>
        </p:nvSpPr>
        <p:spPr>
          <a:xfrm>
            <a:off x="947897" y="3476228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47897" y="3024584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was tried and already ruled out</a:t>
            </a:r>
            <a:endParaRPr lang="en-US" sz="1866" dirty="0"/>
          </a:p>
        </p:txBody>
      </p:sp>
      <p:sp>
        <p:nvSpPr>
          <p:cNvPr id="10" name="Shape 8"/>
          <p:cNvSpPr/>
          <p:nvPr/>
        </p:nvSpPr>
        <p:spPr>
          <a:xfrm>
            <a:off x="947897" y="4035822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47897" y="3584178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silenced, and when it returns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47897" y="4595416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47897" y="4143772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degraded but not yet paging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947897" y="5155009"/>
            <a:ext cx="5078730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7897" y="4703366"/>
            <a:ext cx="518030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Who has been woken, and how often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432926" y="2011363"/>
            <a:ext cx="16863" cy="3536355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56087" y="2011363"/>
            <a:ext cx="447266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333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WHY IT CANNOT WAIT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6087" y="2464991"/>
            <a:ext cx="4472667" cy="792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spcAft>
                <a:spcPts val="1600"/>
              </a:spcAft>
              <a:buNone/>
            </a:pPr>
            <a:r>
              <a:rPr lang="en-US" sz="2400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person leaving the shift</a:t>
            </a:r>
            <a:endParaRPr lang="en-US" sz="2400" dirty="0"/>
          </a:p>
          <a:p>
            <a:pPr algn="l" indent="0" marL="0">
              <a:lnSpc>
                <a:spcPts val="3120"/>
              </a:lnSpc>
              <a:spcAft>
                <a:spcPts val="1600"/>
              </a:spcAft>
              <a:buNone/>
            </a:pPr>
            <a:r>
              <a:rPr lang="en-US" sz="2400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is the one who knows.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856087" y="3460353"/>
            <a:ext cx="447266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events are in the dashboard. The reasoning is in the head of the person going to bed.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856087" y="4660702"/>
            <a:ext cx="447266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So the handover is work inside the shift, not a note sent after it.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304565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NIGHT-PAGE CEILING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16158" y="677267"/>
            <a:ext cx="84139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333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a page ceiling forces upstream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1977430"/>
            <a:ext cx="10499020" cy="406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1866"/>
              </a:spcAft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ceiling does not reduce pages. It converts them into scheduled work.</a:t>
            </a:r>
            <a:endParaRPr lang="en-US" sz="2133" dirty="0"/>
          </a:p>
        </p:txBody>
      </p:sp>
      <p:sp>
        <p:nvSpPr>
          <p:cNvPr id="6" name="Text 4"/>
          <p:cNvSpPr/>
          <p:nvPr/>
        </p:nvSpPr>
        <p:spPr>
          <a:xfrm>
            <a:off x="947897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29819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0953" y="2841427"/>
            <a:ext cx="7770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1129819" y="3225602"/>
            <a:ext cx="2227531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night page fires</a:t>
            </a:r>
            <a:endParaRPr lang="en-US" sz="2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8018" y="3306167"/>
            <a:ext cx="406298" cy="2708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14316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696238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808327" y="2841427"/>
            <a:ext cx="11655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466" dirty="0"/>
          </a:p>
        </p:txBody>
      </p:sp>
      <p:sp>
        <p:nvSpPr>
          <p:cNvPr id="14" name="Text 11"/>
          <p:cNvSpPr/>
          <p:nvPr/>
        </p:nvSpPr>
        <p:spPr>
          <a:xfrm>
            <a:off x="4696238" y="3225602"/>
            <a:ext cx="2072122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ceiling is hit</a:t>
            </a:r>
            <a:endParaRPr lang="en-US" sz="2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4437" y="3306167"/>
            <a:ext cx="406298" cy="2708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80736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8262657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8374746" y="2841427"/>
            <a:ext cx="11655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466" dirty="0"/>
          </a:p>
        </p:txBody>
      </p:sp>
      <p:sp>
        <p:nvSpPr>
          <p:cNvPr id="19" name="Text 15"/>
          <p:cNvSpPr/>
          <p:nvPr/>
        </p:nvSpPr>
        <p:spPr>
          <a:xfrm>
            <a:off x="8262657" y="3225602"/>
            <a:ext cx="2693758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 owner, and a date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947897" y="4519414"/>
            <a:ext cx="10293157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947897" y="4034036"/>
            <a:ext cx="1049902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breach becomes an engineering ticket, not a personal apology.</a:t>
            </a:r>
            <a:endParaRPr lang="en-US" sz="1866" dirty="0"/>
          </a:p>
        </p:txBody>
      </p:sp>
      <p:sp>
        <p:nvSpPr>
          <p:cNvPr id="22" name="Shape 18"/>
          <p:cNvSpPr/>
          <p:nvPr/>
        </p:nvSpPr>
        <p:spPr>
          <a:xfrm>
            <a:off x="947897" y="5146477"/>
            <a:ext cx="10293157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947897" y="4661098"/>
            <a:ext cx="1049902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 alert that cannot live under the ceiling is deleted or moved to daytime.</a:t>
            </a:r>
            <a:endParaRPr lang="en-US" sz="1866" dirty="0"/>
          </a:p>
        </p:txBody>
      </p:sp>
      <p:sp>
        <p:nvSpPr>
          <p:cNvPr id="24" name="Shape 20"/>
          <p:cNvSpPr/>
          <p:nvPr/>
        </p:nvSpPr>
        <p:spPr>
          <a:xfrm>
            <a:off x="947897" y="5773539"/>
            <a:ext cx="10293157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947897" y="5288161"/>
            <a:ext cx="1049902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system that only survives because someone is awake finally gets its fix.</a:t>
            </a:r>
            <a:endParaRPr lang="en-US" sz="1866" dirty="0"/>
          </a:p>
        </p:txBody>
      </p:sp>
      <p:sp>
        <p:nvSpPr>
          <p:cNvPr id="26" name="Text 22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27605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600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we need to decide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2011363"/>
            <a:ext cx="4977354" cy="2571353"/>
          </a:xfrm>
          <a:prstGeom prst="roundRect">
            <a:avLst>
              <a:gd name="adj" fmla="val 592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63743" y="2227263"/>
            <a:ext cx="463657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067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 ONE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63743" y="2646958"/>
            <a:ext cx="4636575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1333"/>
              </a:spcAft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the minimum roster?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63743" y="3227586"/>
            <a:ext cx="463657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size below which shift length, handover, pay and the night ceiling cannot all hold at once.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63701" y="2011363"/>
            <a:ext cx="4977354" cy="2571353"/>
          </a:xfrm>
          <a:prstGeom prst="roundRect">
            <a:avLst>
              <a:gd name="adj" fmla="val 592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9547" y="2227263"/>
            <a:ext cx="4636575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067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 TWO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79547" y="2646958"/>
            <a:ext cx="4636575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1333"/>
              </a:spcAft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do we give up below it?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79547" y="3227586"/>
            <a:ext cx="463657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Name the lever we suspend, for how long, and what pulls it back — before the rota picks for us.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947897" y="4853583"/>
            <a:ext cx="10293157" cy="16867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47897" y="5073650"/>
            <a:ext cx="10499020" cy="474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33"/>
              </a:lnSpc>
              <a:spcBef>
                <a:spcPts val="1600"/>
              </a:spcBef>
              <a:buNone/>
            </a:pPr>
            <a:r>
              <a:rPr lang="en-US" sz="26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Below the floor, something is given up — chosen or not.</a:t>
            </a:r>
            <a:endParaRPr lang="en-US" sz="2666" dirty="0"/>
          </a:p>
        </p:txBody>
      </p:sp>
      <p:sp>
        <p:nvSpPr>
          <p:cNvPr id="15" name="Text 13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2026-08-27T16:57:11Z</dcterms:created>
  <dcterms:modified xsi:type="dcterms:W3CDTF">2026-08-27T16:57:11Z</dcterms:modified>
</cp:coreProperties>
</file>