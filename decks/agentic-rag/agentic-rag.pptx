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669528"/>
            <a:ext cx="9186542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24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RETRIEVAL ARCHITECTURE / 2026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523" y="1289248"/>
            <a:ext cx="9186542" cy="1937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26"/>
              </a:lnSpc>
              <a:buNone/>
            </a:pPr>
            <a:r>
              <a:rPr lang="en-US" sz="5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RAG to</a:t>
            </a:r>
            <a:endParaRPr lang="en-US" sz="5866" dirty="0"/>
          </a:p>
          <a:p>
            <a:pPr algn="l" indent="0" marL="0">
              <a:lnSpc>
                <a:spcPts val="7626"/>
              </a:lnSpc>
              <a:buNone/>
            </a:pPr>
            <a:r>
              <a:rPr lang="en-US" sz="5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RAG</a:t>
            </a:r>
            <a:endParaRPr lang="en-US" sz="5866" dirty="0"/>
          </a:p>
        </p:txBody>
      </p:sp>
      <p:sp>
        <p:nvSpPr>
          <p:cNvPr id="4" name="Text 2"/>
          <p:cNvSpPr/>
          <p:nvPr/>
        </p:nvSpPr>
        <p:spPr>
          <a:xfrm>
            <a:off x="575523" y="3564930"/>
            <a:ext cx="2539365" cy="12700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5523" y="3848497"/>
            <a:ext cx="742503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retrieval stops being one step and becomes a loop the model controls.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75523" y="4803775"/>
            <a:ext cx="11037905" cy="0"/>
          </a:xfrm>
          <a:prstGeom prst="line">
            <a:avLst/>
          </a:prstGeom>
          <a:noFill/>
          <a:ln w="12698">
            <a:solidFill>
              <a:srgbClr val="2A4A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5523" y="5047059"/>
            <a:ext cx="2072122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533"/>
              </a:spcAft>
              <a:buNone/>
            </a:pPr>
            <a:r>
              <a:rPr lang="en-US" sz="16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PRESENTED BY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75523" y="5429647"/>
            <a:ext cx="2072122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PRESENTER · TEAM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51763" y="5047059"/>
            <a:ext cx="906553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533"/>
              </a:spcAft>
              <a:buNone/>
            </a:pPr>
            <a:r>
              <a:rPr lang="en-US" sz="16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51763" y="5429647"/>
            <a:ext cx="906553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2026.08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85289" y="5047059"/>
            <a:ext cx="10360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533"/>
              </a:spcAft>
              <a:buNone/>
            </a:pPr>
            <a:r>
              <a:rPr lang="en-US" sz="16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85289" y="5429647"/>
            <a:ext cx="10360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INTERNAL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1580" y="5981502"/>
            <a:ext cx="5211848" cy="46513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600365" y="6078736"/>
            <a:ext cx="207212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01</a:t>
            </a:r>
            <a:endParaRPr lang="en-US" sz="1333" dirty="0"/>
          </a:p>
        </p:txBody>
      </p:sp>
      <p:sp>
        <p:nvSpPr>
          <p:cNvPr id="15" name="Shape 13"/>
          <p:cNvSpPr/>
          <p:nvPr/>
        </p:nvSpPr>
        <p:spPr>
          <a:xfrm>
            <a:off x="6995951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88387" y="6078736"/>
            <a:ext cx="2778545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RAG TO AGENTIC RAG</a:t>
            </a:r>
            <a:endParaRPr lang="en-US" sz="1333" dirty="0"/>
          </a:p>
        </p:txBody>
      </p:sp>
      <p:sp>
        <p:nvSpPr>
          <p:cNvPr id="17" name="Shape 15"/>
          <p:cNvSpPr/>
          <p:nvPr/>
        </p:nvSpPr>
        <p:spPr>
          <a:xfrm>
            <a:off x="10104887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97323" y="6078736"/>
            <a:ext cx="1139667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SHEET 01/06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508000"/>
            <a:ext cx="11258664" cy="484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13"/>
              </a:lnSpc>
              <a:spcAft>
                <a:spcPts val="1600"/>
              </a:spcAft>
              <a:buNone/>
            </a:pPr>
            <a:r>
              <a:rPr lang="en-US" sz="29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classic RAG does, and where it stops</a:t>
            </a:r>
            <a:endParaRPr lang="en-US" sz="2933" dirty="0"/>
          </a:p>
        </p:txBody>
      </p:sp>
      <p:sp>
        <p:nvSpPr>
          <p:cNvPr id="3" name="Text 1"/>
          <p:cNvSpPr/>
          <p:nvPr/>
        </p:nvSpPr>
        <p:spPr>
          <a:xfrm>
            <a:off x="575523" y="1195387"/>
            <a:ext cx="1042132" cy="563959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91369" y="1326555"/>
            <a:ext cx="62264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6"/>
              </a:lnSpc>
              <a:buNone/>
            </a:pPr>
            <a:r>
              <a:rPr lang="en-US" sz="1533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QUERY</a:t>
            </a:r>
            <a:endParaRPr lang="en-US" sz="1533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52955" y="1375767"/>
            <a:ext cx="338450" cy="20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26706" y="1195387"/>
            <a:ext cx="1042132" cy="563959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442552" y="1326555"/>
            <a:ext cx="62264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6"/>
              </a:lnSpc>
              <a:buNone/>
            </a:pPr>
            <a:r>
              <a:rPr lang="en-US" sz="1533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EMBED</a:t>
            </a:r>
            <a:endParaRPr lang="en-US" sz="1533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04138" y="1375767"/>
            <a:ext cx="33845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877888" y="1195387"/>
            <a:ext cx="1042132" cy="563959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4093734" y="1326555"/>
            <a:ext cx="62264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6"/>
              </a:lnSpc>
              <a:buNone/>
            </a:pPr>
            <a:r>
              <a:rPr lang="en-US" sz="1533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TOP-K</a:t>
            </a:r>
            <a:endParaRPr lang="en-US" sz="1533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5320" y="1375767"/>
            <a:ext cx="33845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29071" y="1195387"/>
            <a:ext cx="1286149" cy="563959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8"/>
          <p:cNvSpPr/>
          <p:nvPr/>
        </p:nvSpPr>
        <p:spPr>
          <a:xfrm>
            <a:off x="5744917" y="1326555"/>
            <a:ext cx="87154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6"/>
              </a:lnSpc>
              <a:buNone/>
            </a:pPr>
            <a:r>
              <a:rPr lang="en-US" sz="1533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CONTEXT</a:t>
            </a:r>
            <a:endParaRPr lang="en-US" sz="1533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0520" y="1375767"/>
            <a:ext cx="338450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424270" y="1195387"/>
            <a:ext cx="1408356" cy="563959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0"/>
          <p:cNvSpPr/>
          <p:nvPr/>
        </p:nvSpPr>
        <p:spPr>
          <a:xfrm>
            <a:off x="7640116" y="1326555"/>
            <a:ext cx="996197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6"/>
              </a:lnSpc>
              <a:buNone/>
            </a:pPr>
            <a:r>
              <a:rPr lang="en-US" sz="1533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GENERATE</a:t>
            </a:r>
            <a:endParaRPr lang="en-US" sz="1533" dirty="0"/>
          </a:p>
        </p:txBody>
      </p:sp>
      <p:sp>
        <p:nvSpPr>
          <p:cNvPr id="17" name="Text 11"/>
          <p:cNvSpPr/>
          <p:nvPr/>
        </p:nvSpPr>
        <p:spPr>
          <a:xfrm>
            <a:off x="575523" y="1894681"/>
            <a:ext cx="11258664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spcBef>
                <a:spcPts val="1067"/>
              </a:spcBef>
              <a:buNone/>
            </a:pPr>
            <a:r>
              <a:rPr lang="en-US" sz="16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PASS · NO FEEDBACK — THE PIPELINE CANNOT LOOK AGAIN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575523" y="2385219"/>
            <a:ext cx="328403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F-01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75523" y="2852539"/>
            <a:ext cx="32840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is not the query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575523" y="3673673"/>
            <a:ext cx="328403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user asks in their words; the corpus is written in someone else’s.</a:t>
            </a:r>
            <a:endParaRPr lang="en-US" sz="1866" dirty="0"/>
          </a:p>
        </p:txBody>
      </p:sp>
      <p:sp>
        <p:nvSpPr>
          <p:cNvPr id="21" name="Shape 15"/>
          <p:cNvSpPr/>
          <p:nvPr/>
        </p:nvSpPr>
        <p:spPr>
          <a:xfrm>
            <a:off x="4139959" y="2378869"/>
            <a:ext cx="0" cy="2367955"/>
          </a:xfrm>
          <a:prstGeom prst="line">
            <a:avLst/>
          </a:prstGeom>
          <a:noFill/>
          <a:ln w="12698">
            <a:solidFill>
              <a:srgbClr val="2A4A8C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484757" y="2378869"/>
            <a:ext cx="328403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F-02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4484757" y="2846189"/>
            <a:ext cx="32840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hop is not enough</a:t>
            </a:r>
            <a:endParaRPr lang="en-US" sz="2000" dirty="0"/>
          </a:p>
        </p:txBody>
      </p:sp>
      <p:sp>
        <p:nvSpPr>
          <p:cNvPr id="24" name="Text 18"/>
          <p:cNvSpPr/>
          <p:nvPr/>
        </p:nvSpPr>
        <p:spPr>
          <a:xfrm>
            <a:off x="4484757" y="3324423"/>
            <a:ext cx="328403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answer that requires joining two documents cannot be retrieved in one shot.</a:t>
            </a:r>
            <a:endParaRPr lang="en-US" sz="1866" dirty="0"/>
          </a:p>
        </p:txBody>
      </p:sp>
      <p:sp>
        <p:nvSpPr>
          <p:cNvPr id="25" name="Shape 19"/>
          <p:cNvSpPr/>
          <p:nvPr/>
        </p:nvSpPr>
        <p:spPr>
          <a:xfrm>
            <a:off x="8049192" y="2385219"/>
            <a:ext cx="0" cy="2355255"/>
          </a:xfrm>
          <a:prstGeom prst="line">
            <a:avLst/>
          </a:prstGeom>
          <a:noFill/>
          <a:ln w="12698">
            <a:solidFill>
              <a:srgbClr val="2A4A8C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8393990" y="2385219"/>
            <a:ext cx="328403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F-03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8393990" y="2852539"/>
            <a:ext cx="32840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can notice the miss</a:t>
            </a:r>
            <a:endParaRPr lang="en-US" sz="2000" dirty="0"/>
          </a:p>
        </p:txBody>
      </p:sp>
      <p:sp>
        <p:nvSpPr>
          <p:cNvPr id="28" name="Text 22"/>
          <p:cNvSpPr/>
          <p:nvPr/>
        </p:nvSpPr>
        <p:spPr>
          <a:xfrm>
            <a:off x="8393990" y="3673673"/>
            <a:ext cx="328403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Retrieval always returns its top k. Nothing can say the evidence is not enough.</a:t>
            </a:r>
            <a:endParaRPr lang="en-US" sz="1866" dirty="0"/>
          </a:p>
        </p:txBody>
      </p:sp>
      <p:sp>
        <p:nvSpPr>
          <p:cNvPr id="29" name="Text 23"/>
          <p:cNvSpPr/>
          <p:nvPr/>
        </p:nvSpPr>
        <p:spPr>
          <a:xfrm>
            <a:off x="575523" y="4882158"/>
            <a:ext cx="11037905" cy="1098947"/>
          </a:xfrm>
          <a:prstGeom prst="rect">
            <a:avLst/>
          </a:prstGeom>
          <a:solidFill>
            <a:srgbClr val="4FC8E8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4"/>
          <p:cNvSpPr/>
          <p:nvPr/>
        </p:nvSpPr>
        <p:spPr>
          <a:xfrm>
            <a:off x="575523" y="4888508"/>
            <a:ext cx="11037905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607080" y="4882158"/>
            <a:ext cx="0" cy="109894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575523" y="5974755"/>
            <a:ext cx="11037905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00917" y="4882158"/>
            <a:ext cx="0" cy="1098947"/>
          </a:xfrm>
          <a:prstGeom prst="line">
            <a:avLst/>
          </a:prstGeom>
          <a:noFill/>
          <a:ln w="50794">
            <a:solidFill>
              <a:srgbClr val="4FC8E8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880247" y="5064125"/>
            <a:ext cx="10675879" cy="735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Classic RAG assumes the first retrieval was the right one. No part of the pipeline is able to disagree.</a:t>
            </a:r>
            <a:endParaRPr lang="en-US" sz="1866" dirty="0"/>
          </a:p>
        </p:txBody>
      </p:sp>
      <p:sp>
        <p:nvSpPr>
          <p:cNvPr id="35" name="Text 29"/>
          <p:cNvSpPr/>
          <p:nvPr/>
        </p:nvSpPr>
        <p:spPr>
          <a:xfrm>
            <a:off x="6363490" y="5981502"/>
            <a:ext cx="5249939" cy="46513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0"/>
          <p:cNvSpPr/>
          <p:nvPr/>
        </p:nvSpPr>
        <p:spPr>
          <a:xfrm>
            <a:off x="6562275" y="6078736"/>
            <a:ext cx="207212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02</a:t>
            </a:r>
            <a:endParaRPr lang="en-US" sz="1333" dirty="0"/>
          </a:p>
        </p:txBody>
      </p:sp>
      <p:sp>
        <p:nvSpPr>
          <p:cNvPr id="37" name="Shape 31"/>
          <p:cNvSpPr/>
          <p:nvPr/>
        </p:nvSpPr>
        <p:spPr>
          <a:xfrm>
            <a:off x="6957860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7150296" y="6078736"/>
            <a:ext cx="2817398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CLASSIC RAG STOPS</a:t>
            </a:r>
            <a:endParaRPr lang="en-US" sz="1333" dirty="0"/>
          </a:p>
        </p:txBody>
      </p:sp>
      <p:sp>
        <p:nvSpPr>
          <p:cNvPr id="39" name="Shape 33"/>
          <p:cNvSpPr/>
          <p:nvPr/>
        </p:nvSpPr>
        <p:spPr>
          <a:xfrm>
            <a:off x="10104887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10297323" y="6078736"/>
            <a:ext cx="1139667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SHEET 02/06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508000"/>
            <a:ext cx="11258664" cy="484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13"/>
              </a:lnSpc>
              <a:spcAft>
                <a:spcPts val="2133"/>
              </a:spcAft>
              <a:buNone/>
            </a:pPr>
            <a:r>
              <a:rPr lang="en-US" sz="29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shift: retrieval becomes a loop</a:t>
            </a:r>
            <a:endParaRPr lang="en-US" sz="2933" dirty="0"/>
          </a:p>
        </p:txBody>
      </p:sp>
      <p:sp>
        <p:nvSpPr>
          <p:cNvPr id="3" name="Text 1"/>
          <p:cNvSpPr/>
          <p:nvPr/>
        </p:nvSpPr>
        <p:spPr>
          <a:xfrm>
            <a:off x="575523" y="1263055"/>
            <a:ext cx="2429458" cy="2810470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25095" y="1495822"/>
            <a:ext cx="19689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5095" y="1963142"/>
            <a:ext cx="1968920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1067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PLAN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825095" y="2465983"/>
            <a:ext cx="196892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what to look for, and in which source.</a:t>
            </a:r>
            <a:endParaRPr lang="en-US" sz="186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04981" y="2566591"/>
            <a:ext cx="440024" cy="20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445006" y="1263055"/>
            <a:ext cx="2429458" cy="2810470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3694578" y="1495822"/>
            <a:ext cx="19689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694578" y="1963142"/>
            <a:ext cx="1968920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1067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RETRIEVE</a:t>
            </a:r>
            <a:endParaRPr lang="en-US" sz="1866" dirty="0"/>
          </a:p>
        </p:txBody>
      </p:sp>
      <p:sp>
        <p:nvSpPr>
          <p:cNvPr id="11" name="Text 8"/>
          <p:cNvSpPr/>
          <p:nvPr/>
        </p:nvSpPr>
        <p:spPr>
          <a:xfrm>
            <a:off x="3694578" y="2465983"/>
            <a:ext cx="196892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Issue one or more queries — not necessarily the user’s words.</a:t>
            </a:r>
            <a:endParaRPr lang="en-US" sz="186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74464" y="2566591"/>
            <a:ext cx="440024" cy="203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14488" y="1263055"/>
            <a:ext cx="2429458" cy="2810470"/>
          </a:xfrm>
          <a:prstGeom prst="rect">
            <a:avLst/>
          </a:prstGeom>
          <a:solidFill>
            <a:srgbClr val="4FC8E8">
              <a:alpha val="12000"/>
            </a:srgbClr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6564060" y="1495822"/>
            <a:ext cx="19689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564060" y="1963142"/>
            <a:ext cx="1968920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1067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CRITIQUE</a:t>
            </a:r>
            <a:endParaRPr lang="en-US" sz="1866" dirty="0"/>
          </a:p>
        </p:txBody>
      </p:sp>
      <p:sp>
        <p:nvSpPr>
          <p:cNvPr id="16" name="Text 12"/>
          <p:cNvSpPr/>
          <p:nvPr/>
        </p:nvSpPr>
        <p:spPr>
          <a:xfrm>
            <a:off x="6564060" y="2465983"/>
            <a:ext cx="196892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 whether what came back can answer the question.</a:t>
            </a:r>
            <a:endParaRPr lang="en-US" sz="1866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43946" y="2566591"/>
            <a:ext cx="440024" cy="203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183971" y="1263055"/>
            <a:ext cx="2429458" cy="2810470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9433543" y="1495822"/>
            <a:ext cx="19689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9433543" y="1963142"/>
            <a:ext cx="1968920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1067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ANSWER</a:t>
            </a:r>
            <a:endParaRPr lang="en-US" sz="1866" dirty="0"/>
          </a:p>
        </p:txBody>
      </p:sp>
      <p:sp>
        <p:nvSpPr>
          <p:cNvPr id="21" name="Text 16"/>
          <p:cNvSpPr/>
          <p:nvPr/>
        </p:nvSpPr>
        <p:spPr>
          <a:xfrm>
            <a:off x="9433543" y="2465983"/>
            <a:ext cx="196892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Generate, using only the evidence that survived.</a:t>
            </a:r>
            <a:endParaRPr lang="en-US" sz="1866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5523" y="4073525"/>
            <a:ext cx="11037905" cy="44013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65144" y="4513659"/>
            <a:ext cx="11258664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RETURN EDGE IS THE WHOLE CHANGE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575523" y="4938712"/>
            <a:ext cx="11037905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1607080" y="4932363"/>
            <a:ext cx="0" cy="812205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75523" y="5738217"/>
            <a:ext cx="11037905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00917" y="4932363"/>
            <a:ext cx="0" cy="812205"/>
          </a:xfrm>
          <a:prstGeom prst="line">
            <a:avLst/>
          </a:prstGeom>
          <a:noFill/>
          <a:ln w="50794">
            <a:solidFill>
              <a:srgbClr val="4FC8E8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897110" y="5148263"/>
            <a:ext cx="10641479" cy="380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6"/>
              </a:lnSpc>
              <a:buNone/>
            </a:pPr>
            <a:r>
              <a:rPr lang="en-US" sz="19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stops being the last step in the pipeline and starts being the thing that drives it.</a:t>
            </a:r>
            <a:endParaRPr lang="en-US" sz="1933" dirty="0"/>
          </a:p>
        </p:txBody>
      </p:sp>
      <p:sp>
        <p:nvSpPr>
          <p:cNvPr id="29" name="Text 23"/>
          <p:cNvSpPr/>
          <p:nvPr/>
        </p:nvSpPr>
        <p:spPr>
          <a:xfrm>
            <a:off x="6989007" y="5981502"/>
            <a:ext cx="4624422" cy="46513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7187792" y="6078736"/>
            <a:ext cx="207212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03</a:t>
            </a:r>
            <a:endParaRPr lang="en-US" sz="1333" dirty="0"/>
          </a:p>
        </p:txBody>
      </p:sp>
      <p:sp>
        <p:nvSpPr>
          <p:cNvPr id="31" name="Shape 25"/>
          <p:cNvSpPr/>
          <p:nvPr/>
        </p:nvSpPr>
        <p:spPr>
          <a:xfrm>
            <a:off x="7583377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7775813" y="6078736"/>
            <a:ext cx="2179370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RETRIEVAL AS A LOOP</a:t>
            </a:r>
            <a:endParaRPr lang="en-US" sz="1333" dirty="0"/>
          </a:p>
        </p:txBody>
      </p:sp>
      <p:sp>
        <p:nvSpPr>
          <p:cNvPr id="33" name="Shape 27"/>
          <p:cNvSpPr/>
          <p:nvPr/>
        </p:nvSpPr>
        <p:spPr>
          <a:xfrm>
            <a:off x="10104887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10297323" y="6078736"/>
            <a:ext cx="1139667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SHEET 03/06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508000"/>
            <a:ext cx="11258664" cy="484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13"/>
              </a:lnSpc>
              <a:spcAft>
                <a:spcPts val="800"/>
              </a:spcAft>
              <a:buNone/>
            </a:pPr>
            <a:r>
              <a:rPr lang="en-US" sz="29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Patterns you can adopt one at a time</a:t>
            </a:r>
            <a:endParaRPr lang="en-US" sz="2933" dirty="0"/>
          </a:p>
        </p:txBody>
      </p:sp>
      <p:sp>
        <p:nvSpPr>
          <p:cNvPr id="3" name="Text 1"/>
          <p:cNvSpPr/>
          <p:nvPr/>
        </p:nvSpPr>
        <p:spPr>
          <a:xfrm>
            <a:off x="575523" y="1093787"/>
            <a:ext cx="11258664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866"/>
              </a:spcAft>
              <a:buNone/>
            </a:pPr>
            <a:r>
              <a:rPr lang="en-US" sz="16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 — ALL FOUR AT ONCE IS A REWRITE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75523" y="1645642"/>
            <a:ext cx="5408847" cy="1939330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42157" y="1899642"/>
            <a:ext cx="551217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P-01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1790" y="1861542"/>
            <a:ext cx="199441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rewriting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42157" y="2366963"/>
            <a:ext cx="4973092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4FC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ADDS</a:t>
            </a:r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index sees a query written for it.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842157" y="2836069"/>
            <a:ext cx="4973092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4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COSTS</a:t>
            </a:r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One extra model call per retrieval.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204383" y="1645642"/>
            <a:ext cx="5409046" cy="1939330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71016" y="1899642"/>
            <a:ext cx="551217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P-02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180650" y="1861542"/>
            <a:ext cx="9765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71016" y="2366963"/>
            <a:ext cx="4973295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4FC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ADDS</a:t>
            </a:r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right source per question.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471016" y="2836069"/>
            <a:ext cx="4973295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4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COSTS</a:t>
            </a:r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router to maintain and debug.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575523" y="3805039"/>
            <a:ext cx="5408847" cy="193952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2157" y="4059039"/>
            <a:ext cx="551217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P-03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1790" y="4020939"/>
            <a:ext cx="121494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Multi-hop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2157" y="4526359"/>
            <a:ext cx="4973092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4FC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ADDS</a:t>
            </a:r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Answers that join two documents.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842157" y="4995466"/>
            <a:ext cx="4973092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4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COSTS</a:t>
            </a:r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Latency multiplies by hop count.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6204383" y="3805039"/>
            <a:ext cx="5409046" cy="193952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71016" y="4059039"/>
            <a:ext cx="551217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P-04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180650" y="4020939"/>
            <a:ext cx="216803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Retrieval grading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71016" y="4526359"/>
            <a:ext cx="4973295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4FC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ADDS</a:t>
            </a:r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loop can tell that it failed.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6471016" y="4995466"/>
            <a:ext cx="4973295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4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COSTS</a:t>
            </a:r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judge whose mistakes are yours.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6926515" y="5981502"/>
            <a:ext cx="4686914" cy="46513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125299" y="6078736"/>
            <a:ext cx="207212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04</a:t>
            </a:r>
            <a:endParaRPr lang="en-US" sz="1333" dirty="0"/>
          </a:p>
        </p:txBody>
      </p:sp>
      <p:sp>
        <p:nvSpPr>
          <p:cNvPr id="26" name="Shape 24"/>
          <p:cNvSpPr/>
          <p:nvPr/>
        </p:nvSpPr>
        <p:spPr>
          <a:xfrm>
            <a:off x="7520885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13321" y="6078736"/>
            <a:ext cx="2243112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ADOPTABLE PATTERNS</a:t>
            </a:r>
            <a:endParaRPr lang="en-US" sz="1333" dirty="0"/>
          </a:p>
        </p:txBody>
      </p:sp>
      <p:sp>
        <p:nvSpPr>
          <p:cNvPr id="28" name="Shape 26"/>
          <p:cNvSpPr/>
          <p:nvPr/>
        </p:nvSpPr>
        <p:spPr>
          <a:xfrm>
            <a:off x="10104887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297323" y="6078736"/>
            <a:ext cx="1139667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SHEET 04/06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508000"/>
            <a:ext cx="11258664" cy="484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13"/>
              </a:lnSpc>
              <a:spcAft>
                <a:spcPts val="1866"/>
              </a:spcAft>
              <a:buNone/>
            </a:pPr>
            <a:r>
              <a:rPr lang="en-US" sz="29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costs, and what to decide first</a:t>
            </a:r>
            <a:endParaRPr lang="en-US" sz="2933" dirty="0"/>
          </a:p>
        </p:txBody>
      </p:sp>
      <p:sp>
        <p:nvSpPr>
          <p:cNvPr id="3" name="Text 1"/>
          <p:cNvSpPr/>
          <p:nvPr/>
        </p:nvSpPr>
        <p:spPr>
          <a:xfrm>
            <a:off x="575523" y="1229122"/>
            <a:ext cx="5383652" cy="321329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88220" y="1241822"/>
            <a:ext cx="5358259" cy="504627"/>
          </a:xfrm>
          <a:prstGeom prst="rect">
            <a:avLst/>
          </a:prstGeom>
          <a:solidFill>
            <a:srgbClr val="0E1B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88220" y="1740098"/>
            <a:ext cx="5358259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864" y="1241822"/>
            <a:ext cx="0" cy="49192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8232" y="1343422"/>
            <a:ext cx="116557" cy="28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3"/>
              </a:lnSpc>
              <a:buNone/>
            </a:pPr>
            <a:r>
              <a:rPr lang="en-US" sz="1466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375225" y="1343422"/>
            <a:ext cx="1581207" cy="28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3"/>
              </a:lnSpc>
              <a:buNone/>
            </a:pPr>
            <a:r>
              <a:rPr lang="en-US" sz="14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WHAT CHANGES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588220" y="1746448"/>
            <a:ext cx="5358259" cy="2683272"/>
          </a:xfrm>
          <a:prstGeom prst="rect">
            <a:avLst/>
          </a:prstGeom>
          <a:noFill/>
          <a:ln/>
        </p:spPr>
        <p:txBody>
          <a:bodyPr wrap="square" lIns="110053" tIns="0" rIns="0" bIns="0" rtlCol="0" anchor="t"/>
          <a:lstStyle/>
          <a:p>
            <a:pPr algn="l" marL="110053" indent="-110053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Latency becomes a distribution</a:t>
            </a:r>
            <a:endParaRPr lang="en-US" sz="1600" dirty="0"/>
          </a:p>
          <a:p>
            <a:pPr algn="l" marL="110053" indent="-110053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cost scales with attempts</a:t>
            </a:r>
            <a:endParaRPr lang="en-US" sz="1600" dirty="0"/>
          </a:p>
          <a:p>
            <a:pPr algn="l" marL="110053" indent="-110053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question can take different paths</a:t>
            </a:r>
            <a:endParaRPr lang="en-US" sz="1600" dirty="0"/>
          </a:p>
          <a:p>
            <a:pPr algn="l" marL="110053" indent="-110053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Failures become “never stopped”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08232" y="2101850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1970" y="2000250"/>
            <a:ext cx="356145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Latency becomes a distribution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808232" y="2597944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61970" y="2496344"/>
            <a:ext cx="3652115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cost scales with attempts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808232" y="3094038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61970" y="2992438"/>
            <a:ext cx="4757786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question can take different paths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808232" y="3933825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61970" y="3832225"/>
            <a:ext cx="379457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Failures become “never stopped”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229975" y="1229122"/>
            <a:ext cx="5383652" cy="321329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42672" y="1241822"/>
            <a:ext cx="5358259" cy="504627"/>
          </a:xfrm>
          <a:prstGeom prst="rect">
            <a:avLst/>
          </a:prstGeom>
          <a:solidFill>
            <a:srgbClr val="0E1B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242672" y="1740098"/>
            <a:ext cx="5358259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03316" y="1241822"/>
            <a:ext cx="0" cy="49192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62684" y="1343422"/>
            <a:ext cx="116557" cy="28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3"/>
              </a:lnSpc>
              <a:buNone/>
            </a:pPr>
            <a:r>
              <a:rPr lang="en-US" sz="1466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</a:t>
            </a:r>
            <a:endParaRPr lang="en-US" sz="1466" dirty="0"/>
          </a:p>
        </p:txBody>
      </p:sp>
      <p:sp>
        <p:nvSpPr>
          <p:cNvPr id="23" name="Text 21"/>
          <p:cNvSpPr/>
          <p:nvPr/>
        </p:nvSpPr>
        <p:spPr>
          <a:xfrm>
            <a:off x="7029677" y="1343422"/>
            <a:ext cx="3030478" cy="28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3"/>
              </a:lnSpc>
              <a:buNone/>
            </a:pPr>
            <a:r>
              <a:rPr lang="en-US" sz="14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DECIDE BEFORE YOU BUILD</a:t>
            </a:r>
            <a:endParaRPr lang="en-US" sz="1466" dirty="0"/>
          </a:p>
        </p:txBody>
      </p:sp>
      <p:sp>
        <p:nvSpPr>
          <p:cNvPr id="24" name="Text 22"/>
          <p:cNvSpPr/>
          <p:nvPr/>
        </p:nvSpPr>
        <p:spPr>
          <a:xfrm>
            <a:off x="6242672" y="1746448"/>
            <a:ext cx="5358259" cy="2683272"/>
          </a:xfrm>
          <a:prstGeom prst="rect">
            <a:avLst/>
          </a:prstGeom>
          <a:noFill/>
          <a:ln/>
        </p:spPr>
        <p:txBody>
          <a:bodyPr wrap="square" lIns="110053" tIns="0" rIns="0" bIns="0" rtlCol="0" anchor="t"/>
          <a:lstStyle/>
          <a:p>
            <a:pPr algn="l" marL="110053" indent="-110053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stop condition, written down</a:t>
            </a:r>
            <a:endParaRPr lang="en-US" sz="1600" dirty="0"/>
          </a:p>
          <a:p>
            <a:pPr algn="l" marL="110053" indent="-110053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hop budget, and the ceiling behavior</a:t>
            </a:r>
            <a:endParaRPr lang="en-US" sz="1600" dirty="0"/>
          </a:p>
          <a:p>
            <a:pPr algn="l" marL="110053" indent="-110053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eval set with real multi-hop questions</a:t>
            </a:r>
            <a:endParaRPr lang="en-US" sz="1600" dirty="0"/>
          </a:p>
          <a:p>
            <a:pPr algn="l" marL="110053" indent="-110053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fallback path back to one-shot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62684" y="2273697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716422" y="2172097"/>
            <a:ext cx="372981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stop condition, written down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6462684" y="2769791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716422" y="2668191"/>
            <a:ext cx="4364407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hop budget, and the ceiling behavior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6462684" y="3265884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716422" y="3164284"/>
            <a:ext cx="463637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eval set with real multi-hop questions</a:t>
            </a:r>
            <a:endParaRPr lang="en-US" sz="1866" dirty="0"/>
          </a:p>
        </p:txBody>
      </p:sp>
      <p:sp>
        <p:nvSpPr>
          <p:cNvPr id="31" name="Text 29"/>
          <p:cNvSpPr/>
          <p:nvPr/>
        </p:nvSpPr>
        <p:spPr>
          <a:xfrm>
            <a:off x="6462684" y="3761978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716422" y="3660378"/>
            <a:ext cx="3949982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fallback path back to one-shot</a:t>
            </a:r>
            <a:endParaRPr lang="en-US" sz="1866" dirty="0"/>
          </a:p>
        </p:txBody>
      </p:sp>
      <p:sp>
        <p:nvSpPr>
          <p:cNvPr id="33" name="Text 31"/>
          <p:cNvSpPr/>
          <p:nvPr/>
        </p:nvSpPr>
        <p:spPr>
          <a:xfrm>
            <a:off x="575523" y="4645620"/>
            <a:ext cx="11037905" cy="1098947"/>
          </a:xfrm>
          <a:prstGeom prst="rect">
            <a:avLst/>
          </a:prstGeom>
          <a:solidFill>
            <a:srgbClr val="4FC8E8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575523" y="4651970"/>
            <a:ext cx="11037905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607080" y="4645620"/>
            <a:ext cx="0" cy="109894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75523" y="5738217"/>
            <a:ext cx="11037905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0917" y="4645620"/>
            <a:ext cx="0" cy="1098947"/>
          </a:xfrm>
          <a:prstGeom prst="line">
            <a:avLst/>
          </a:prstGeom>
          <a:noFill/>
          <a:ln w="50794">
            <a:solidFill>
              <a:srgbClr val="4FC8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80247" y="4827588"/>
            <a:ext cx="10675879" cy="735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RAG trades a predictable pipeline for a system that can recover. Budget the loop before you open it.</a:t>
            </a:r>
            <a:endParaRPr lang="en-US" sz="1866" dirty="0"/>
          </a:p>
        </p:txBody>
      </p:sp>
      <p:sp>
        <p:nvSpPr>
          <p:cNvPr id="39" name="Text 37"/>
          <p:cNvSpPr/>
          <p:nvPr/>
        </p:nvSpPr>
        <p:spPr>
          <a:xfrm>
            <a:off x="6989999" y="5981502"/>
            <a:ext cx="4623430" cy="46513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188784" y="6078736"/>
            <a:ext cx="207212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05</a:t>
            </a:r>
            <a:endParaRPr lang="en-US" sz="1333" dirty="0"/>
          </a:p>
        </p:txBody>
      </p:sp>
      <p:sp>
        <p:nvSpPr>
          <p:cNvPr id="41" name="Shape 39"/>
          <p:cNvSpPr/>
          <p:nvPr/>
        </p:nvSpPr>
        <p:spPr>
          <a:xfrm>
            <a:off x="7584369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6805" y="6078736"/>
            <a:ext cx="2178359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AND DECISIONS</a:t>
            </a:r>
            <a:endParaRPr lang="en-US" sz="1333" dirty="0"/>
          </a:p>
        </p:txBody>
      </p:sp>
      <p:sp>
        <p:nvSpPr>
          <p:cNvPr id="43" name="Shape 41"/>
          <p:cNvSpPr/>
          <p:nvPr/>
        </p:nvSpPr>
        <p:spPr>
          <a:xfrm>
            <a:off x="10104887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97323" y="6078736"/>
            <a:ext cx="1139667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SHEET 05/06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1637506"/>
            <a:ext cx="4075038" cy="1144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12"/>
              </a:lnSpc>
              <a:buNone/>
            </a:pPr>
            <a:r>
              <a:rPr lang="en-US" sz="6932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Q&amp;A</a:t>
            </a:r>
            <a:endParaRPr lang="en-US" sz="6932" dirty="0"/>
          </a:p>
        </p:txBody>
      </p:sp>
      <p:sp>
        <p:nvSpPr>
          <p:cNvPr id="3" name="Text 1"/>
          <p:cNvSpPr/>
          <p:nvPr/>
        </p:nvSpPr>
        <p:spPr>
          <a:xfrm>
            <a:off x="575523" y="3086894"/>
            <a:ext cx="1862069" cy="12700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75523" y="3336528"/>
            <a:ext cx="4075038" cy="735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things worth settling before the next build.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5349331" y="1546423"/>
            <a:ext cx="6264098" cy="26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4FC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pPr algn="l"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of our failures are retrieval, and which are generation?</a:t>
            </a:r>
            <a:endParaRPr lang="en-US" sz="1600" dirty="0"/>
          </a:p>
          <a:p>
            <a:pPr algn="l"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4FC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pPr algn="l"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our stop condition, and who owns it?</a:t>
            </a:r>
            <a:endParaRPr lang="en-US" sz="1600" dirty="0"/>
          </a:p>
          <a:p>
            <a:pPr algn="l"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4FC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pPr algn="l"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would we know the loop got better?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349331" y="1546423"/>
            <a:ext cx="275608" cy="348655"/>
          </a:xfrm>
          <a:prstGeom prst="rect">
            <a:avLst/>
          </a:prstGeom>
          <a:noFill/>
          <a:ln/>
        </p:spPr>
        <p:txBody>
          <a:bodyPr wrap="square" lIns="0" tIns="33862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56411" y="1546423"/>
            <a:ext cx="5872159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of our failures are retrieval, and which are generation?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349331" y="2752923"/>
            <a:ext cx="275608" cy="348655"/>
          </a:xfrm>
          <a:prstGeom prst="rect">
            <a:avLst/>
          </a:prstGeom>
          <a:noFill/>
          <a:ln/>
        </p:spPr>
        <p:txBody>
          <a:bodyPr wrap="square" lIns="0" tIns="33862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856411" y="2752923"/>
            <a:ext cx="5568827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our stop condition, and who owns it?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349331" y="3565723"/>
            <a:ext cx="275608" cy="348655"/>
          </a:xfrm>
          <a:prstGeom prst="rect">
            <a:avLst/>
          </a:prstGeom>
          <a:noFill/>
          <a:ln/>
        </p:spPr>
        <p:txBody>
          <a:bodyPr wrap="square" lIns="0" tIns="33862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856411" y="3565723"/>
            <a:ext cx="5076699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would we know the loop got better?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75523" y="5207397"/>
            <a:ext cx="11037905" cy="0"/>
          </a:xfrm>
          <a:prstGeom prst="line">
            <a:avLst/>
          </a:prstGeom>
          <a:noFill/>
          <a:ln w="12698">
            <a:solidFill>
              <a:srgbClr val="2A4A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5523" y="5429647"/>
            <a:ext cx="127747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423425" y="5416947"/>
            <a:ext cx="2233804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910916" y="5981502"/>
            <a:ext cx="3702513" cy="46513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109700" y="6078736"/>
            <a:ext cx="207212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06</a:t>
            </a:r>
            <a:endParaRPr lang="en-US" sz="1333" dirty="0"/>
          </a:p>
        </p:txBody>
      </p:sp>
      <p:sp>
        <p:nvSpPr>
          <p:cNvPr id="17" name="Shape 15"/>
          <p:cNvSpPr/>
          <p:nvPr/>
        </p:nvSpPr>
        <p:spPr>
          <a:xfrm>
            <a:off x="8505286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97722" y="6078736"/>
            <a:ext cx="1239024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</a:t>
            </a:r>
            <a:endParaRPr lang="en-US" sz="1333" dirty="0"/>
          </a:p>
        </p:txBody>
      </p:sp>
      <p:sp>
        <p:nvSpPr>
          <p:cNvPr id="19" name="Shape 17"/>
          <p:cNvSpPr/>
          <p:nvPr/>
        </p:nvSpPr>
        <p:spPr>
          <a:xfrm>
            <a:off x="10104887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97323" y="6078736"/>
            <a:ext cx="1139667" cy="270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SHEET 06/06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2026-08-27T15:32:03Z</dcterms:created>
  <dcterms:modified xsi:type="dcterms:W3CDTF">2026-08-27T15:32:03Z</dcterms:modified>
</cp:coreProperties>
</file>