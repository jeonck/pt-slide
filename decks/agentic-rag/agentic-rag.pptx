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2.svg" ContentType="image/svg+xml"/>
  <Override PartName="/ppt/media/image-2-4.svg" ContentType="image/svg+xml"/>
  <Override PartName="/ppt/media/image-2-6.svg" ContentType="image/svg+xml"/>
  <Override PartName="/ppt/media/image-2-8.svg" ContentType="image/svg+xml"/>
  <Override PartName="/ppt/media/image-3-2.svg" ContentType="image/svg+xml"/>
  <Override PartName="/ppt/media/image-3-4.svg" ContentType="image/svg+xml"/>
  <Override PartName="/ppt/media/image-3-6.svg" ContentType="image/svg+xml"/>
  <Override PartName="/ppt/media/image-3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5523" y="669528"/>
            <a:ext cx="9186542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spcAft>
                <a:spcPts val="2400"/>
              </a:spcAft>
              <a:buNone/>
            </a:pPr>
            <a:r>
              <a:rPr lang="en-US" sz="1600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RETRIEVAL ARCHITECTURE / 2026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5523" y="1289248"/>
            <a:ext cx="9186542" cy="1937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26"/>
              </a:lnSpc>
              <a:buNone/>
            </a:pPr>
            <a:r>
              <a:rPr lang="en-US" sz="5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RAG to</a:t>
            </a:r>
            <a:endParaRPr lang="en-US" sz="5866" dirty="0"/>
          </a:p>
          <a:p>
            <a:pPr algn="l" indent="0" marL="0">
              <a:lnSpc>
                <a:spcPts val="7626"/>
              </a:lnSpc>
              <a:buNone/>
            </a:pPr>
            <a:r>
              <a:rPr lang="en-US" sz="5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RAG</a:t>
            </a:r>
            <a:endParaRPr lang="en-US" sz="5866" dirty="0"/>
          </a:p>
        </p:txBody>
      </p:sp>
      <p:sp>
        <p:nvSpPr>
          <p:cNvPr id="4" name="Text 2"/>
          <p:cNvSpPr/>
          <p:nvPr/>
        </p:nvSpPr>
        <p:spPr>
          <a:xfrm>
            <a:off x="575523" y="3564930"/>
            <a:ext cx="2539365" cy="12700"/>
          </a:xfrm>
          <a:prstGeom prst="rect">
            <a:avLst/>
          </a:prstGeom>
          <a:solidFill>
            <a:srgbClr val="4FC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5523" y="3848497"/>
            <a:ext cx="742503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0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retrieval stops being one step and becomes a loop the model controls.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75523" y="4803775"/>
            <a:ext cx="11037905" cy="0"/>
          </a:xfrm>
          <a:prstGeom prst="line">
            <a:avLst/>
          </a:prstGeom>
          <a:noFill/>
          <a:ln w="12698">
            <a:solidFill>
              <a:srgbClr val="2A4A8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75523" y="5047059"/>
            <a:ext cx="2072122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spcAft>
                <a:spcPts val="533"/>
              </a:spcAft>
              <a:buNone/>
            </a:pPr>
            <a:r>
              <a:rPr lang="en-US" sz="16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5523" y="5429647"/>
            <a:ext cx="2072122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PRESENTER · TEAM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51763" y="5047059"/>
            <a:ext cx="90655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spcAft>
                <a:spcPts val="533"/>
              </a:spcAft>
              <a:buNone/>
            </a:pPr>
            <a:r>
              <a:rPr lang="en-US" sz="16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51763" y="5429647"/>
            <a:ext cx="90655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2026.08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5289" y="5047059"/>
            <a:ext cx="10360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spcAft>
                <a:spcPts val="533"/>
              </a:spcAft>
              <a:buNone/>
            </a:pPr>
            <a:r>
              <a:rPr lang="en-US" sz="16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5289" y="5429647"/>
            <a:ext cx="10360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INTERNAL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1580" y="5981502"/>
            <a:ext cx="5211848" cy="465138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00365" y="6078736"/>
            <a:ext cx="207212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01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6995951" y="5994202"/>
            <a:ext cx="0" cy="43973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88387" y="6078736"/>
            <a:ext cx="2778545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RAG TO AGENTIC RAG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10104887" y="5994202"/>
            <a:ext cx="0" cy="43973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297323" y="6078736"/>
            <a:ext cx="1139667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8FA3C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SHEET 01/06</a:t>
            </a:r>
            <a:endParaRPr lang="en-US" sz="13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5523" y="508000"/>
            <a:ext cx="11258664" cy="48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13"/>
              </a:lnSpc>
              <a:spcAft>
                <a:spcPts val="1600"/>
              </a:spcAft>
              <a:buNone/>
            </a:pPr>
            <a:r>
              <a:rPr lang="en-US" sz="2933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classic RAG does, and where it stops</a:t>
            </a:r>
            <a:endParaRPr lang="en-US" sz="2933" dirty="0"/>
          </a:p>
        </p:txBody>
      </p:sp>
      <p:sp>
        <p:nvSpPr>
          <p:cNvPr id="3" name="Text 1"/>
          <p:cNvSpPr/>
          <p:nvPr/>
        </p:nvSpPr>
        <p:spPr>
          <a:xfrm>
            <a:off x="575523" y="1195387"/>
            <a:ext cx="1042132" cy="563959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1369" y="1326555"/>
            <a:ext cx="62264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533" dirty="0">
                <a:solidFill>
                  <a:srgbClr val="E8EEF7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QUERY</a:t>
            </a:r>
            <a:endParaRPr lang="en-US" sz="1533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52955" y="1375767"/>
            <a:ext cx="33845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26706" y="1195387"/>
            <a:ext cx="1042132" cy="563959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442552" y="1326555"/>
            <a:ext cx="62264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533" dirty="0">
                <a:solidFill>
                  <a:srgbClr val="E8EEF7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EMBED</a:t>
            </a:r>
            <a:endParaRPr lang="en-US" sz="1533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4138" y="1375767"/>
            <a:ext cx="338450" cy="203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77888" y="1195387"/>
            <a:ext cx="1042132" cy="563959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093734" y="1326555"/>
            <a:ext cx="62264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533" dirty="0">
                <a:solidFill>
                  <a:srgbClr val="E8EEF7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TOP-K</a:t>
            </a:r>
            <a:endParaRPr lang="en-US" sz="1533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5320" y="1375767"/>
            <a:ext cx="338450" cy="203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29071" y="1195387"/>
            <a:ext cx="1286149" cy="563959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5744917" y="1326555"/>
            <a:ext cx="8715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533" dirty="0">
                <a:solidFill>
                  <a:srgbClr val="E8EEF7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CONTEXT</a:t>
            </a:r>
            <a:endParaRPr lang="en-US" sz="1533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50520" y="1375767"/>
            <a:ext cx="338450" cy="203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24270" y="1195387"/>
            <a:ext cx="1408356" cy="563959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7640116" y="1326555"/>
            <a:ext cx="99619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533" dirty="0">
                <a:solidFill>
                  <a:srgbClr val="E8EEF7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GENERATE</a:t>
            </a:r>
            <a:endParaRPr lang="en-US" sz="1533" dirty="0"/>
          </a:p>
        </p:txBody>
      </p:sp>
      <p:sp>
        <p:nvSpPr>
          <p:cNvPr id="17" name="Text 11"/>
          <p:cNvSpPr/>
          <p:nvPr/>
        </p:nvSpPr>
        <p:spPr>
          <a:xfrm>
            <a:off x="575523" y="1894681"/>
            <a:ext cx="11258664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spcBef>
                <a:spcPts val="1067"/>
              </a:spcBef>
              <a:buNone/>
            </a:pPr>
            <a:r>
              <a:rPr lang="en-US" sz="16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PASS · NO FEEDBACK — THE PIPELINE CANNOT LOOK AGAIN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75523" y="2385219"/>
            <a:ext cx="328403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F-01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75523" y="2852539"/>
            <a:ext cx="32840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spcAft>
                <a:spcPts val="1067"/>
              </a:spcAft>
              <a:buNone/>
            </a:pPr>
            <a:r>
              <a:rPr lang="en-US" sz="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question is not the query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575523" y="3673673"/>
            <a:ext cx="328403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user asks in their words; the corpus is written in someone else’s.</a:t>
            </a:r>
            <a:endParaRPr lang="en-US" sz="1866" dirty="0"/>
          </a:p>
        </p:txBody>
      </p:sp>
      <p:sp>
        <p:nvSpPr>
          <p:cNvPr id="21" name="Shape 15"/>
          <p:cNvSpPr/>
          <p:nvPr/>
        </p:nvSpPr>
        <p:spPr>
          <a:xfrm>
            <a:off x="4139959" y="2378869"/>
            <a:ext cx="0" cy="2367955"/>
          </a:xfrm>
          <a:prstGeom prst="line">
            <a:avLst/>
          </a:prstGeom>
          <a:noFill/>
          <a:ln w="12698">
            <a:solidFill>
              <a:srgbClr val="2A4A8C"/>
            </a:solidFill>
            <a:prstDash val="solid"/>
          </a:ln>
        </p:spPr>
        <p:txBody>
          <a:bodyPr/>
          <a:p/>
        </p:txBody>
      </p:sp>
      <p:sp>
        <p:nvSpPr>
          <p:cNvPr id="22" name="Text 16"/>
          <p:cNvSpPr/>
          <p:nvPr/>
        </p:nvSpPr>
        <p:spPr>
          <a:xfrm>
            <a:off x="4484757" y="2378869"/>
            <a:ext cx="328403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F-02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484757" y="2846189"/>
            <a:ext cx="328403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067"/>
              </a:spcAft>
              <a:buNone/>
            </a:pPr>
            <a:r>
              <a:rPr lang="en-US" sz="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hop is not enough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4484757" y="3324423"/>
            <a:ext cx="328403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answer that requires joining two documents cannot be retrieved in one shot.</a:t>
            </a:r>
            <a:endParaRPr lang="en-US" sz="1866" dirty="0"/>
          </a:p>
        </p:txBody>
      </p:sp>
      <p:sp>
        <p:nvSpPr>
          <p:cNvPr id="25" name="Shape 19"/>
          <p:cNvSpPr/>
          <p:nvPr/>
        </p:nvSpPr>
        <p:spPr>
          <a:xfrm>
            <a:off x="8049192" y="2385219"/>
            <a:ext cx="0" cy="2355255"/>
          </a:xfrm>
          <a:prstGeom prst="line">
            <a:avLst/>
          </a:prstGeom>
          <a:noFill/>
          <a:ln w="12698">
            <a:solidFill>
              <a:srgbClr val="2A4A8C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/>
          <p:nvPr/>
        </p:nvSpPr>
        <p:spPr>
          <a:xfrm>
            <a:off x="8393990" y="2385219"/>
            <a:ext cx="328403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F-03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393990" y="2852539"/>
            <a:ext cx="32840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spcAft>
                <a:spcPts val="1067"/>
              </a:spcAft>
              <a:buNone/>
            </a:pPr>
            <a:r>
              <a:rPr lang="en-US" sz="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can notice the miss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8393990" y="3673673"/>
            <a:ext cx="328403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always returns its top k. Nothing can say the evidence is not enough.</a:t>
            </a:r>
            <a:endParaRPr lang="en-US" sz="1866" dirty="0"/>
          </a:p>
        </p:txBody>
      </p:sp>
      <p:sp>
        <p:nvSpPr>
          <p:cNvPr id="29" name="Text 23"/>
          <p:cNvSpPr/>
          <p:nvPr/>
        </p:nvSpPr>
        <p:spPr>
          <a:xfrm>
            <a:off x="575523" y="4882158"/>
            <a:ext cx="11037905" cy="1098947"/>
          </a:xfrm>
          <a:prstGeom prst="rect">
            <a:avLst/>
          </a:prstGeom>
          <a:solidFill>
            <a:srgbClr val="4FC8E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4"/>
          <p:cNvSpPr/>
          <p:nvPr/>
        </p:nvSpPr>
        <p:spPr>
          <a:xfrm>
            <a:off x="575523" y="4888508"/>
            <a:ext cx="11037905" cy="0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>
            <a:off x="11607080" y="4882158"/>
            <a:ext cx="0" cy="109894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575523" y="5974755"/>
            <a:ext cx="11037905" cy="0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33" name="Shape 27"/>
          <p:cNvSpPr/>
          <p:nvPr/>
        </p:nvSpPr>
        <p:spPr>
          <a:xfrm>
            <a:off x="600917" y="4882158"/>
            <a:ext cx="0" cy="1098947"/>
          </a:xfrm>
          <a:prstGeom prst="line">
            <a:avLst/>
          </a:prstGeom>
          <a:noFill/>
          <a:ln w="50794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880247" y="5064125"/>
            <a:ext cx="10675879" cy="73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93"/>
              </a:lnSpc>
              <a:buNone/>
            </a:pPr>
            <a:r>
              <a:rPr lang="en-US" sz="1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Classic RAG assumes the first retrieval was the right one. No part of the pipeline is able to disagree.</a:t>
            </a:r>
            <a:endParaRPr lang="en-US" sz="1866" dirty="0"/>
          </a:p>
        </p:txBody>
      </p:sp>
      <p:sp>
        <p:nvSpPr>
          <p:cNvPr id="35" name="Text 29"/>
          <p:cNvSpPr/>
          <p:nvPr/>
        </p:nvSpPr>
        <p:spPr>
          <a:xfrm>
            <a:off x="6363490" y="5981502"/>
            <a:ext cx="5249939" cy="465138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6562275" y="6078736"/>
            <a:ext cx="207212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02</a:t>
            </a:r>
            <a:endParaRPr lang="en-US" sz="1333" dirty="0"/>
          </a:p>
        </p:txBody>
      </p:sp>
      <p:sp>
        <p:nvSpPr>
          <p:cNvPr id="37" name="Shape 31"/>
          <p:cNvSpPr/>
          <p:nvPr/>
        </p:nvSpPr>
        <p:spPr>
          <a:xfrm>
            <a:off x="6957860" y="5994202"/>
            <a:ext cx="0" cy="43973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38" name="Text 32"/>
          <p:cNvSpPr/>
          <p:nvPr/>
        </p:nvSpPr>
        <p:spPr>
          <a:xfrm>
            <a:off x="7150296" y="6078736"/>
            <a:ext cx="2817398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CLASSIC RAG STOPS</a:t>
            </a:r>
            <a:endParaRPr lang="en-US" sz="1333" dirty="0"/>
          </a:p>
        </p:txBody>
      </p:sp>
      <p:sp>
        <p:nvSpPr>
          <p:cNvPr id="39" name="Shape 33"/>
          <p:cNvSpPr/>
          <p:nvPr/>
        </p:nvSpPr>
        <p:spPr>
          <a:xfrm>
            <a:off x="10104887" y="5994202"/>
            <a:ext cx="0" cy="43973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40" name="Text 34"/>
          <p:cNvSpPr/>
          <p:nvPr/>
        </p:nvSpPr>
        <p:spPr>
          <a:xfrm>
            <a:off x="10297323" y="6078736"/>
            <a:ext cx="1139667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8FA3C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SHEET 02/06</a:t>
            </a:r>
            <a:endParaRPr lang="en-US" sz="13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5523" y="508000"/>
            <a:ext cx="11258664" cy="48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13"/>
              </a:lnSpc>
              <a:spcAft>
                <a:spcPts val="2133"/>
              </a:spcAft>
              <a:buNone/>
            </a:pPr>
            <a:r>
              <a:rPr lang="en-US" sz="2933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shift: retrieval becomes a loop</a:t>
            </a:r>
            <a:endParaRPr lang="en-US" sz="2933" dirty="0"/>
          </a:p>
        </p:txBody>
      </p:sp>
      <p:sp>
        <p:nvSpPr>
          <p:cNvPr id="3" name="Text 1"/>
          <p:cNvSpPr/>
          <p:nvPr/>
        </p:nvSpPr>
        <p:spPr>
          <a:xfrm>
            <a:off x="575523" y="1263055"/>
            <a:ext cx="2429458" cy="2810470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5095" y="1495822"/>
            <a:ext cx="1968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5095" y="1963142"/>
            <a:ext cx="1968920" cy="3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93"/>
              </a:lnSpc>
              <a:spcAft>
                <a:spcPts val="1067"/>
              </a:spcAft>
              <a:buNone/>
            </a:pPr>
            <a:r>
              <a:rPr lang="en-US" sz="1866" dirty="0">
                <a:solidFill>
                  <a:srgbClr val="E8EEF7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PLAN</a:t>
            </a:r>
            <a:endParaRPr lang="en-US" sz="1866" dirty="0"/>
          </a:p>
        </p:txBody>
      </p:sp>
      <p:sp>
        <p:nvSpPr>
          <p:cNvPr id="6" name="Text 4"/>
          <p:cNvSpPr/>
          <p:nvPr/>
        </p:nvSpPr>
        <p:spPr>
          <a:xfrm>
            <a:off x="825095" y="2465983"/>
            <a:ext cx="1968920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what to look for, and in which source.</a:t>
            </a:r>
            <a:endParaRPr lang="en-US" sz="1866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4981" y="2566591"/>
            <a:ext cx="440024" cy="20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45006" y="1263055"/>
            <a:ext cx="2429458" cy="2810470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694578" y="1495822"/>
            <a:ext cx="1968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94578" y="1963142"/>
            <a:ext cx="1968920" cy="3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93"/>
              </a:lnSpc>
              <a:spcAft>
                <a:spcPts val="1067"/>
              </a:spcAft>
              <a:buNone/>
            </a:pPr>
            <a:r>
              <a:rPr lang="en-US" sz="1866" dirty="0">
                <a:solidFill>
                  <a:srgbClr val="E8EEF7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RETRIEVE</a:t>
            </a:r>
            <a:endParaRPr lang="en-US" sz="1866" dirty="0"/>
          </a:p>
        </p:txBody>
      </p:sp>
      <p:sp>
        <p:nvSpPr>
          <p:cNvPr id="11" name="Text 8"/>
          <p:cNvSpPr/>
          <p:nvPr/>
        </p:nvSpPr>
        <p:spPr>
          <a:xfrm>
            <a:off x="3694578" y="2465983"/>
            <a:ext cx="1968920" cy="1374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one or more queries — not necessarily the user’s words.</a:t>
            </a:r>
            <a:endParaRPr lang="en-US" sz="1866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4464" y="2566591"/>
            <a:ext cx="440024" cy="203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14488" y="1263055"/>
            <a:ext cx="2429458" cy="2810470"/>
          </a:xfrm>
          <a:prstGeom prst="rect">
            <a:avLst/>
          </a:prstGeom>
          <a:solidFill>
            <a:srgbClr val="4FC8E8">
              <a:alpha val="12000"/>
            </a:srgbClr>
          </a:solidFill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564060" y="1495822"/>
            <a:ext cx="1968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64060" y="1963142"/>
            <a:ext cx="1968920" cy="3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93"/>
              </a:lnSpc>
              <a:spcAft>
                <a:spcPts val="1067"/>
              </a:spcAft>
              <a:buNone/>
            </a:pPr>
            <a:r>
              <a:rPr lang="en-US" sz="1866" dirty="0">
                <a:solidFill>
                  <a:srgbClr val="E8EEF7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CRITIQUE</a:t>
            </a:r>
            <a:endParaRPr lang="en-US" sz="1866" dirty="0"/>
          </a:p>
        </p:txBody>
      </p:sp>
      <p:sp>
        <p:nvSpPr>
          <p:cNvPr id="16" name="Text 12"/>
          <p:cNvSpPr/>
          <p:nvPr/>
        </p:nvSpPr>
        <p:spPr>
          <a:xfrm>
            <a:off x="6564060" y="2465983"/>
            <a:ext cx="1968920" cy="1374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Judge whether what came back can answer the question.</a:t>
            </a:r>
            <a:endParaRPr lang="en-US" sz="1866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43946" y="2566591"/>
            <a:ext cx="440024" cy="203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83971" y="1263055"/>
            <a:ext cx="2429458" cy="2810470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9433543" y="1495822"/>
            <a:ext cx="1968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433543" y="1963142"/>
            <a:ext cx="1968920" cy="3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93"/>
              </a:lnSpc>
              <a:spcAft>
                <a:spcPts val="1067"/>
              </a:spcAft>
              <a:buNone/>
            </a:pPr>
            <a:r>
              <a:rPr lang="en-US" sz="1866" dirty="0">
                <a:solidFill>
                  <a:srgbClr val="E8EEF7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ANSWER</a:t>
            </a:r>
            <a:endParaRPr lang="en-US" sz="1866" dirty="0"/>
          </a:p>
        </p:txBody>
      </p:sp>
      <p:sp>
        <p:nvSpPr>
          <p:cNvPr id="21" name="Text 16"/>
          <p:cNvSpPr/>
          <p:nvPr/>
        </p:nvSpPr>
        <p:spPr>
          <a:xfrm>
            <a:off x="9433543" y="2465983"/>
            <a:ext cx="1968920" cy="1374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Generate, using only the evidence that survived.</a:t>
            </a:r>
            <a:endParaRPr lang="en-US" sz="1866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5523" y="4073525"/>
            <a:ext cx="11037905" cy="44013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65144" y="4513659"/>
            <a:ext cx="11258664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RETURN EDGE IS THE WHOLE CHANGE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75523" y="4938712"/>
            <a:ext cx="11037905" cy="0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11607080" y="4932363"/>
            <a:ext cx="0" cy="812205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575523" y="5738217"/>
            <a:ext cx="11037905" cy="0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600917" y="4932363"/>
            <a:ext cx="0" cy="812205"/>
          </a:xfrm>
          <a:prstGeom prst="line">
            <a:avLst/>
          </a:prstGeom>
          <a:noFill/>
          <a:ln w="50794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897110" y="5148263"/>
            <a:ext cx="10641479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6"/>
              </a:lnSpc>
              <a:buNone/>
            </a:pPr>
            <a:r>
              <a:rPr lang="en-US" sz="1933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stops being the last step in the pipeline and starts being the thing that drives it.</a:t>
            </a:r>
            <a:endParaRPr lang="en-US" sz="1933" dirty="0"/>
          </a:p>
        </p:txBody>
      </p:sp>
      <p:sp>
        <p:nvSpPr>
          <p:cNvPr id="29" name="Text 23"/>
          <p:cNvSpPr/>
          <p:nvPr/>
        </p:nvSpPr>
        <p:spPr>
          <a:xfrm>
            <a:off x="6989007" y="5981502"/>
            <a:ext cx="4624422" cy="465138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7187792" y="6078736"/>
            <a:ext cx="207212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03</a:t>
            </a:r>
            <a:endParaRPr lang="en-US" sz="1333" dirty="0"/>
          </a:p>
        </p:txBody>
      </p:sp>
      <p:sp>
        <p:nvSpPr>
          <p:cNvPr id="31" name="Shape 25"/>
          <p:cNvSpPr/>
          <p:nvPr/>
        </p:nvSpPr>
        <p:spPr>
          <a:xfrm>
            <a:off x="7583377" y="5994202"/>
            <a:ext cx="0" cy="43973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/>
          <p:nvPr/>
        </p:nvSpPr>
        <p:spPr>
          <a:xfrm>
            <a:off x="7775813" y="6078736"/>
            <a:ext cx="2179370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AS A LOOP</a:t>
            </a:r>
            <a:endParaRPr lang="en-US" sz="1333" dirty="0"/>
          </a:p>
        </p:txBody>
      </p:sp>
      <p:sp>
        <p:nvSpPr>
          <p:cNvPr id="33" name="Shape 27"/>
          <p:cNvSpPr/>
          <p:nvPr/>
        </p:nvSpPr>
        <p:spPr>
          <a:xfrm>
            <a:off x="10104887" y="5994202"/>
            <a:ext cx="0" cy="43973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10297323" y="6078736"/>
            <a:ext cx="1139667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8FA3C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SHEET 03/06</a:t>
            </a:r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5523" y="508000"/>
            <a:ext cx="11258664" cy="48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13"/>
              </a:lnSpc>
              <a:spcAft>
                <a:spcPts val="800"/>
              </a:spcAft>
              <a:buNone/>
            </a:pPr>
            <a:r>
              <a:rPr lang="en-US" sz="2933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you can adopt one at a time</a:t>
            </a:r>
            <a:endParaRPr lang="en-US" sz="2933" dirty="0"/>
          </a:p>
        </p:txBody>
      </p:sp>
      <p:sp>
        <p:nvSpPr>
          <p:cNvPr id="3" name="Text 1"/>
          <p:cNvSpPr/>
          <p:nvPr/>
        </p:nvSpPr>
        <p:spPr>
          <a:xfrm>
            <a:off x="575523" y="1093787"/>
            <a:ext cx="11258664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spcAft>
                <a:spcPts val="1866"/>
              </a:spcAft>
              <a:buNone/>
            </a:pPr>
            <a:r>
              <a:rPr lang="en-US" sz="16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— ALL FOUR AT ONCE IS A REWRITE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5523" y="1645642"/>
            <a:ext cx="5408847" cy="1939330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2157" y="1899642"/>
            <a:ext cx="551217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P-01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1790" y="1861542"/>
            <a:ext cx="199441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rewriting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2157" y="2366963"/>
            <a:ext cx="4973092" cy="3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93"/>
              </a:lnSpc>
              <a:spcAft>
                <a:spcPts val="800"/>
              </a:spcAft>
              <a:buNone/>
            </a:pPr>
            <a:r>
              <a:rPr lang="en-US" sz="1466" dirty="0">
                <a:solidFill>
                  <a:srgbClr val="4FC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</a:t>
            </a:r>
            <a:pPr algn="l" indent="0" marL="0">
              <a:lnSpc>
                <a:spcPts val="2893"/>
              </a:lnSpc>
              <a:spcAft>
                <a:spcPts val="800"/>
              </a:spcAft>
              <a:buNone/>
            </a:pPr>
            <a:r>
              <a:rPr lang="en-US" sz="1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index sees a query written for it.</a:t>
            </a:r>
            <a:endParaRPr lang="en-US" sz="1866" dirty="0"/>
          </a:p>
        </p:txBody>
      </p:sp>
      <p:sp>
        <p:nvSpPr>
          <p:cNvPr id="8" name="Text 6"/>
          <p:cNvSpPr/>
          <p:nvPr/>
        </p:nvSpPr>
        <p:spPr>
          <a:xfrm>
            <a:off x="842157" y="2836069"/>
            <a:ext cx="4973092" cy="3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93"/>
              </a:lnSpc>
              <a:buNone/>
            </a:pPr>
            <a:r>
              <a:rPr lang="en-US" sz="14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COSTS</a:t>
            </a:r>
            <a:pPr algn="l" indent="0" marL="0">
              <a:lnSpc>
                <a:spcPts val="2893"/>
              </a:lnSpc>
              <a:buNone/>
            </a:pPr>
            <a:r>
              <a:rPr lang="en-US" sz="18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One extra model call per retrieval.</a:t>
            </a:r>
            <a:endParaRPr lang="en-US" sz="1866" dirty="0"/>
          </a:p>
        </p:txBody>
      </p:sp>
      <p:sp>
        <p:nvSpPr>
          <p:cNvPr id="9" name="Text 7"/>
          <p:cNvSpPr/>
          <p:nvPr/>
        </p:nvSpPr>
        <p:spPr>
          <a:xfrm>
            <a:off x="6204383" y="1645642"/>
            <a:ext cx="5409046" cy="1939330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71016" y="1899642"/>
            <a:ext cx="551217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P-02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80650" y="1861542"/>
            <a:ext cx="97656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71016" y="2366963"/>
            <a:ext cx="4973295" cy="3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93"/>
              </a:lnSpc>
              <a:spcAft>
                <a:spcPts val="800"/>
              </a:spcAft>
              <a:buNone/>
            </a:pPr>
            <a:r>
              <a:rPr lang="en-US" sz="1466" dirty="0">
                <a:solidFill>
                  <a:srgbClr val="4FC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</a:t>
            </a:r>
            <a:pPr algn="l" indent="0" marL="0">
              <a:lnSpc>
                <a:spcPts val="2893"/>
              </a:lnSpc>
              <a:spcAft>
                <a:spcPts val="800"/>
              </a:spcAft>
              <a:buNone/>
            </a:pPr>
            <a:r>
              <a:rPr lang="en-US" sz="1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right source per question.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6471016" y="2836069"/>
            <a:ext cx="4973295" cy="3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93"/>
              </a:lnSpc>
              <a:buNone/>
            </a:pPr>
            <a:r>
              <a:rPr lang="en-US" sz="14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COSTS</a:t>
            </a:r>
            <a:pPr algn="l" indent="0" marL="0">
              <a:lnSpc>
                <a:spcPts val="2893"/>
              </a:lnSpc>
              <a:buNone/>
            </a:pPr>
            <a:r>
              <a:rPr lang="en-US" sz="18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router to maintain and debug.</a:t>
            </a:r>
            <a:endParaRPr lang="en-US" sz="1866" dirty="0"/>
          </a:p>
        </p:txBody>
      </p:sp>
      <p:sp>
        <p:nvSpPr>
          <p:cNvPr id="14" name="Text 12"/>
          <p:cNvSpPr/>
          <p:nvPr/>
        </p:nvSpPr>
        <p:spPr>
          <a:xfrm>
            <a:off x="575523" y="3805039"/>
            <a:ext cx="5408847" cy="1939528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42157" y="4059039"/>
            <a:ext cx="551217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P-03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1790" y="4020939"/>
            <a:ext cx="121494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Multi-hop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2157" y="4526359"/>
            <a:ext cx="4973092" cy="3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93"/>
              </a:lnSpc>
              <a:spcAft>
                <a:spcPts val="800"/>
              </a:spcAft>
              <a:buNone/>
            </a:pPr>
            <a:r>
              <a:rPr lang="en-US" sz="1466" dirty="0">
                <a:solidFill>
                  <a:srgbClr val="4FC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</a:t>
            </a:r>
            <a:pPr algn="l" indent="0" marL="0">
              <a:lnSpc>
                <a:spcPts val="2893"/>
              </a:lnSpc>
              <a:spcAft>
                <a:spcPts val="800"/>
              </a:spcAft>
              <a:buNone/>
            </a:pPr>
            <a:r>
              <a:rPr lang="en-US" sz="1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Answers that join two documents.</a:t>
            </a:r>
            <a:endParaRPr lang="en-US" sz="1866" dirty="0"/>
          </a:p>
        </p:txBody>
      </p:sp>
      <p:sp>
        <p:nvSpPr>
          <p:cNvPr id="18" name="Text 16"/>
          <p:cNvSpPr/>
          <p:nvPr/>
        </p:nvSpPr>
        <p:spPr>
          <a:xfrm>
            <a:off x="842157" y="4995466"/>
            <a:ext cx="4973092" cy="3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93"/>
              </a:lnSpc>
              <a:buNone/>
            </a:pPr>
            <a:r>
              <a:rPr lang="en-US" sz="14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COSTS</a:t>
            </a:r>
            <a:pPr algn="l" indent="0" marL="0">
              <a:lnSpc>
                <a:spcPts val="2893"/>
              </a:lnSpc>
              <a:buNone/>
            </a:pPr>
            <a:r>
              <a:rPr lang="en-US" sz="18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Latency multiplies by hop count.</a:t>
            </a:r>
            <a:endParaRPr lang="en-US" sz="1866" dirty="0"/>
          </a:p>
        </p:txBody>
      </p:sp>
      <p:sp>
        <p:nvSpPr>
          <p:cNvPr id="19" name="Text 17"/>
          <p:cNvSpPr/>
          <p:nvPr/>
        </p:nvSpPr>
        <p:spPr>
          <a:xfrm>
            <a:off x="6204383" y="3805039"/>
            <a:ext cx="5409046" cy="1939528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71016" y="4059039"/>
            <a:ext cx="551217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P-04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80650" y="4020939"/>
            <a:ext cx="216803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grading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71016" y="4526359"/>
            <a:ext cx="4973295" cy="3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93"/>
              </a:lnSpc>
              <a:spcAft>
                <a:spcPts val="800"/>
              </a:spcAft>
              <a:buNone/>
            </a:pPr>
            <a:r>
              <a:rPr lang="en-US" sz="1466" dirty="0">
                <a:solidFill>
                  <a:srgbClr val="4FC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</a:t>
            </a:r>
            <a:pPr algn="l" indent="0" marL="0">
              <a:lnSpc>
                <a:spcPts val="2893"/>
              </a:lnSpc>
              <a:spcAft>
                <a:spcPts val="800"/>
              </a:spcAft>
              <a:buNone/>
            </a:pPr>
            <a:r>
              <a:rPr lang="en-US" sz="1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loop can tell that it failed.</a:t>
            </a:r>
            <a:endParaRPr lang="en-US" sz="1866" dirty="0"/>
          </a:p>
        </p:txBody>
      </p:sp>
      <p:sp>
        <p:nvSpPr>
          <p:cNvPr id="23" name="Text 21"/>
          <p:cNvSpPr/>
          <p:nvPr/>
        </p:nvSpPr>
        <p:spPr>
          <a:xfrm>
            <a:off x="6471016" y="4995466"/>
            <a:ext cx="4973295" cy="3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93"/>
              </a:lnSpc>
              <a:buNone/>
            </a:pPr>
            <a:r>
              <a:rPr lang="en-US" sz="14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COSTS</a:t>
            </a:r>
            <a:pPr algn="l" indent="0" marL="0">
              <a:lnSpc>
                <a:spcPts val="2893"/>
              </a:lnSpc>
              <a:buNone/>
            </a:pPr>
            <a:r>
              <a:rPr lang="en-US" sz="18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judge whose mistakes are yours.</a:t>
            </a:r>
            <a:endParaRPr lang="en-US" sz="1866" dirty="0"/>
          </a:p>
        </p:txBody>
      </p:sp>
      <p:sp>
        <p:nvSpPr>
          <p:cNvPr id="24" name="Text 22"/>
          <p:cNvSpPr/>
          <p:nvPr/>
        </p:nvSpPr>
        <p:spPr>
          <a:xfrm>
            <a:off x="6926515" y="5981502"/>
            <a:ext cx="4686914" cy="465138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25299" y="6078736"/>
            <a:ext cx="207212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04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7520885" y="5994202"/>
            <a:ext cx="0" cy="43973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713321" y="6078736"/>
            <a:ext cx="2243112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ADOPTABLE PATTERNS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10104887" y="5994202"/>
            <a:ext cx="0" cy="43973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297323" y="6078736"/>
            <a:ext cx="1139667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8FA3C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SHEET 04/06</a:t>
            </a:r>
            <a:endParaRPr lang="en-US" sz="13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5523" y="508000"/>
            <a:ext cx="11258664" cy="484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13"/>
              </a:lnSpc>
              <a:spcAft>
                <a:spcPts val="1866"/>
              </a:spcAft>
              <a:buNone/>
            </a:pPr>
            <a:r>
              <a:rPr lang="en-US" sz="2933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costs, and what to decide first</a:t>
            </a:r>
            <a:endParaRPr lang="en-US" sz="2933" dirty="0"/>
          </a:p>
        </p:txBody>
      </p:sp>
      <p:sp>
        <p:nvSpPr>
          <p:cNvPr id="3" name="Text 1"/>
          <p:cNvSpPr/>
          <p:nvPr/>
        </p:nvSpPr>
        <p:spPr>
          <a:xfrm>
            <a:off x="575523" y="1229122"/>
            <a:ext cx="5383652" cy="3213298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8220" y="1241822"/>
            <a:ext cx="5358259" cy="504627"/>
          </a:xfrm>
          <a:prstGeom prst="rect">
            <a:avLst/>
          </a:prstGeom>
          <a:solidFill>
            <a:srgbClr val="0E1B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88220" y="1740098"/>
            <a:ext cx="5358259" cy="0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48864" y="1241822"/>
            <a:ext cx="0" cy="49192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08232" y="1343422"/>
            <a:ext cx="116557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73"/>
              </a:lnSpc>
              <a:buNone/>
            </a:pPr>
            <a:r>
              <a:rPr lang="en-US" sz="1466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A</a:t>
            </a:r>
            <a:endParaRPr lang="en-US" sz="1466" dirty="0"/>
          </a:p>
        </p:txBody>
      </p:sp>
      <p:sp>
        <p:nvSpPr>
          <p:cNvPr id="8" name="Text 6"/>
          <p:cNvSpPr/>
          <p:nvPr/>
        </p:nvSpPr>
        <p:spPr>
          <a:xfrm>
            <a:off x="1375225" y="1343422"/>
            <a:ext cx="1581207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73"/>
              </a:lnSpc>
              <a:buNone/>
            </a:pPr>
            <a:r>
              <a:rPr lang="en-US" sz="1466" dirty="0">
                <a:solidFill>
                  <a:srgbClr val="E8EEF7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WHAT CHANGES</a:t>
            </a:r>
            <a:endParaRPr lang="en-US" sz="1466" dirty="0"/>
          </a:p>
        </p:txBody>
      </p:sp>
      <p:sp>
        <p:nvSpPr>
          <p:cNvPr id="9" name="Text 7"/>
          <p:cNvSpPr/>
          <p:nvPr/>
        </p:nvSpPr>
        <p:spPr>
          <a:xfrm>
            <a:off x="808232" y="2101850"/>
            <a:ext cx="84513" cy="84534"/>
          </a:xfrm>
          <a:prstGeom prst="rect">
            <a:avLst/>
          </a:prstGeom>
          <a:solidFill>
            <a:srgbClr val="4FC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61970" y="2000250"/>
            <a:ext cx="3561459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 becomes a distribution</a:t>
            </a:r>
            <a:endParaRPr lang="en-US" sz="1866" dirty="0"/>
          </a:p>
        </p:txBody>
      </p:sp>
      <p:sp>
        <p:nvSpPr>
          <p:cNvPr id="11" name="Text 9"/>
          <p:cNvSpPr/>
          <p:nvPr/>
        </p:nvSpPr>
        <p:spPr>
          <a:xfrm>
            <a:off x="808232" y="2597944"/>
            <a:ext cx="84513" cy="84534"/>
          </a:xfrm>
          <a:prstGeom prst="rect">
            <a:avLst/>
          </a:prstGeom>
          <a:solidFill>
            <a:srgbClr val="4FC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61970" y="2496344"/>
            <a:ext cx="3652115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cost scales with attempts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808232" y="3094038"/>
            <a:ext cx="84513" cy="84534"/>
          </a:xfrm>
          <a:prstGeom prst="rect">
            <a:avLst/>
          </a:prstGeom>
          <a:solidFill>
            <a:srgbClr val="4FC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61970" y="2992438"/>
            <a:ext cx="4757786" cy="68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question can take different paths</a:t>
            </a:r>
            <a:endParaRPr lang="en-US" sz="1866" dirty="0"/>
          </a:p>
        </p:txBody>
      </p:sp>
      <p:sp>
        <p:nvSpPr>
          <p:cNvPr id="15" name="Text 13"/>
          <p:cNvSpPr/>
          <p:nvPr/>
        </p:nvSpPr>
        <p:spPr>
          <a:xfrm>
            <a:off x="808232" y="3933825"/>
            <a:ext cx="84513" cy="84534"/>
          </a:xfrm>
          <a:prstGeom prst="rect">
            <a:avLst/>
          </a:prstGeom>
          <a:solidFill>
            <a:srgbClr val="4FC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61970" y="3832225"/>
            <a:ext cx="3794573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Failures become “never stopped”</a:t>
            </a:r>
            <a:endParaRPr lang="en-US" sz="1866" dirty="0"/>
          </a:p>
        </p:txBody>
      </p:sp>
      <p:sp>
        <p:nvSpPr>
          <p:cNvPr id="17" name="Text 15"/>
          <p:cNvSpPr/>
          <p:nvPr/>
        </p:nvSpPr>
        <p:spPr>
          <a:xfrm>
            <a:off x="6229975" y="1229122"/>
            <a:ext cx="5383652" cy="3213298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42672" y="1241822"/>
            <a:ext cx="5358259" cy="504627"/>
          </a:xfrm>
          <a:prstGeom prst="rect">
            <a:avLst/>
          </a:prstGeom>
          <a:solidFill>
            <a:srgbClr val="0E1B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42672" y="1740098"/>
            <a:ext cx="5358259" cy="0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803316" y="1241822"/>
            <a:ext cx="0" cy="49192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62684" y="1343422"/>
            <a:ext cx="116557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73"/>
              </a:lnSpc>
              <a:buNone/>
            </a:pPr>
            <a:r>
              <a:rPr lang="en-US" sz="1466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B</a:t>
            </a:r>
            <a:endParaRPr lang="en-US" sz="1466" dirty="0"/>
          </a:p>
        </p:txBody>
      </p:sp>
      <p:sp>
        <p:nvSpPr>
          <p:cNvPr id="22" name="Text 20"/>
          <p:cNvSpPr/>
          <p:nvPr/>
        </p:nvSpPr>
        <p:spPr>
          <a:xfrm>
            <a:off x="7029677" y="1343422"/>
            <a:ext cx="3030478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73"/>
              </a:lnSpc>
              <a:buNone/>
            </a:pPr>
            <a:r>
              <a:rPr lang="en-US" sz="1466" dirty="0">
                <a:solidFill>
                  <a:srgbClr val="E8EEF7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DECIDE BEFORE YOU BUILD</a:t>
            </a:r>
            <a:endParaRPr lang="en-US" sz="1466" dirty="0"/>
          </a:p>
        </p:txBody>
      </p:sp>
      <p:sp>
        <p:nvSpPr>
          <p:cNvPr id="23" name="Text 21"/>
          <p:cNvSpPr/>
          <p:nvPr/>
        </p:nvSpPr>
        <p:spPr>
          <a:xfrm>
            <a:off x="6462684" y="2273697"/>
            <a:ext cx="84513" cy="84534"/>
          </a:xfrm>
          <a:prstGeom prst="rect">
            <a:avLst/>
          </a:prstGeom>
          <a:solidFill>
            <a:srgbClr val="4FC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16422" y="2172097"/>
            <a:ext cx="3729819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stop condition, written down</a:t>
            </a:r>
            <a:endParaRPr lang="en-US" sz="1866" dirty="0"/>
          </a:p>
        </p:txBody>
      </p:sp>
      <p:sp>
        <p:nvSpPr>
          <p:cNvPr id="25" name="Text 23"/>
          <p:cNvSpPr/>
          <p:nvPr/>
        </p:nvSpPr>
        <p:spPr>
          <a:xfrm>
            <a:off x="6462684" y="2769791"/>
            <a:ext cx="84513" cy="84534"/>
          </a:xfrm>
          <a:prstGeom prst="rect">
            <a:avLst/>
          </a:prstGeom>
          <a:solidFill>
            <a:srgbClr val="4FC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716422" y="2668191"/>
            <a:ext cx="4364407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hop budget, and the ceiling behavior</a:t>
            </a:r>
            <a:endParaRPr lang="en-US" sz="1866" dirty="0"/>
          </a:p>
        </p:txBody>
      </p:sp>
      <p:sp>
        <p:nvSpPr>
          <p:cNvPr id="27" name="Text 25"/>
          <p:cNvSpPr/>
          <p:nvPr/>
        </p:nvSpPr>
        <p:spPr>
          <a:xfrm>
            <a:off x="6462684" y="3265884"/>
            <a:ext cx="84513" cy="84534"/>
          </a:xfrm>
          <a:prstGeom prst="rect">
            <a:avLst/>
          </a:prstGeom>
          <a:solidFill>
            <a:srgbClr val="4FC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716422" y="3164284"/>
            <a:ext cx="4636373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eval set with real multi-hop questions</a:t>
            </a:r>
            <a:endParaRPr lang="en-US" sz="1866" dirty="0"/>
          </a:p>
        </p:txBody>
      </p:sp>
      <p:sp>
        <p:nvSpPr>
          <p:cNvPr id="29" name="Text 27"/>
          <p:cNvSpPr/>
          <p:nvPr/>
        </p:nvSpPr>
        <p:spPr>
          <a:xfrm>
            <a:off x="6462684" y="3761978"/>
            <a:ext cx="84513" cy="84534"/>
          </a:xfrm>
          <a:prstGeom prst="rect">
            <a:avLst/>
          </a:prstGeom>
          <a:solidFill>
            <a:srgbClr val="4FC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16422" y="3660378"/>
            <a:ext cx="3949982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fallback path back to one-shot</a:t>
            </a:r>
            <a:endParaRPr lang="en-US" sz="1866" dirty="0"/>
          </a:p>
        </p:txBody>
      </p:sp>
      <p:sp>
        <p:nvSpPr>
          <p:cNvPr id="31" name="Text 29"/>
          <p:cNvSpPr/>
          <p:nvPr/>
        </p:nvSpPr>
        <p:spPr>
          <a:xfrm>
            <a:off x="575523" y="4645620"/>
            <a:ext cx="11037905" cy="1098947"/>
          </a:xfrm>
          <a:prstGeom prst="rect">
            <a:avLst/>
          </a:prstGeom>
          <a:solidFill>
            <a:srgbClr val="4FC8E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75523" y="4651970"/>
            <a:ext cx="11037905" cy="0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1607080" y="4645620"/>
            <a:ext cx="0" cy="109894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75523" y="5738217"/>
            <a:ext cx="11037905" cy="0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00917" y="4645620"/>
            <a:ext cx="0" cy="1098947"/>
          </a:xfrm>
          <a:prstGeom prst="line">
            <a:avLst/>
          </a:prstGeom>
          <a:noFill/>
          <a:ln w="50794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80247" y="4827588"/>
            <a:ext cx="10675879" cy="73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93"/>
              </a:lnSpc>
              <a:buNone/>
            </a:pPr>
            <a:r>
              <a:rPr lang="en-US" sz="1866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RAG trades a predictable pipeline for a system that can recover. Budget the loop before you open it.</a:t>
            </a:r>
            <a:endParaRPr lang="en-US" sz="1866" dirty="0"/>
          </a:p>
        </p:txBody>
      </p:sp>
      <p:sp>
        <p:nvSpPr>
          <p:cNvPr id="37" name="Text 35"/>
          <p:cNvSpPr/>
          <p:nvPr/>
        </p:nvSpPr>
        <p:spPr>
          <a:xfrm>
            <a:off x="6989999" y="5981502"/>
            <a:ext cx="4623430" cy="465138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188784" y="6078736"/>
            <a:ext cx="207212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05</a:t>
            </a:r>
            <a:endParaRPr lang="en-US" sz="1333" dirty="0"/>
          </a:p>
        </p:txBody>
      </p:sp>
      <p:sp>
        <p:nvSpPr>
          <p:cNvPr id="39" name="Shape 37"/>
          <p:cNvSpPr/>
          <p:nvPr/>
        </p:nvSpPr>
        <p:spPr>
          <a:xfrm>
            <a:off x="7584369" y="5994202"/>
            <a:ext cx="0" cy="43973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776805" y="6078736"/>
            <a:ext cx="2178359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AND DECISIONS</a:t>
            </a:r>
            <a:endParaRPr lang="en-US" sz="1333" dirty="0"/>
          </a:p>
        </p:txBody>
      </p:sp>
      <p:sp>
        <p:nvSpPr>
          <p:cNvPr id="41" name="Shape 39"/>
          <p:cNvSpPr/>
          <p:nvPr/>
        </p:nvSpPr>
        <p:spPr>
          <a:xfrm>
            <a:off x="10104887" y="5994202"/>
            <a:ext cx="0" cy="43973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0297323" y="6078736"/>
            <a:ext cx="1139667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8FA3C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SHEET 05/06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5523" y="1637506"/>
            <a:ext cx="4075038" cy="114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12"/>
              </a:lnSpc>
              <a:buNone/>
            </a:pPr>
            <a:r>
              <a:rPr lang="en-US" sz="6932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</a:t>
            </a:r>
            <a:endParaRPr lang="en-US" sz="6932" dirty="0"/>
          </a:p>
        </p:txBody>
      </p:sp>
      <p:sp>
        <p:nvSpPr>
          <p:cNvPr id="3" name="Text 1"/>
          <p:cNvSpPr/>
          <p:nvPr/>
        </p:nvSpPr>
        <p:spPr>
          <a:xfrm>
            <a:off x="575523" y="3086894"/>
            <a:ext cx="1862069" cy="12700"/>
          </a:xfrm>
          <a:prstGeom prst="rect">
            <a:avLst/>
          </a:prstGeom>
          <a:solidFill>
            <a:srgbClr val="4FC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5523" y="3336528"/>
            <a:ext cx="4075038" cy="73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93"/>
              </a:lnSpc>
              <a:buNone/>
            </a:pPr>
            <a:r>
              <a:rPr lang="en-US" sz="1866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things worth settling before the next build.</a:t>
            </a:r>
            <a:endParaRPr lang="en-US" sz="1866" dirty="0"/>
          </a:p>
        </p:txBody>
      </p:sp>
      <p:sp>
        <p:nvSpPr>
          <p:cNvPr id="5" name="Shape 3"/>
          <p:cNvSpPr/>
          <p:nvPr/>
        </p:nvSpPr>
        <p:spPr>
          <a:xfrm>
            <a:off x="5349331" y="2543373"/>
            <a:ext cx="6264098" cy="0"/>
          </a:xfrm>
          <a:prstGeom prst="line">
            <a:avLst/>
          </a:prstGeom>
          <a:noFill/>
          <a:ln w="12698">
            <a:solidFill>
              <a:srgbClr val="2A4A8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49331" y="1546423"/>
            <a:ext cx="275608" cy="348655"/>
          </a:xfrm>
          <a:prstGeom prst="rect">
            <a:avLst/>
          </a:prstGeom>
          <a:noFill/>
          <a:ln/>
        </p:spPr>
        <p:txBody>
          <a:bodyPr wrap="none" lIns="0" tIns="33862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6411" y="1546423"/>
            <a:ext cx="5872159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00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of our failures are retrieval, and which are generation?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349331" y="3356173"/>
            <a:ext cx="6264098" cy="0"/>
          </a:xfrm>
          <a:prstGeom prst="line">
            <a:avLst/>
          </a:prstGeom>
          <a:noFill/>
          <a:ln w="12698">
            <a:solidFill>
              <a:srgbClr val="2A4A8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49331" y="2752923"/>
            <a:ext cx="275608" cy="348655"/>
          </a:xfrm>
          <a:prstGeom prst="rect">
            <a:avLst/>
          </a:prstGeom>
          <a:noFill/>
          <a:ln/>
        </p:spPr>
        <p:txBody>
          <a:bodyPr wrap="none" lIns="0" tIns="33862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56411" y="2752923"/>
            <a:ext cx="5568827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00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our stop condition, and who owns it?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49331" y="3565723"/>
            <a:ext cx="275608" cy="348655"/>
          </a:xfrm>
          <a:prstGeom prst="rect">
            <a:avLst/>
          </a:prstGeom>
          <a:noFill/>
          <a:ln/>
        </p:spPr>
        <p:txBody>
          <a:bodyPr wrap="none" lIns="0" tIns="33862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56411" y="3565723"/>
            <a:ext cx="5076699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00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would we know the loop got better?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5523" y="5207397"/>
            <a:ext cx="11037905" cy="0"/>
          </a:xfrm>
          <a:prstGeom prst="line">
            <a:avLst/>
          </a:prstGeom>
          <a:noFill/>
          <a:ln w="12698">
            <a:solidFill>
              <a:srgbClr val="2A4A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5523" y="5429647"/>
            <a:ext cx="127747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23425" y="5416947"/>
            <a:ext cx="2233804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· TEAM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10916" y="5981502"/>
            <a:ext cx="3702513" cy="465138"/>
          </a:xfrm>
          <a:prstGeom prst="rect">
            <a:avLst/>
          </a:prstGeom>
          <a:noFill/>
          <a:ln w="12698">
            <a:solidFill>
              <a:srgbClr val="4FC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09700" y="6078736"/>
            <a:ext cx="207212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4FC8E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06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8505286" y="5994202"/>
            <a:ext cx="0" cy="43973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97722" y="6078736"/>
            <a:ext cx="1239024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10104887" y="5994202"/>
            <a:ext cx="0" cy="439737"/>
          </a:xfrm>
          <a:prstGeom prst="line">
            <a:avLst/>
          </a:prstGeom>
          <a:noFill/>
          <a:ln w="12698">
            <a:solidFill>
              <a:srgbClr val="4FC8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297323" y="6078736"/>
            <a:ext cx="1139667" cy="2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333" dirty="0">
                <a:solidFill>
                  <a:srgbClr val="8FA3C8"/>
                </a:solidFill>
                <a:latin typeface="JetBrainsMono" pitchFamily="34" charset="0"/>
                <a:ea typeface="JetBrainsMono" pitchFamily="34" charset="-122"/>
                <a:cs typeface="JetBrainsMono" pitchFamily="34" charset="-120"/>
              </a:rPr>
              <a:t>SHEET 06/06</a:t>
            </a:r>
            <a:endParaRPr lang="en-US" sz="13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2026-08-27T18:52:18Z</dcterms:created>
  <dcterms:modified xsi:type="dcterms:W3CDTF">2026-08-27T18:52:18Z</dcterms:modified>
</cp:coreProperties>
</file>