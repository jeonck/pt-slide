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-4-2.svg" ContentType="image/svg+xml"/>
  <Override PartName="/ppt/media/image-4-4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1599" y="484386"/>
            <a:ext cx="11327869" cy="260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3"/>
              </a:lnSpc>
              <a:spcAft>
                <a:spcPts val="933"/>
              </a:spcAft>
              <a:buNone/>
            </a:pPr>
            <a:r>
              <a:rPr lang="en-US" sz="1466" b="1" dirty="0">
                <a:solidFill>
                  <a:srgbClr val="6B7280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PLATFORM ENGINEERING / 2026</a:t>
            </a:r>
            <a:endParaRPr lang="en-US" sz="1466" dirty="0"/>
          </a:p>
        </p:txBody>
      </p:sp>
      <p:sp>
        <p:nvSpPr>
          <p:cNvPr id="3" name="Text 1"/>
          <p:cNvSpPr/>
          <p:nvPr/>
        </p:nvSpPr>
        <p:spPr>
          <a:xfrm>
            <a:off x="541599" y="863600"/>
            <a:ext cx="11327869" cy="4232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33"/>
              </a:lnSpc>
              <a:buNone/>
            </a:pPr>
            <a:r>
              <a:rPr lang="en-US" sz="2666" b="1" dirty="0">
                <a:solidFill>
                  <a:srgbClr val="1A1A1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MLOps Platform Roadmap</a:t>
            </a:r>
            <a:endParaRPr lang="en-US" sz="2666" dirty="0"/>
          </a:p>
        </p:txBody>
      </p:sp>
      <p:sp>
        <p:nvSpPr>
          <p:cNvPr id="4" name="Text 2"/>
          <p:cNvSpPr/>
          <p:nvPr/>
        </p:nvSpPr>
        <p:spPr>
          <a:xfrm>
            <a:off x="541599" y="1286867"/>
            <a:ext cx="11105754" cy="12700"/>
          </a:xfrm>
          <a:prstGeom prst="rect">
            <a:avLst/>
          </a:prstGeom>
          <a:solidFill>
            <a:srgbClr val="D1D5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41599" y="2647752"/>
            <a:ext cx="2031492" cy="50800"/>
          </a:xfrm>
          <a:prstGeom prst="rect">
            <a:avLst/>
          </a:prstGeom>
          <a:solidFill>
            <a:srgbClr val="0B5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41599" y="3071019"/>
            <a:ext cx="8115676" cy="834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86"/>
              </a:lnSpc>
              <a:buNone/>
            </a:pPr>
            <a:r>
              <a:rPr lang="en-US" sz="2266" dirty="0">
                <a:solidFill>
                  <a:srgbClr val="1A1A1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What to build first, what to buy,</a:t>
            </a:r>
            <a:endParaRPr lang="en-US" sz="2266" dirty="0"/>
          </a:p>
          <a:p>
            <a:pPr algn="l" indent="0" marL="0">
              <a:lnSpc>
                <a:spcPts val="3286"/>
              </a:lnSpc>
              <a:buNone/>
            </a:pPr>
            <a:r>
              <a:rPr lang="en-US" sz="2266" dirty="0">
                <a:solidFill>
                  <a:srgbClr val="1A1A1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and what to stop each phase on.</a:t>
            </a:r>
            <a:endParaRPr lang="en-US" sz="2266" dirty="0"/>
          </a:p>
        </p:txBody>
      </p:sp>
      <p:sp>
        <p:nvSpPr>
          <p:cNvPr id="7" name="Shape 5"/>
          <p:cNvSpPr/>
          <p:nvPr/>
        </p:nvSpPr>
        <p:spPr>
          <a:xfrm>
            <a:off x="541599" y="4989314"/>
            <a:ext cx="11105754" cy="0"/>
          </a:xfrm>
          <a:prstGeom prst="line">
            <a:avLst/>
          </a:prstGeom>
          <a:noFill/>
          <a:ln w="12698">
            <a:solidFill>
              <a:srgbClr val="D1D5DB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41599" y="5232598"/>
            <a:ext cx="2292285" cy="260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3"/>
              </a:lnSpc>
              <a:spcAft>
                <a:spcPts val="667"/>
              </a:spcAft>
              <a:buNone/>
            </a:pPr>
            <a:r>
              <a:rPr lang="en-US" sz="1466" b="1" dirty="0">
                <a:solidFill>
                  <a:srgbClr val="6B7280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PREPARED BY</a:t>
            </a:r>
            <a:endParaRPr lang="en-US" sz="1466" dirty="0"/>
          </a:p>
        </p:txBody>
      </p:sp>
      <p:sp>
        <p:nvSpPr>
          <p:cNvPr id="9" name="Text 7"/>
          <p:cNvSpPr/>
          <p:nvPr/>
        </p:nvSpPr>
        <p:spPr>
          <a:xfrm>
            <a:off x="541599" y="5577880"/>
            <a:ext cx="2292285" cy="3319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13"/>
              </a:lnSpc>
              <a:buNone/>
            </a:pPr>
            <a:r>
              <a:rPr lang="en-US" sz="1866" dirty="0">
                <a:solidFill>
                  <a:srgbClr val="1A1A1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PRESENTER · TEAM</a:t>
            </a:r>
            <a:endParaRPr lang="en-US" sz="1866" dirty="0"/>
          </a:p>
        </p:txBody>
      </p:sp>
      <p:sp>
        <p:nvSpPr>
          <p:cNvPr id="10" name="Text 8"/>
          <p:cNvSpPr/>
          <p:nvPr/>
        </p:nvSpPr>
        <p:spPr>
          <a:xfrm>
            <a:off x="3669184" y="5232598"/>
            <a:ext cx="841799" cy="260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3"/>
              </a:lnSpc>
              <a:spcAft>
                <a:spcPts val="667"/>
              </a:spcAft>
              <a:buNone/>
            </a:pPr>
            <a:r>
              <a:rPr lang="en-US" sz="1466" b="1" dirty="0">
                <a:solidFill>
                  <a:srgbClr val="6B7280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DATE</a:t>
            </a:r>
            <a:endParaRPr lang="en-US" sz="1466" dirty="0"/>
          </a:p>
        </p:txBody>
      </p:sp>
      <p:sp>
        <p:nvSpPr>
          <p:cNvPr id="11" name="Text 9"/>
          <p:cNvSpPr/>
          <p:nvPr/>
        </p:nvSpPr>
        <p:spPr>
          <a:xfrm>
            <a:off x="3669184" y="5577880"/>
            <a:ext cx="841799" cy="3319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13"/>
              </a:lnSpc>
              <a:buNone/>
            </a:pPr>
            <a:r>
              <a:rPr lang="en-US" sz="1866" dirty="0">
                <a:solidFill>
                  <a:srgbClr val="1A1A1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2026.08</a:t>
            </a:r>
            <a:endParaRPr lang="en-US" sz="1866" dirty="0"/>
          </a:p>
        </p:txBody>
      </p:sp>
      <p:sp>
        <p:nvSpPr>
          <p:cNvPr id="12" name="Text 10"/>
          <p:cNvSpPr/>
          <p:nvPr/>
        </p:nvSpPr>
        <p:spPr>
          <a:xfrm>
            <a:off x="5374725" y="5232598"/>
            <a:ext cx="2719660" cy="260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3"/>
              </a:lnSpc>
              <a:spcAft>
                <a:spcPts val="667"/>
              </a:spcAft>
              <a:buNone/>
            </a:pPr>
            <a:r>
              <a:rPr lang="en-US" sz="1466" b="1" dirty="0">
                <a:solidFill>
                  <a:srgbClr val="6B7280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AUDIENCE</a:t>
            </a:r>
            <a:endParaRPr lang="en-US" sz="1466" dirty="0"/>
          </a:p>
        </p:txBody>
      </p:sp>
      <p:sp>
        <p:nvSpPr>
          <p:cNvPr id="13" name="Text 11"/>
          <p:cNvSpPr/>
          <p:nvPr/>
        </p:nvSpPr>
        <p:spPr>
          <a:xfrm>
            <a:off x="5374725" y="5577880"/>
            <a:ext cx="2719660" cy="3319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13"/>
              </a:lnSpc>
              <a:buNone/>
            </a:pPr>
            <a:r>
              <a:rPr lang="en-US" sz="1866" dirty="0">
                <a:solidFill>
                  <a:srgbClr val="1A1A1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PLATFORM &amp; ML LEADS</a:t>
            </a:r>
            <a:endParaRPr lang="en-US" sz="1866" dirty="0"/>
          </a:p>
        </p:txBody>
      </p:sp>
      <p:sp>
        <p:nvSpPr>
          <p:cNvPr id="14" name="Text 12"/>
          <p:cNvSpPr/>
          <p:nvPr/>
        </p:nvSpPr>
        <p:spPr>
          <a:xfrm>
            <a:off x="319484" y="6113066"/>
            <a:ext cx="11327869" cy="236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866"/>
              </a:lnSpc>
              <a:buNone/>
            </a:pPr>
            <a:r>
              <a:rPr lang="en-US" sz="1333" dirty="0">
                <a:solidFill>
                  <a:srgbClr val="6B7280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MLOPS PLATFORM ROADMAP · SHEET 01/07 · NO EXTERNAL DATA CITED</a:t>
            </a:r>
            <a:endParaRPr lang="en-US" sz="1333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1599" y="484386"/>
            <a:ext cx="11327869" cy="260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3"/>
              </a:lnSpc>
              <a:spcAft>
                <a:spcPts val="933"/>
              </a:spcAft>
              <a:buNone/>
            </a:pPr>
            <a:r>
              <a:rPr lang="en-US" sz="1466" b="1" dirty="0">
                <a:solidFill>
                  <a:srgbClr val="6B7280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DIAGNOSIS</a:t>
            </a:r>
            <a:endParaRPr lang="en-US" sz="1466" dirty="0"/>
          </a:p>
        </p:txBody>
      </p:sp>
      <p:sp>
        <p:nvSpPr>
          <p:cNvPr id="3" name="Text 1"/>
          <p:cNvSpPr/>
          <p:nvPr/>
        </p:nvSpPr>
        <p:spPr>
          <a:xfrm>
            <a:off x="541599" y="863600"/>
            <a:ext cx="11327869" cy="4232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33"/>
              </a:lnSpc>
              <a:buNone/>
            </a:pPr>
            <a:r>
              <a:rPr lang="en-US" sz="2666" b="1" dirty="0">
                <a:solidFill>
                  <a:srgbClr val="1A1A1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The problem is usually not MLOps — it is repeatability</a:t>
            </a:r>
            <a:endParaRPr lang="en-US" sz="2666" dirty="0"/>
          </a:p>
        </p:txBody>
      </p:sp>
      <p:sp>
        <p:nvSpPr>
          <p:cNvPr id="4" name="Text 2"/>
          <p:cNvSpPr/>
          <p:nvPr/>
        </p:nvSpPr>
        <p:spPr>
          <a:xfrm>
            <a:off x="541599" y="1286867"/>
            <a:ext cx="11105754" cy="12700"/>
          </a:xfrm>
          <a:prstGeom prst="rect">
            <a:avLst/>
          </a:prstGeom>
          <a:solidFill>
            <a:srgbClr val="D1D5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41599" y="1570434"/>
            <a:ext cx="2624077" cy="3770511"/>
          </a:xfrm>
          <a:prstGeom prst="rect">
            <a:avLst/>
          </a:prstGeom>
          <a:noFill/>
          <a:ln w="12698">
            <a:solidFill>
              <a:srgbClr val="D1D5D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08232" y="1820069"/>
            <a:ext cx="2132626" cy="3319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13"/>
              </a:lnSpc>
              <a:spcAft>
                <a:spcPts val="1200"/>
              </a:spcAft>
              <a:buNone/>
            </a:pPr>
            <a:r>
              <a:rPr lang="en-US" sz="1866" b="1" dirty="0">
                <a:solidFill>
                  <a:srgbClr val="6B7280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01</a:t>
            </a:r>
            <a:endParaRPr lang="en-US" sz="1866" dirty="0"/>
          </a:p>
        </p:txBody>
      </p:sp>
      <p:sp>
        <p:nvSpPr>
          <p:cNvPr id="7" name="Text 5"/>
          <p:cNvSpPr/>
          <p:nvPr/>
        </p:nvSpPr>
        <p:spPr>
          <a:xfrm>
            <a:off x="808232" y="2304455"/>
            <a:ext cx="2132626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00"/>
              </a:lnSpc>
              <a:spcAft>
                <a:spcPts val="933"/>
              </a:spcAft>
              <a:buNone/>
            </a:pPr>
            <a:r>
              <a:rPr lang="en-US" sz="2000" b="1" dirty="0">
                <a:solidFill>
                  <a:srgbClr val="1A1A1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Training lives in notebooks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08232" y="3083322"/>
            <a:ext cx="2132626" cy="1327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13"/>
              </a:lnSpc>
              <a:buNone/>
            </a:pPr>
            <a:r>
              <a:rPr lang="en-US" sz="1866" dirty="0">
                <a:solidFill>
                  <a:srgbClr val="6B7280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The run that produced the model in production cannot be reproduced.</a:t>
            </a:r>
            <a:endParaRPr lang="en-US" sz="1866" dirty="0"/>
          </a:p>
        </p:txBody>
      </p:sp>
      <p:sp>
        <p:nvSpPr>
          <p:cNvPr id="9" name="Text 7"/>
          <p:cNvSpPr/>
          <p:nvPr/>
        </p:nvSpPr>
        <p:spPr>
          <a:xfrm>
            <a:off x="3368825" y="1570434"/>
            <a:ext cx="2624077" cy="3770511"/>
          </a:xfrm>
          <a:prstGeom prst="rect">
            <a:avLst/>
          </a:prstGeom>
          <a:noFill/>
          <a:ln w="12698">
            <a:solidFill>
              <a:srgbClr val="D1D5D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635458" y="1820069"/>
            <a:ext cx="2132626" cy="3319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13"/>
              </a:lnSpc>
              <a:spcAft>
                <a:spcPts val="1200"/>
              </a:spcAft>
              <a:buNone/>
            </a:pPr>
            <a:r>
              <a:rPr lang="en-US" sz="1866" b="1" dirty="0">
                <a:solidFill>
                  <a:srgbClr val="6B7280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02</a:t>
            </a:r>
            <a:endParaRPr lang="en-US" sz="1866" dirty="0"/>
          </a:p>
        </p:txBody>
      </p:sp>
      <p:sp>
        <p:nvSpPr>
          <p:cNvPr id="11" name="Text 9"/>
          <p:cNvSpPr/>
          <p:nvPr/>
        </p:nvSpPr>
        <p:spPr>
          <a:xfrm>
            <a:off x="3635458" y="2304455"/>
            <a:ext cx="2132626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00"/>
              </a:lnSpc>
              <a:spcAft>
                <a:spcPts val="933"/>
              </a:spcAft>
              <a:buNone/>
            </a:pPr>
            <a:r>
              <a:rPr lang="en-US" sz="2000" b="1" dirty="0">
                <a:solidFill>
                  <a:srgbClr val="1A1A1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Deployment is a person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635458" y="3083322"/>
            <a:ext cx="2132626" cy="1327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13"/>
              </a:lnSpc>
              <a:buNone/>
            </a:pPr>
            <a:r>
              <a:rPr lang="en-US" sz="1866" dirty="0">
                <a:solidFill>
                  <a:srgbClr val="6B7280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One engineer ships every model, and the steps live in their head.</a:t>
            </a:r>
            <a:endParaRPr lang="en-US" sz="1866" dirty="0"/>
          </a:p>
        </p:txBody>
      </p:sp>
      <p:sp>
        <p:nvSpPr>
          <p:cNvPr id="13" name="Text 11"/>
          <p:cNvSpPr/>
          <p:nvPr/>
        </p:nvSpPr>
        <p:spPr>
          <a:xfrm>
            <a:off x="6196051" y="1570434"/>
            <a:ext cx="2624077" cy="3770511"/>
          </a:xfrm>
          <a:prstGeom prst="rect">
            <a:avLst/>
          </a:prstGeom>
          <a:noFill/>
          <a:ln w="12698">
            <a:solidFill>
              <a:srgbClr val="D1D5D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462684" y="1820069"/>
            <a:ext cx="2132626" cy="3319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13"/>
              </a:lnSpc>
              <a:spcAft>
                <a:spcPts val="1200"/>
              </a:spcAft>
              <a:buNone/>
            </a:pPr>
            <a:r>
              <a:rPr lang="en-US" sz="1866" b="1" dirty="0">
                <a:solidFill>
                  <a:srgbClr val="6B7280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03</a:t>
            </a:r>
            <a:endParaRPr lang="en-US" sz="1866" dirty="0"/>
          </a:p>
        </p:txBody>
      </p:sp>
      <p:sp>
        <p:nvSpPr>
          <p:cNvPr id="15" name="Text 13"/>
          <p:cNvSpPr/>
          <p:nvPr/>
        </p:nvSpPr>
        <p:spPr>
          <a:xfrm>
            <a:off x="6462684" y="2304455"/>
            <a:ext cx="2132626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00"/>
              </a:lnSpc>
              <a:spcAft>
                <a:spcPts val="933"/>
              </a:spcAft>
              <a:buNone/>
            </a:pPr>
            <a:r>
              <a:rPr lang="en-US" sz="2000" b="1" dirty="0">
                <a:solidFill>
                  <a:srgbClr val="1A1A1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Retraining is a memory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462684" y="3083322"/>
            <a:ext cx="2132626" cy="1327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13"/>
              </a:lnSpc>
              <a:buNone/>
            </a:pPr>
            <a:r>
              <a:rPr lang="en-US" sz="1866" dirty="0">
                <a:solidFill>
                  <a:srgbClr val="6B7280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Nobody can say when a model was last refreshed, or on what data.</a:t>
            </a:r>
            <a:endParaRPr lang="en-US" sz="1866" dirty="0"/>
          </a:p>
        </p:txBody>
      </p:sp>
      <p:sp>
        <p:nvSpPr>
          <p:cNvPr id="17" name="Text 15"/>
          <p:cNvSpPr/>
          <p:nvPr/>
        </p:nvSpPr>
        <p:spPr>
          <a:xfrm>
            <a:off x="9023276" y="1570434"/>
            <a:ext cx="2624077" cy="3770511"/>
          </a:xfrm>
          <a:prstGeom prst="rect">
            <a:avLst/>
          </a:prstGeom>
          <a:noFill/>
          <a:ln w="12698">
            <a:solidFill>
              <a:srgbClr val="D1D5D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9289910" y="1820069"/>
            <a:ext cx="2132626" cy="3319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13"/>
              </a:lnSpc>
              <a:spcAft>
                <a:spcPts val="1200"/>
              </a:spcAft>
              <a:buNone/>
            </a:pPr>
            <a:r>
              <a:rPr lang="en-US" sz="1866" b="1" dirty="0">
                <a:solidFill>
                  <a:srgbClr val="6B7280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04</a:t>
            </a:r>
            <a:endParaRPr lang="en-US" sz="1866" dirty="0"/>
          </a:p>
        </p:txBody>
      </p:sp>
      <p:sp>
        <p:nvSpPr>
          <p:cNvPr id="19" name="Text 17"/>
          <p:cNvSpPr/>
          <p:nvPr/>
        </p:nvSpPr>
        <p:spPr>
          <a:xfrm>
            <a:off x="9289910" y="2304455"/>
            <a:ext cx="2132626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00"/>
              </a:lnSpc>
              <a:spcAft>
                <a:spcPts val="933"/>
              </a:spcAft>
              <a:buNone/>
            </a:pPr>
            <a:r>
              <a:rPr lang="en-US" sz="2000" b="1" dirty="0">
                <a:solidFill>
                  <a:srgbClr val="1A1A1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Nobody owns the boundary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289910" y="3083322"/>
            <a:ext cx="2132626" cy="1327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13"/>
              </a:lnSpc>
              <a:buNone/>
            </a:pPr>
            <a:r>
              <a:rPr lang="en-US" sz="1866" dirty="0">
                <a:solidFill>
                  <a:srgbClr val="6B7280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Data platform and ML team each assume the other handles features.</a:t>
            </a:r>
            <a:endParaRPr lang="en-US" sz="1866" dirty="0"/>
          </a:p>
        </p:txBody>
      </p:sp>
      <p:sp>
        <p:nvSpPr>
          <p:cNvPr id="21" name="Text 19"/>
          <p:cNvSpPr/>
          <p:nvPr/>
        </p:nvSpPr>
        <p:spPr>
          <a:xfrm>
            <a:off x="541599" y="5577880"/>
            <a:ext cx="11327869" cy="3319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13"/>
              </a:lnSpc>
              <a:spcBef>
                <a:spcPts val="1866"/>
              </a:spcBef>
              <a:buNone/>
            </a:pPr>
            <a:r>
              <a:rPr lang="en-US" sz="1866" dirty="0">
                <a:solidFill>
                  <a:srgbClr val="6B7280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None of these is fixed by a tool. They are fixed by making one path the only path.</a:t>
            </a:r>
            <a:endParaRPr lang="en-US" sz="1866" dirty="0"/>
          </a:p>
        </p:txBody>
      </p:sp>
      <p:sp>
        <p:nvSpPr>
          <p:cNvPr id="22" name="Text 20"/>
          <p:cNvSpPr/>
          <p:nvPr/>
        </p:nvSpPr>
        <p:spPr>
          <a:xfrm>
            <a:off x="319484" y="6113066"/>
            <a:ext cx="11327869" cy="236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866"/>
              </a:lnSpc>
              <a:buNone/>
            </a:pPr>
            <a:r>
              <a:rPr lang="en-US" sz="1333" dirty="0">
                <a:solidFill>
                  <a:srgbClr val="6B7280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MLOPS PLATFORM ROADMAP · SHEET 02/07 · NO EXTERNAL DATA CITED</a:t>
            </a:r>
            <a:endParaRPr lang="en-US" sz="1333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1599" y="484386"/>
            <a:ext cx="11327869" cy="260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3"/>
              </a:lnSpc>
              <a:spcAft>
                <a:spcPts val="933"/>
              </a:spcAft>
              <a:buNone/>
            </a:pPr>
            <a:r>
              <a:rPr lang="en-US" sz="1466" b="1" dirty="0">
                <a:solidFill>
                  <a:srgbClr val="6B7280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SCOPE</a:t>
            </a:r>
            <a:endParaRPr lang="en-US" sz="1466" dirty="0"/>
          </a:p>
        </p:txBody>
      </p:sp>
      <p:sp>
        <p:nvSpPr>
          <p:cNvPr id="3" name="Text 1"/>
          <p:cNvSpPr/>
          <p:nvPr/>
        </p:nvSpPr>
        <p:spPr>
          <a:xfrm>
            <a:off x="541599" y="863600"/>
            <a:ext cx="11327869" cy="4232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33"/>
              </a:lnSpc>
              <a:buNone/>
            </a:pPr>
            <a:r>
              <a:rPr lang="en-US" sz="2666" b="1" dirty="0">
                <a:solidFill>
                  <a:srgbClr val="1A1A1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 platform owns six capabilities; a project owns none of them</a:t>
            </a:r>
            <a:endParaRPr lang="en-US" sz="2666" dirty="0"/>
          </a:p>
        </p:txBody>
      </p:sp>
      <p:sp>
        <p:nvSpPr>
          <p:cNvPr id="4" name="Text 2"/>
          <p:cNvSpPr/>
          <p:nvPr/>
        </p:nvSpPr>
        <p:spPr>
          <a:xfrm>
            <a:off x="541599" y="1286867"/>
            <a:ext cx="11105754" cy="12700"/>
          </a:xfrm>
          <a:prstGeom prst="rect">
            <a:avLst/>
          </a:prstGeom>
          <a:solidFill>
            <a:srgbClr val="D1D5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41599" y="1570434"/>
            <a:ext cx="3566419" cy="2096294"/>
          </a:xfrm>
          <a:prstGeom prst="rect">
            <a:avLst/>
          </a:prstGeom>
          <a:noFill/>
          <a:ln w="12698">
            <a:solidFill>
              <a:srgbClr val="D1D5D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08232" y="1820069"/>
            <a:ext cx="3093816" cy="3319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13"/>
              </a:lnSpc>
              <a:spcAft>
                <a:spcPts val="1200"/>
              </a:spcAft>
              <a:buNone/>
            </a:pPr>
            <a:r>
              <a:rPr lang="en-US" sz="1866" b="1" dirty="0">
                <a:solidFill>
                  <a:srgbClr val="6B7280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01</a:t>
            </a:r>
            <a:endParaRPr lang="en-US" sz="1866" dirty="0"/>
          </a:p>
        </p:txBody>
      </p:sp>
      <p:sp>
        <p:nvSpPr>
          <p:cNvPr id="7" name="Text 5"/>
          <p:cNvSpPr/>
          <p:nvPr/>
        </p:nvSpPr>
        <p:spPr>
          <a:xfrm>
            <a:off x="808232" y="2304455"/>
            <a:ext cx="3093816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spcAft>
                <a:spcPts val="933"/>
              </a:spcAft>
              <a:buNone/>
            </a:pPr>
            <a:r>
              <a:rPr lang="en-US" sz="2000" b="1" dirty="0">
                <a:solidFill>
                  <a:srgbClr val="1A1A1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Data &amp; features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08232" y="2753122"/>
            <a:ext cx="3093816" cy="6639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13"/>
              </a:lnSpc>
              <a:buNone/>
            </a:pPr>
            <a:r>
              <a:rPr lang="en-US" sz="1866" dirty="0">
                <a:solidFill>
                  <a:srgbClr val="6B7280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One definition, same in training and serving.</a:t>
            </a:r>
            <a:endParaRPr lang="en-US" sz="1866" dirty="0"/>
          </a:p>
        </p:txBody>
      </p:sp>
      <p:sp>
        <p:nvSpPr>
          <p:cNvPr id="9" name="Text 7"/>
          <p:cNvSpPr/>
          <p:nvPr/>
        </p:nvSpPr>
        <p:spPr>
          <a:xfrm>
            <a:off x="4311167" y="1570434"/>
            <a:ext cx="3566419" cy="2096294"/>
          </a:xfrm>
          <a:prstGeom prst="rect">
            <a:avLst/>
          </a:prstGeom>
          <a:noFill/>
          <a:ln w="12698">
            <a:solidFill>
              <a:srgbClr val="D1D5D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577801" y="1820069"/>
            <a:ext cx="3093816" cy="3319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13"/>
              </a:lnSpc>
              <a:spcAft>
                <a:spcPts val="1200"/>
              </a:spcAft>
              <a:buNone/>
            </a:pPr>
            <a:r>
              <a:rPr lang="en-US" sz="1866" b="1" dirty="0">
                <a:solidFill>
                  <a:srgbClr val="6B7280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02</a:t>
            </a:r>
            <a:endParaRPr lang="en-US" sz="1866" dirty="0"/>
          </a:p>
        </p:txBody>
      </p:sp>
      <p:sp>
        <p:nvSpPr>
          <p:cNvPr id="11" name="Text 9"/>
          <p:cNvSpPr/>
          <p:nvPr/>
        </p:nvSpPr>
        <p:spPr>
          <a:xfrm>
            <a:off x="4577801" y="2304455"/>
            <a:ext cx="3093816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spcAft>
                <a:spcPts val="933"/>
              </a:spcAft>
              <a:buNone/>
            </a:pPr>
            <a:r>
              <a:rPr lang="en-US" sz="2000" b="1" dirty="0">
                <a:solidFill>
                  <a:srgbClr val="1A1A1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Training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577801" y="2753122"/>
            <a:ext cx="3093816" cy="6639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13"/>
              </a:lnSpc>
              <a:buNone/>
            </a:pPr>
            <a:r>
              <a:rPr lang="en-US" sz="1866" dirty="0">
                <a:solidFill>
                  <a:srgbClr val="6B7280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Every model comes from a pipeline that can re-run.</a:t>
            </a:r>
            <a:endParaRPr lang="en-US" sz="1866" dirty="0"/>
          </a:p>
        </p:txBody>
      </p:sp>
      <p:sp>
        <p:nvSpPr>
          <p:cNvPr id="13" name="Text 11"/>
          <p:cNvSpPr/>
          <p:nvPr/>
        </p:nvSpPr>
        <p:spPr>
          <a:xfrm>
            <a:off x="8080736" y="1570434"/>
            <a:ext cx="3566617" cy="2096294"/>
          </a:xfrm>
          <a:prstGeom prst="rect">
            <a:avLst/>
          </a:prstGeom>
          <a:noFill/>
          <a:ln w="12698">
            <a:solidFill>
              <a:srgbClr val="D1D5D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8347369" y="1820069"/>
            <a:ext cx="3094018" cy="3319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13"/>
              </a:lnSpc>
              <a:spcAft>
                <a:spcPts val="1200"/>
              </a:spcAft>
              <a:buNone/>
            </a:pPr>
            <a:r>
              <a:rPr lang="en-US" sz="1866" b="1" dirty="0">
                <a:solidFill>
                  <a:srgbClr val="6B7280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03</a:t>
            </a:r>
            <a:endParaRPr lang="en-US" sz="1866" dirty="0"/>
          </a:p>
        </p:txBody>
      </p:sp>
      <p:sp>
        <p:nvSpPr>
          <p:cNvPr id="15" name="Text 13"/>
          <p:cNvSpPr/>
          <p:nvPr/>
        </p:nvSpPr>
        <p:spPr>
          <a:xfrm>
            <a:off x="8347369" y="2304455"/>
            <a:ext cx="3094018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spcAft>
                <a:spcPts val="933"/>
              </a:spcAft>
              <a:buNone/>
            </a:pPr>
            <a:r>
              <a:rPr lang="en-US" sz="2000" b="1" dirty="0">
                <a:solidFill>
                  <a:srgbClr val="1A1A1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Registry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8347369" y="2753122"/>
            <a:ext cx="3094018" cy="6639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13"/>
              </a:lnSpc>
              <a:buNone/>
            </a:pPr>
            <a:r>
              <a:rPr lang="en-US" sz="1866" dirty="0">
                <a:solidFill>
                  <a:srgbClr val="6B7280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 model has a version, a lineage and an owner.</a:t>
            </a:r>
            <a:endParaRPr lang="en-US" sz="1866" dirty="0"/>
          </a:p>
        </p:txBody>
      </p:sp>
      <p:sp>
        <p:nvSpPr>
          <p:cNvPr id="17" name="Text 15"/>
          <p:cNvSpPr/>
          <p:nvPr/>
        </p:nvSpPr>
        <p:spPr>
          <a:xfrm>
            <a:off x="541599" y="3869928"/>
            <a:ext cx="3566419" cy="2096294"/>
          </a:xfrm>
          <a:prstGeom prst="rect">
            <a:avLst/>
          </a:prstGeom>
          <a:noFill/>
          <a:ln w="12698">
            <a:solidFill>
              <a:srgbClr val="D1D5D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808232" y="4119562"/>
            <a:ext cx="3093816" cy="3319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13"/>
              </a:lnSpc>
              <a:spcAft>
                <a:spcPts val="1200"/>
              </a:spcAft>
              <a:buNone/>
            </a:pPr>
            <a:r>
              <a:rPr lang="en-US" sz="1866" b="1" dirty="0">
                <a:solidFill>
                  <a:srgbClr val="6B7280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04</a:t>
            </a:r>
            <a:endParaRPr lang="en-US" sz="1866" dirty="0"/>
          </a:p>
        </p:txBody>
      </p:sp>
      <p:sp>
        <p:nvSpPr>
          <p:cNvPr id="19" name="Text 17"/>
          <p:cNvSpPr/>
          <p:nvPr/>
        </p:nvSpPr>
        <p:spPr>
          <a:xfrm>
            <a:off x="808232" y="4603948"/>
            <a:ext cx="3093816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spcAft>
                <a:spcPts val="933"/>
              </a:spcAft>
              <a:buNone/>
            </a:pPr>
            <a:r>
              <a:rPr lang="en-US" sz="2000" b="1" dirty="0">
                <a:solidFill>
                  <a:srgbClr val="1A1A1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Serving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808232" y="5052616"/>
            <a:ext cx="3093816" cy="6639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13"/>
              </a:lnSpc>
              <a:buNone/>
            </a:pPr>
            <a:r>
              <a:rPr lang="en-US" sz="1866" dirty="0">
                <a:solidFill>
                  <a:srgbClr val="6B7280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Shipping a model is a config change, not a project.</a:t>
            </a:r>
            <a:endParaRPr lang="en-US" sz="1866" dirty="0"/>
          </a:p>
        </p:txBody>
      </p:sp>
      <p:sp>
        <p:nvSpPr>
          <p:cNvPr id="21" name="Text 19"/>
          <p:cNvSpPr/>
          <p:nvPr/>
        </p:nvSpPr>
        <p:spPr>
          <a:xfrm>
            <a:off x="4311167" y="3869928"/>
            <a:ext cx="3566419" cy="2096294"/>
          </a:xfrm>
          <a:prstGeom prst="rect">
            <a:avLst/>
          </a:prstGeom>
          <a:noFill/>
          <a:ln w="12698">
            <a:solidFill>
              <a:srgbClr val="D1D5D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577801" y="4119562"/>
            <a:ext cx="3093816" cy="3319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13"/>
              </a:lnSpc>
              <a:spcAft>
                <a:spcPts val="1200"/>
              </a:spcAft>
              <a:buNone/>
            </a:pPr>
            <a:r>
              <a:rPr lang="en-US" sz="1866" b="1" dirty="0">
                <a:solidFill>
                  <a:srgbClr val="6B7280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05</a:t>
            </a:r>
            <a:endParaRPr lang="en-US" sz="1866" dirty="0"/>
          </a:p>
        </p:txBody>
      </p:sp>
      <p:sp>
        <p:nvSpPr>
          <p:cNvPr id="23" name="Text 21"/>
          <p:cNvSpPr/>
          <p:nvPr/>
        </p:nvSpPr>
        <p:spPr>
          <a:xfrm>
            <a:off x="4577801" y="4603948"/>
            <a:ext cx="3093816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spcAft>
                <a:spcPts val="933"/>
              </a:spcAft>
              <a:buNone/>
            </a:pPr>
            <a:r>
              <a:rPr lang="en-US" sz="2000" b="1" dirty="0">
                <a:solidFill>
                  <a:srgbClr val="1A1A1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Monitoring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4577801" y="5052616"/>
            <a:ext cx="3093816" cy="6639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13"/>
              </a:lnSpc>
              <a:buNone/>
            </a:pPr>
            <a:r>
              <a:rPr lang="en-US" sz="1866" dirty="0">
                <a:solidFill>
                  <a:srgbClr val="6B7280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Inputs, outputs and drift are visible on demand.</a:t>
            </a:r>
            <a:endParaRPr lang="en-US" sz="1866" dirty="0"/>
          </a:p>
        </p:txBody>
      </p:sp>
      <p:sp>
        <p:nvSpPr>
          <p:cNvPr id="25" name="Text 23"/>
          <p:cNvSpPr/>
          <p:nvPr/>
        </p:nvSpPr>
        <p:spPr>
          <a:xfrm>
            <a:off x="8080736" y="3869928"/>
            <a:ext cx="3566617" cy="2096294"/>
          </a:xfrm>
          <a:prstGeom prst="rect">
            <a:avLst/>
          </a:prstGeom>
          <a:noFill/>
          <a:ln w="12698">
            <a:solidFill>
              <a:srgbClr val="D1D5D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8347369" y="4119562"/>
            <a:ext cx="3094018" cy="3319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13"/>
              </a:lnSpc>
              <a:spcAft>
                <a:spcPts val="1200"/>
              </a:spcAft>
              <a:buNone/>
            </a:pPr>
            <a:r>
              <a:rPr lang="en-US" sz="1866" b="1" dirty="0">
                <a:solidFill>
                  <a:srgbClr val="6B7280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06</a:t>
            </a:r>
            <a:endParaRPr lang="en-US" sz="1866" dirty="0"/>
          </a:p>
        </p:txBody>
      </p:sp>
      <p:sp>
        <p:nvSpPr>
          <p:cNvPr id="27" name="Text 25"/>
          <p:cNvSpPr/>
          <p:nvPr/>
        </p:nvSpPr>
        <p:spPr>
          <a:xfrm>
            <a:off x="8347369" y="4603948"/>
            <a:ext cx="3094018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spcAft>
                <a:spcPts val="933"/>
              </a:spcAft>
              <a:buNone/>
            </a:pPr>
            <a:r>
              <a:rPr lang="en-US" sz="2000" b="1" dirty="0">
                <a:solidFill>
                  <a:srgbClr val="1A1A1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Governance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8347369" y="5052616"/>
            <a:ext cx="3094018" cy="6639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13"/>
              </a:lnSpc>
              <a:buNone/>
            </a:pPr>
            <a:r>
              <a:rPr lang="en-US" sz="1866" dirty="0">
                <a:solidFill>
                  <a:srgbClr val="6B7280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What a model trained on is answerable months later.</a:t>
            </a:r>
            <a:endParaRPr lang="en-US" sz="1866" dirty="0"/>
          </a:p>
        </p:txBody>
      </p:sp>
      <p:sp>
        <p:nvSpPr>
          <p:cNvPr id="29" name="Text 27"/>
          <p:cNvSpPr/>
          <p:nvPr/>
        </p:nvSpPr>
        <p:spPr>
          <a:xfrm>
            <a:off x="319484" y="6113066"/>
            <a:ext cx="11327869" cy="236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866"/>
              </a:lnSpc>
              <a:buNone/>
            </a:pPr>
            <a:r>
              <a:rPr lang="en-US" sz="1333" dirty="0">
                <a:solidFill>
                  <a:srgbClr val="6B7280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MLOPS PLATFORM ROADMAP · SHEET 03/07 · NO EXTERNAL DATA CITED</a:t>
            </a:r>
            <a:endParaRPr lang="en-US" sz="1333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1599" y="484386"/>
            <a:ext cx="11327869" cy="260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3"/>
              </a:lnSpc>
              <a:spcAft>
                <a:spcPts val="933"/>
              </a:spcAft>
              <a:buNone/>
            </a:pPr>
            <a:r>
              <a:rPr lang="en-US" sz="1466" b="1" dirty="0">
                <a:solidFill>
                  <a:srgbClr val="6B7280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SEQUENCE</a:t>
            </a:r>
            <a:endParaRPr lang="en-US" sz="1466" dirty="0"/>
          </a:p>
        </p:txBody>
      </p:sp>
      <p:sp>
        <p:nvSpPr>
          <p:cNvPr id="3" name="Text 1"/>
          <p:cNvSpPr/>
          <p:nvPr/>
        </p:nvSpPr>
        <p:spPr>
          <a:xfrm>
            <a:off x="541599" y="863600"/>
            <a:ext cx="11327869" cy="4232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33"/>
              </a:lnSpc>
              <a:buNone/>
            </a:pPr>
            <a:r>
              <a:rPr lang="en-US" sz="2666" b="1" dirty="0">
                <a:solidFill>
                  <a:srgbClr val="1A1A1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Three phases, each stopped by a criterion, not a date</a:t>
            </a:r>
            <a:endParaRPr lang="en-US" sz="2666" dirty="0"/>
          </a:p>
        </p:txBody>
      </p:sp>
      <p:sp>
        <p:nvSpPr>
          <p:cNvPr id="4" name="Text 2"/>
          <p:cNvSpPr/>
          <p:nvPr/>
        </p:nvSpPr>
        <p:spPr>
          <a:xfrm>
            <a:off x="541599" y="1286867"/>
            <a:ext cx="11105754" cy="12700"/>
          </a:xfrm>
          <a:prstGeom prst="rect">
            <a:avLst/>
          </a:prstGeom>
          <a:solidFill>
            <a:srgbClr val="D1D5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41599" y="1570434"/>
            <a:ext cx="3441038" cy="3804245"/>
          </a:xfrm>
          <a:prstGeom prst="rect">
            <a:avLst/>
          </a:prstGeom>
          <a:noFill/>
          <a:ln w="12698">
            <a:solidFill>
              <a:srgbClr val="D1D5D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08232" y="1820069"/>
            <a:ext cx="2965927" cy="3319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13"/>
              </a:lnSpc>
              <a:spcAft>
                <a:spcPts val="1200"/>
              </a:spcAft>
              <a:buNone/>
            </a:pPr>
            <a:r>
              <a:rPr lang="en-US" sz="1866" b="1" dirty="0">
                <a:solidFill>
                  <a:srgbClr val="6B7280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PHASE 01</a:t>
            </a:r>
            <a:endParaRPr lang="en-US" sz="1866" dirty="0"/>
          </a:p>
        </p:txBody>
      </p:sp>
      <p:sp>
        <p:nvSpPr>
          <p:cNvPr id="7" name="Text 5"/>
          <p:cNvSpPr/>
          <p:nvPr/>
        </p:nvSpPr>
        <p:spPr>
          <a:xfrm>
            <a:off x="808232" y="2304455"/>
            <a:ext cx="2965927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spcAft>
                <a:spcPts val="1067"/>
              </a:spcAft>
              <a:buNone/>
            </a:pPr>
            <a:r>
              <a:rPr lang="en-US" sz="2000" b="1" dirty="0">
                <a:solidFill>
                  <a:srgbClr val="1A1A1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REPEATABLE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08232" y="2769989"/>
            <a:ext cx="2965927" cy="6639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13"/>
              </a:lnSpc>
              <a:spcAft>
                <a:spcPts val="1600"/>
              </a:spcAft>
              <a:buNone/>
            </a:pPr>
            <a:r>
              <a:rPr lang="en-US" sz="1866" dirty="0">
                <a:solidFill>
                  <a:srgbClr val="6B7280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Every model is produced by a pipeline, not a laptop.</a:t>
            </a:r>
            <a:endParaRPr lang="en-US" sz="1866" dirty="0"/>
          </a:p>
        </p:txBody>
      </p:sp>
      <p:sp>
        <p:nvSpPr>
          <p:cNvPr id="9" name="Shape 7"/>
          <p:cNvSpPr/>
          <p:nvPr/>
        </p:nvSpPr>
        <p:spPr>
          <a:xfrm>
            <a:off x="808232" y="3963988"/>
            <a:ext cx="2907771" cy="0"/>
          </a:xfrm>
          <a:prstGeom prst="line">
            <a:avLst/>
          </a:prstGeom>
          <a:noFill/>
          <a:ln w="12698">
            <a:solidFill>
              <a:srgbClr val="D1D5DB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808232" y="4139605"/>
            <a:ext cx="2965927" cy="260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3"/>
              </a:lnSpc>
              <a:spcAft>
                <a:spcPts val="667"/>
              </a:spcAft>
              <a:buNone/>
            </a:pPr>
            <a:r>
              <a:rPr lang="en-US" sz="1466" b="1" dirty="0">
                <a:solidFill>
                  <a:srgbClr val="6B7280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EXIT</a:t>
            </a:r>
            <a:endParaRPr lang="en-US" sz="1466" dirty="0"/>
          </a:p>
        </p:txBody>
      </p:sp>
      <p:sp>
        <p:nvSpPr>
          <p:cNvPr id="11" name="Text 9"/>
          <p:cNvSpPr/>
          <p:nvPr/>
        </p:nvSpPr>
        <p:spPr>
          <a:xfrm>
            <a:off x="808232" y="4484886"/>
            <a:ext cx="2965927" cy="640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66" dirty="0">
                <a:solidFill>
                  <a:srgbClr val="1A1A1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Any model in production can be rebuilt from its commit.</a:t>
            </a:r>
            <a:endParaRPr lang="en-US" sz="1866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982637" y="3387923"/>
            <a:ext cx="372374" cy="169267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4355011" y="1570434"/>
            <a:ext cx="3479128" cy="3804245"/>
          </a:xfrm>
          <a:prstGeom prst="rect">
            <a:avLst/>
          </a:prstGeom>
          <a:solidFill>
            <a:srgbClr val="F4F5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1"/>
          <p:cNvSpPr/>
          <p:nvPr/>
        </p:nvSpPr>
        <p:spPr>
          <a:xfrm>
            <a:off x="4355011" y="1576784"/>
            <a:ext cx="3479128" cy="0"/>
          </a:xfrm>
          <a:prstGeom prst="line">
            <a:avLst/>
          </a:prstGeom>
          <a:noFill/>
          <a:ln w="12698">
            <a:solidFill>
              <a:srgbClr val="D1D5DB"/>
            </a:solidFill>
            <a:prstDash val="solid"/>
          </a:ln>
        </p:spPr>
        <p:txBody>
          <a:bodyPr/>
          <a:p/>
        </p:txBody>
      </p:sp>
      <p:sp>
        <p:nvSpPr>
          <p:cNvPr id="15" name="Shape 12"/>
          <p:cNvSpPr/>
          <p:nvPr/>
        </p:nvSpPr>
        <p:spPr>
          <a:xfrm>
            <a:off x="7827791" y="1570434"/>
            <a:ext cx="0" cy="3804245"/>
          </a:xfrm>
          <a:prstGeom prst="line">
            <a:avLst/>
          </a:prstGeom>
          <a:noFill/>
          <a:ln w="12698">
            <a:solidFill>
              <a:srgbClr val="D1D5DB"/>
            </a:solidFill>
            <a:prstDash val="solid"/>
          </a:ln>
        </p:spPr>
        <p:txBody>
          <a:bodyPr/>
          <a:p/>
        </p:txBody>
      </p:sp>
      <p:sp>
        <p:nvSpPr>
          <p:cNvPr id="16" name="Shape 13"/>
          <p:cNvSpPr/>
          <p:nvPr/>
        </p:nvSpPr>
        <p:spPr>
          <a:xfrm>
            <a:off x="4355011" y="5368330"/>
            <a:ext cx="3479128" cy="0"/>
          </a:xfrm>
          <a:prstGeom prst="line">
            <a:avLst/>
          </a:prstGeom>
          <a:noFill/>
          <a:ln w="12698">
            <a:solidFill>
              <a:srgbClr val="D1D5DB"/>
            </a:solidFill>
            <a:prstDash val="solid"/>
          </a:ln>
        </p:spPr>
        <p:txBody>
          <a:bodyPr/>
          <a:p/>
        </p:txBody>
      </p:sp>
      <p:sp>
        <p:nvSpPr>
          <p:cNvPr id="17" name="Shape 14"/>
          <p:cNvSpPr/>
          <p:nvPr/>
        </p:nvSpPr>
        <p:spPr>
          <a:xfrm>
            <a:off x="4380405" y="1570434"/>
            <a:ext cx="0" cy="3804245"/>
          </a:xfrm>
          <a:prstGeom prst="line">
            <a:avLst/>
          </a:prstGeom>
          <a:noFill/>
          <a:ln w="50794">
            <a:solidFill>
              <a:srgbClr val="0B5FFF"/>
            </a:solidFill>
            <a:prstDash val="solid"/>
          </a:ln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4659735" y="1820069"/>
            <a:ext cx="2965927" cy="3319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13"/>
              </a:lnSpc>
              <a:spcAft>
                <a:spcPts val="1200"/>
              </a:spcAft>
              <a:buNone/>
            </a:pPr>
            <a:r>
              <a:rPr lang="en-US" sz="1866" b="1" dirty="0">
                <a:solidFill>
                  <a:srgbClr val="6B7280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PHASE 02</a:t>
            </a:r>
            <a:endParaRPr lang="en-US" sz="1866" dirty="0"/>
          </a:p>
        </p:txBody>
      </p:sp>
      <p:sp>
        <p:nvSpPr>
          <p:cNvPr id="19" name="Text 16"/>
          <p:cNvSpPr/>
          <p:nvPr/>
        </p:nvSpPr>
        <p:spPr>
          <a:xfrm>
            <a:off x="4659735" y="2304455"/>
            <a:ext cx="2965927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spcAft>
                <a:spcPts val="1067"/>
              </a:spcAft>
              <a:buNone/>
            </a:pPr>
            <a:r>
              <a:rPr lang="en-US" sz="2000" b="1" dirty="0">
                <a:solidFill>
                  <a:srgbClr val="1A1A1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OBSERVABLE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4659735" y="2769989"/>
            <a:ext cx="2965927" cy="6639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13"/>
              </a:lnSpc>
              <a:spcAft>
                <a:spcPts val="1600"/>
              </a:spcAft>
              <a:buNone/>
            </a:pPr>
            <a:r>
              <a:rPr lang="en-US" sz="1866" dirty="0">
                <a:solidFill>
                  <a:srgbClr val="6B7280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Inputs, outputs and drift are visible without a request.</a:t>
            </a:r>
            <a:endParaRPr lang="en-US" sz="1866" dirty="0"/>
          </a:p>
        </p:txBody>
      </p:sp>
      <p:sp>
        <p:nvSpPr>
          <p:cNvPr id="21" name="Shape 18"/>
          <p:cNvSpPr/>
          <p:nvPr/>
        </p:nvSpPr>
        <p:spPr>
          <a:xfrm>
            <a:off x="4659735" y="3643908"/>
            <a:ext cx="2907771" cy="0"/>
          </a:xfrm>
          <a:prstGeom prst="line">
            <a:avLst/>
          </a:prstGeom>
          <a:noFill/>
          <a:ln w="12698">
            <a:solidFill>
              <a:srgbClr val="D1D5DB"/>
            </a:solidFill>
            <a:prstDash val="solid"/>
          </a:ln>
        </p:spPr>
        <p:txBody>
          <a:bodyPr/>
          <a:p/>
        </p:txBody>
      </p:sp>
      <p:sp>
        <p:nvSpPr>
          <p:cNvPr id="22" name="Text 19"/>
          <p:cNvSpPr/>
          <p:nvPr/>
        </p:nvSpPr>
        <p:spPr>
          <a:xfrm>
            <a:off x="4659735" y="3819525"/>
            <a:ext cx="2965927" cy="260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3"/>
              </a:lnSpc>
              <a:spcAft>
                <a:spcPts val="667"/>
              </a:spcAft>
              <a:buNone/>
            </a:pPr>
            <a:r>
              <a:rPr lang="en-US" sz="1466" b="1" dirty="0">
                <a:solidFill>
                  <a:srgbClr val="6B7280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EXIT</a:t>
            </a:r>
            <a:endParaRPr lang="en-US" sz="1466" dirty="0"/>
          </a:p>
        </p:txBody>
      </p:sp>
      <p:sp>
        <p:nvSpPr>
          <p:cNvPr id="23" name="Text 20"/>
          <p:cNvSpPr/>
          <p:nvPr/>
        </p:nvSpPr>
        <p:spPr>
          <a:xfrm>
            <a:off x="4659735" y="4164806"/>
            <a:ext cx="2965927" cy="9602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66" dirty="0">
                <a:solidFill>
                  <a:srgbClr val="1A1A1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On-call can answer “is this model healthy” without the ML team.</a:t>
            </a:r>
            <a:endParaRPr lang="en-US" sz="1866" dirty="0"/>
          </a:p>
        </p:txBody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34139" y="3387923"/>
            <a:ext cx="372374" cy="169267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8206513" y="1570434"/>
            <a:ext cx="3441038" cy="3804245"/>
          </a:xfrm>
          <a:prstGeom prst="rect">
            <a:avLst/>
          </a:prstGeom>
          <a:noFill/>
          <a:ln w="12698">
            <a:solidFill>
              <a:srgbClr val="D1D5D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2"/>
          <p:cNvSpPr/>
          <p:nvPr/>
        </p:nvSpPr>
        <p:spPr>
          <a:xfrm>
            <a:off x="8473147" y="1820069"/>
            <a:ext cx="2965927" cy="3319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13"/>
              </a:lnSpc>
              <a:spcAft>
                <a:spcPts val="1200"/>
              </a:spcAft>
              <a:buNone/>
            </a:pPr>
            <a:r>
              <a:rPr lang="en-US" sz="1866" b="1" dirty="0">
                <a:solidFill>
                  <a:srgbClr val="6B7280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PHASE 03</a:t>
            </a:r>
            <a:endParaRPr lang="en-US" sz="1866" dirty="0"/>
          </a:p>
        </p:txBody>
      </p:sp>
      <p:sp>
        <p:nvSpPr>
          <p:cNvPr id="27" name="Text 23"/>
          <p:cNvSpPr/>
          <p:nvPr/>
        </p:nvSpPr>
        <p:spPr>
          <a:xfrm>
            <a:off x="8473147" y="2304455"/>
            <a:ext cx="2965927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spcAft>
                <a:spcPts val="1067"/>
              </a:spcAft>
              <a:buNone/>
            </a:pPr>
            <a:r>
              <a:rPr lang="en-US" sz="2000" b="1" dirty="0">
                <a:solidFill>
                  <a:srgbClr val="1A1A1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SELF-SERVE</a:t>
            </a:r>
            <a:endParaRPr lang="en-US" sz="2000" dirty="0"/>
          </a:p>
        </p:txBody>
      </p:sp>
      <p:sp>
        <p:nvSpPr>
          <p:cNvPr id="28" name="Text 24"/>
          <p:cNvSpPr/>
          <p:nvPr/>
        </p:nvSpPr>
        <p:spPr>
          <a:xfrm>
            <a:off x="8473147" y="2769989"/>
            <a:ext cx="2965927" cy="9959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13"/>
              </a:lnSpc>
              <a:spcAft>
                <a:spcPts val="1600"/>
              </a:spcAft>
              <a:buNone/>
            </a:pPr>
            <a:r>
              <a:rPr lang="en-US" sz="1866" dirty="0">
                <a:solidFill>
                  <a:srgbClr val="6B7280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 new team ships a model without the platform team in the loop.</a:t>
            </a:r>
            <a:endParaRPr lang="en-US" sz="1866" dirty="0"/>
          </a:p>
        </p:txBody>
      </p:sp>
      <p:sp>
        <p:nvSpPr>
          <p:cNvPr id="29" name="Shape 25"/>
          <p:cNvSpPr/>
          <p:nvPr/>
        </p:nvSpPr>
        <p:spPr>
          <a:xfrm>
            <a:off x="8473147" y="3975497"/>
            <a:ext cx="2907771" cy="0"/>
          </a:xfrm>
          <a:prstGeom prst="line">
            <a:avLst/>
          </a:prstGeom>
          <a:noFill/>
          <a:ln w="12698">
            <a:solidFill>
              <a:srgbClr val="D1D5DB"/>
            </a:solidFill>
            <a:prstDash val="solid"/>
          </a:ln>
        </p:spPr>
        <p:txBody>
          <a:bodyPr/>
          <a:p/>
        </p:txBody>
      </p:sp>
      <p:sp>
        <p:nvSpPr>
          <p:cNvPr id="30" name="Text 26"/>
          <p:cNvSpPr/>
          <p:nvPr/>
        </p:nvSpPr>
        <p:spPr>
          <a:xfrm>
            <a:off x="8473147" y="4151114"/>
            <a:ext cx="2965927" cy="260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3"/>
              </a:lnSpc>
              <a:spcAft>
                <a:spcPts val="667"/>
              </a:spcAft>
              <a:buNone/>
            </a:pPr>
            <a:r>
              <a:rPr lang="en-US" sz="1466" b="1" dirty="0">
                <a:solidFill>
                  <a:srgbClr val="6B7280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EXIT</a:t>
            </a:r>
            <a:endParaRPr lang="en-US" sz="1466" dirty="0"/>
          </a:p>
        </p:txBody>
      </p:sp>
      <p:sp>
        <p:nvSpPr>
          <p:cNvPr id="31" name="Text 27"/>
          <p:cNvSpPr/>
          <p:nvPr/>
        </p:nvSpPr>
        <p:spPr>
          <a:xfrm>
            <a:off x="8473147" y="4496395"/>
            <a:ext cx="2965927" cy="640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66" dirty="0">
                <a:solidFill>
                  <a:srgbClr val="1A1A1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 team onboards using the documentation alone.</a:t>
            </a:r>
            <a:endParaRPr lang="en-US" sz="1866" dirty="0"/>
          </a:p>
        </p:txBody>
      </p:sp>
      <p:sp>
        <p:nvSpPr>
          <p:cNvPr id="32" name="Text 28"/>
          <p:cNvSpPr/>
          <p:nvPr/>
        </p:nvSpPr>
        <p:spPr>
          <a:xfrm>
            <a:off x="541599" y="5577880"/>
            <a:ext cx="11327869" cy="3319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13"/>
              </a:lnSpc>
              <a:spcBef>
                <a:spcPts val="1600"/>
              </a:spcBef>
              <a:buNone/>
            </a:pPr>
            <a:r>
              <a:rPr lang="en-US" sz="1866" dirty="0">
                <a:solidFill>
                  <a:srgbClr val="6B7280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Phases are gates, not calendar quarters — no dates appear here because none can be sourced.</a:t>
            </a:r>
            <a:endParaRPr lang="en-US" sz="1866" dirty="0"/>
          </a:p>
        </p:txBody>
      </p:sp>
      <p:sp>
        <p:nvSpPr>
          <p:cNvPr id="33" name="Text 29"/>
          <p:cNvSpPr/>
          <p:nvPr/>
        </p:nvSpPr>
        <p:spPr>
          <a:xfrm>
            <a:off x="319484" y="6113066"/>
            <a:ext cx="11327869" cy="236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866"/>
              </a:lnSpc>
              <a:buNone/>
            </a:pPr>
            <a:r>
              <a:rPr lang="en-US" sz="1333" dirty="0">
                <a:solidFill>
                  <a:srgbClr val="6B7280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MLOPS PLATFORM ROADMAP · SHEET 04/07 · NO EXTERNAL DATA CITED</a:t>
            </a:r>
            <a:endParaRPr lang="en-US" sz="1333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1599" y="484386"/>
            <a:ext cx="11327869" cy="260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3"/>
              </a:lnSpc>
              <a:spcAft>
                <a:spcPts val="933"/>
              </a:spcAft>
              <a:buNone/>
            </a:pPr>
            <a:r>
              <a:rPr lang="en-US" sz="1466" b="1" dirty="0">
                <a:solidFill>
                  <a:srgbClr val="6B7280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POSTURE</a:t>
            </a:r>
            <a:endParaRPr lang="en-US" sz="1466" dirty="0"/>
          </a:p>
        </p:txBody>
      </p:sp>
      <p:sp>
        <p:nvSpPr>
          <p:cNvPr id="3" name="Text 1"/>
          <p:cNvSpPr/>
          <p:nvPr/>
        </p:nvSpPr>
        <p:spPr>
          <a:xfrm>
            <a:off x="541599" y="863600"/>
            <a:ext cx="11327869" cy="4232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33"/>
              </a:lnSpc>
              <a:buNone/>
            </a:pPr>
            <a:r>
              <a:rPr lang="en-US" sz="2666" b="1" dirty="0">
                <a:solidFill>
                  <a:srgbClr val="1A1A1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Buy the undifferentiated layers; build only your differentiator</a:t>
            </a:r>
            <a:endParaRPr lang="en-US" sz="2666" dirty="0"/>
          </a:p>
        </p:txBody>
      </p:sp>
      <p:sp>
        <p:nvSpPr>
          <p:cNvPr id="4" name="Text 2"/>
          <p:cNvSpPr/>
          <p:nvPr/>
        </p:nvSpPr>
        <p:spPr>
          <a:xfrm>
            <a:off x="541599" y="1286867"/>
            <a:ext cx="11105754" cy="12700"/>
          </a:xfrm>
          <a:prstGeom prst="rect">
            <a:avLst/>
          </a:prstGeom>
          <a:solidFill>
            <a:srgbClr val="D1D5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41599" y="1570434"/>
            <a:ext cx="11105754" cy="4339431"/>
          </a:xfrm>
          <a:prstGeom prst="rect">
            <a:avLst/>
          </a:prstGeom>
          <a:noFill/>
          <a:ln w="12698">
            <a:solidFill>
              <a:srgbClr val="D1D5D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54296" y="1583134"/>
            <a:ext cx="11080360" cy="578247"/>
          </a:xfrm>
          <a:prstGeom prst="rect">
            <a:avLst/>
          </a:prstGeom>
          <a:solidFill>
            <a:srgbClr val="F4F5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554296" y="2155031"/>
            <a:ext cx="11080360" cy="0"/>
          </a:xfrm>
          <a:prstGeom prst="line">
            <a:avLst/>
          </a:prstGeom>
          <a:noFill/>
          <a:ln w="12698">
            <a:solidFill>
              <a:srgbClr val="D1D5DB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91171" y="1735534"/>
            <a:ext cx="2907244" cy="260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3"/>
              </a:lnSpc>
              <a:buNone/>
            </a:pPr>
            <a:r>
              <a:rPr lang="en-US" sz="1466" b="1" dirty="0">
                <a:solidFill>
                  <a:srgbClr val="6B7280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CAPABILITY</a:t>
            </a:r>
            <a:endParaRPr lang="en-US" sz="1466" dirty="0"/>
          </a:p>
        </p:txBody>
      </p:sp>
      <p:sp>
        <p:nvSpPr>
          <p:cNvPr id="9" name="Text 7"/>
          <p:cNvSpPr/>
          <p:nvPr/>
        </p:nvSpPr>
        <p:spPr>
          <a:xfrm>
            <a:off x="4115160" y="1735534"/>
            <a:ext cx="3133275" cy="260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3"/>
              </a:lnSpc>
              <a:buNone/>
            </a:pPr>
            <a:r>
              <a:rPr lang="en-US" sz="1466" b="1" dirty="0">
                <a:solidFill>
                  <a:srgbClr val="6B7280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DEFAULT POSTURE</a:t>
            </a:r>
            <a:endParaRPr lang="en-US" sz="1466" dirty="0"/>
          </a:p>
        </p:txBody>
      </p:sp>
      <p:sp>
        <p:nvSpPr>
          <p:cNvPr id="10" name="Text 8"/>
          <p:cNvSpPr/>
          <p:nvPr/>
        </p:nvSpPr>
        <p:spPr>
          <a:xfrm>
            <a:off x="7660748" y="1735534"/>
            <a:ext cx="3811369" cy="260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3"/>
              </a:lnSpc>
              <a:buNone/>
            </a:pPr>
            <a:r>
              <a:rPr lang="en-US" sz="1466" b="1" dirty="0">
                <a:solidFill>
                  <a:srgbClr val="6B7280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BUILD ONLY IF</a:t>
            </a:r>
            <a:endParaRPr lang="en-US" sz="1466" dirty="0"/>
          </a:p>
        </p:txBody>
      </p:sp>
      <p:sp>
        <p:nvSpPr>
          <p:cNvPr id="11" name="Text 9"/>
          <p:cNvSpPr/>
          <p:nvPr/>
        </p:nvSpPr>
        <p:spPr>
          <a:xfrm>
            <a:off x="791171" y="2288381"/>
            <a:ext cx="2907244" cy="3319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13"/>
              </a:lnSpc>
              <a:buNone/>
            </a:pPr>
            <a:r>
              <a:rPr lang="en-US" sz="1866" b="1" dirty="0">
                <a:solidFill>
                  <a:srgbClr val="1A1A1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Data &amp; features</a:t>
            </a:r>
            <a:endParaRPr lang="en-US" sz="1866" dirty="0"/>
          </a:p>
        </p:txBody>
      </p:sp>
      <p:sp>
        <p:nvSpPr>
          <p:cNvPr id="12" name="Text 10"/>
          <p:cNvSpPr/>
          <p:nvPr/>
        </p:nvSpPr>
        <p:spPr>
          <a:xfrm>
            <a:off x="4115160" y="2288381"/>
            <a:ext cx="3133275" cy="3319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13"/>
              </a:lnSpc>
              <a:buNone/>
            </a:pPr>
            <a:r>
              <a:rPr lang="en-US" sz="1866" dirty="0">
                <a:solidFill>
                  <a:srgbClr val="1A1A1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Buy or adopt</a:t>
            </a:r>
            <a:endParaRPr lang="en-US" sz="1866" dirty="0"/>
          </a:p>
        </p:txBody>
      </p:sp>
      <p:sp>
        <p:nvSpPr>
          <p:cNvPr id="13" name="Text 11"/>
          <p:cNvSpPr/>
          <p:nvPr/>
        </p:nvSpPr>
        <p:spPr>
          <a:xfrm>
            <a:off x="7660748" y="2288381"/>
            <a:ext cx="3811369" cy="3319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13"/>
              </a:lnSpc>
              <a:buNone/>
            </a:pPr>
            <a:r>
              <a:rPr lang="en-US" sz="1866" dirty="0">
                <a:solidFill>
                  <a:srgbClr val="6B7280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Your features are the product</a:t>
            </a:r>
            <a:endParaRPr lang="en-US" sz="1866" dirty="0"/>
          </a:p>
        </p:txBody>
      </p:sp>
      <p:sp>
        <p:nvSpPr>
          <p:cNvPr id="14" name="Shape 12"/>
          <p:cNvSpPr/>
          <p:nvPr/>
        </p:nvSpPr>
        <p:spPr>
          <a:xfrm>
            <a:off x="554296" y="2753916"/>
            <a:ext cx="11080360" cy="0"/>
          </a:xfrm>
          <a:prstGeom prst="line">
            <a:avLst/>
          </a:prstGeom>
          <a:noFill/>
          <a:ln w="12698">
            <a:solidFill>
              <a:srgbClr val="D1D5DB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91171" y="2887266"/>
            <a:ext cx="2907244" cy="3319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13"/>
              </a:lnSpc>
              <a:buNone/>
            </a:pPr>
            <a:r>
              <a:rPr lang="en-US" sz="1866" b="1" dirty="0">
                <a:solidFill>
                  <a:srgbClr val="1A1A1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Training</a:t>
            </a:r>
            <a:endParaRPr lang="en-US" sz="1866" dirty="0"/>
          </a:p>
        </p:txBody>
      </p:sp>
      <p:sp>
        <p:nvSpPr>
          <p:cNvPr id="16" name="Text 14"/>
          <p:cNvSpPr/>
          <p:nvPr/>
        </p:nvSpPr>
        <p:spPr>
          <a:xfrm>
            <a:off x="4115160" y="2887266"/>
            <a:ext cx="3133275" cy="3319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13"/>
              </a:lnSpc>
              <a:buNone/>
            </a:pPr>
            <a:r>
              <a:rPr lang="en-US" sz="1866" dirty="0">
                <a:solidFill>
                  <a:srgbClr val="1A1A1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Adopt a standard runner</a:t>
            </a:r>
            <a:endParaRPr lang="en-US" sz="1866" dirty="0"/>
          </a:p>
        </p:txBody>
      </p:sp>
      <p:sp>
        <p:nvSpPr>
          <p:cNvPr id="17" name="Text 15"/>
          <p:cNvSpPr/>
          <p:nvPr/>
        </p:nvSpPr>
        <p:spPr>
          <a:xfrm>
            <a:off x="7660748" y="2887266"/>
            <a:ext cx="3811369" cy="3319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13"/>
              </a:lnSpc>
              <a:buNone/>
            </a:pPr>
            <a:r>
              <a:rPr lang="en-US" sz="1866" dirty="0">
                <a:solidFill>
                  <a:srgbClr val="6B7280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Training itself is your research</a:t>
            </a:r>
            <a:endParaRPr lang="en-US" sz="1866" dirty="0"/>
          </a:p>
        </p:txBody>
      </p:sp>
      <p:sp>
        <p:nvSpPr>
          <p:cNvPr id="18" name="Shape 16"/>
          <p:cNvSpPr/>
          <p:nvPr/>
        </p:nvSpPr>
        <p:spPr>
          <a:xfrm>
            <a:off x="554296" y="3352800"/>
            <a:ext cx="11080360" cy="0"/>
          </a:xfrm>
          <a:prstGeom prst="line">
            <a:avLst/>
          </a:prstGeom>
          <a:noFill/>
          <a:ln w="12698">
            <a:solidFill>
              <a:srgbClr val="D1D5DB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791171" y="3486150"/>
            <a:ext cx="2907244" cy="3319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13"/>
              </a:lnSpc>
              <a:buNone/>
            </a:pPr>
            <a:r>
              <a:rPr lang="en-US" sz="1866" b="1" dirty="0">
                <a:solidFill>
                  <a:srgbClr val="1A1A1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Registry</a:t>
            </a:r>
            <a:endParaRPr lang="en-US" sz="1866" dirty="0"/>
          </a:p>
        </p:txBody>
      </p:sp>
      <p:sp>
        <p:nvSpPr>
          <p:cNvPr id="20" name="Text 18"/>
          <p:cNvSpPr/>
          <p:nvPr/>
        </p:nvSpPr>
        <p:spPr>
          <a:xfrm>
            <a:off x="4115160" y="3486150"/>
            <a:ext cx="3133275" cy="3319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13"/>
              </a:lnSpc>
              <a:buNone/>
            </a:pPr>
            <a:r>
              <a:rPr lang="en-US" sz="1866" dirty="0">
                <a:solidFill>
                  <a:srgbClr val="1A1A1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Buy</a:t>
            </a:r>
            <a:endParaRPr lang="en-US" sz="1866" dirty="0"/>
          </a:p>
        </p:txBody>
      </p:sp>
      <p:sp>
        <p:nvSpPr>
          <p:cNvPr id="21" name="Text 19"/>
          <p:cNvSpPr/>
          <p:nvPr/>
        </p:nvSpPr>
        <p:spPr>
          <a:xfrm>
            <a:off x="7660748" y="3486150"/>
            <a:ext cx="3811369" cy="3319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13"/>
              </a:lnSpc>
              <a:buNone/>
            </a:pPr>
            <a:r>
              <a:rPr lang="en-US" sz="1866" dirty="0">
                <a:solidFill>
                  <a:srgbClr val="6B7280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Never</a:t>
            </a:r>
            <a:endParaRPr lang="en-US" sz="1866" dirty="0"/>
          </a:p>
        </p:txBody>
      </p:sp>
      <p:sp>
        <p:nvSpPr>
          <p:cNvPr id="22" name="Shape 20"/>
          <p:cNvSpPr/>
          <p:nvPr/>
        </p:nvSpPr>
        <p:spPr>
          <a:xfrm>
            <a:off x="554296" y="3951684"/>
            <a:ext cx="11080360" cy="0"/>
          </a:xfrm>
          <a:prstGeom prst="line">
            <a:avLst/>
          </a:prstGeom>
          <a:noFill/>
          <a:ln w="12698">
            <a:solidFill>
              <a:srgbClr val="D1D5DB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791171" y="4123928"/>
            <a:ext cx="2907244" cy="3319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13"/>
              </a:lnSpc>
              <a:buNone/>
            </a:pPr>
            <a:r>
              <a:rPr lang="en-US" sz="1866" b="1" dirty="0">
                <a:solidFill>
                  <a:srgbClr val="1A1A1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Serving</a:t>
            </a:r>
            <a:endParaRPr lang="en-US" sz="1866" dirty="0"/>
          </a:p>
        </p:txBody>
      </p:sp>
      <p:sp>
        <p:nvSpPr>
          <p:cNvPr id="24" name="Text 22"/>
          <p:cNvSpPr/>
          <p:nvPr/>
        </p:nvSpPr>
        <p:spPr>
          <a:xfrm>
            <a:off x="4115160" y="4123928"/>
            <a:ext cx="3133275" cy="3319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13"/>
              </a:lnSpc>
              <a:buNone/>
            </a:pPr>
            <a:r>
              <a:rPr lang="en-US" sz="1866" dirty="0">
                <a:solidFill>
                  <a:srgbClr val="1A1A1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Buy</a:t>
            </a:r>
            <a:endParaRPr lang="en-US" sz="1866" dirty="0"/>
          </a:p>
        </p:txBody>
      </p:sp>
      <p:sp>
        <p:nvSpPr>
          <p:cNvPr id="25" name="Text 23"/>
          <p:cNvSpPr/>
          <p:nvPr/>
        </p:nvSpPr>
        <p:spPr>
          <a:xfrm>
            <a:off x="7660748" y="3958034"/>
            <a:ext cx="3811369" cy="6639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13"/>
              </a:lnSpc>
              <a:buNone/>
            </a:pPr>
            <a:r>
              <a:rPr lang="en-US" sz="1866" dirty="0">
                <a:solidFill>
                  <a:srgbClr val="6B7280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Latency or hardware is the differentiator</a:t>
            </a:r>
            <a:endParaRPr lang="en-US" sz="1866" dirty="0"/>
          </a:p>
        </p:txBody>
      </p:sp>
      <p:sp>
        <p:nvSpPr>
          <p:cNvPr id="26" name="Shape 24"/>
          <p:cNvSpPr/>
          <p:nvPr/>
        </p:nvSpPr>
        <p:spPr>
          <a:xfrm>
            <a:off x="554296" y="4628356"/>
            <a:ext cx="11080360" cy="0"/>
          </a:xfrm>
          <a:prstGeom prst="line">
            <a:avLst/>
          </a:prstGeom>
          <a:noFill/>
          <a:ln w="12698">
            <a:solidFill>
              <a:srgbClr val="D1D5DB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791171" y="4800600"/>
            <a:ext cx="2907244" cy="3319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13"/>
              </a:lnSpc>
              <a:buNone/>
            </a:pPr>
            <a:r>
              <a:rPr lang="en-US" sz="1866" b="1" dirty="0">
                <a:solidFill>
                  <a:srgbClr val="1A1A1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Monitoring</a:t>
            </a:r>
            <a:endParaRPr lang="en-US" sz="1866" dirty="0"/>
          </a:p>
        </p:txBody>
      </p:sp>
      <p:sp>
        <p:nvSpPr>
          <p:cNvPr id="28" name="Text 26"/>
          <p:cNvSpPr/>
          <p:nvPr/>
        </p:nvSpPr>
        <p:spPr>
          <a:xfrm>
            <a:off x="4115160" y="4800600"/>
            <a:ext cx="3133275" cy="3319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13"/>
              </a:lnSpc>
              <a:buNone/>
            </a:pPr>
            <a:r>
              <a:rPr lang="en-US" sz="1866" dirty="0">
                <a:solidFill>
                  <a:srgbClr val="1A1A1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Buy, then extend</a:t>
            </a:r>
            <a:endParaRPr lang="en-US" sz="1866" dirty="0"/>
          </a:p>
        </p:txBody>
      </p:sp>
      <p:sp>
        <p:nvSpPr>
          <p:cNvPr id="29" name="Text 27"/>
          <p:cNvSpPr/>
          <p:nvPr/>
        </p:nvSpPr>
        <p:spPr>
          <a:xfrm>
            <a:off x="7660748" y="4634706"/>
            <a:ext cx="3811369" cy="6639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13"/>
              </a:lnSpc>
              <a:buNone/>
            </a:pPr>
            <a:r>
              <a:rPr lang="en-US" sz="1866" dirty="0">
                <a:solidFill>
                  <a:srgbClr val="6B7280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Your drift definition is domain-specific</a:t>
            </a:r>
            <a:endParaRPr lang="en-US" sz="1866" dirty="0"/>
          </a:p>
        </p:txBody>
      </p:sp>
      <p:sp>
        <p:nvSpPr>
          <p:cNvPr id="30" name="Shape 28"/>
          <p:cNvSpPr/>
          <p:nvPr/>
        </p:nvSpPr>
        <p:spPr>
          <a:xfrm>
            <a:off x="554296" y="5305028"/>
            <a:ext cx="11080360" cy="0"/>
          </a:xfrm>
          <a:prstGeom prst="line">
            <a:avLst/>
          </a:prstGeom>
          <a:noFill/>
          <a:ln w="12698">
            <a:solidFill>
              <a:srgbClr val="D1D5DB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791171" y="5438378"/>
            <a:ext cx="2907244" cy="3319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13"/>
              </a:lnSpc>
              <a:buNone/>
            </a:pPr>
            <a:r>
              <a:rPr lang="en-US" sz="1866" b="1" dirty="0">
                <a:solidFill>
                  <a:srgbClr val="1A1A1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Governance</a:t>
            </a:r>
            <a:endParaRPr lang="en-US" sz="1866" dirty="0"/>
          </a:p>
        </p:txBody>
      </p:sp>
      <p:sp>
        <p:nvSpPr>
          <p:cNvPr id="32" name="Text 30"/>
          <p:cNvSpPr/>
          <p:nvPr/>
        </p:nvSpPr>
        <p:spPr>
          <a:xfrm>
            <a:off x="4115160" y="5438378"/>
            <a:ext cx="3133275" cy="3319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13"/>
              </a:lnSpc>
              <a:buNone/>
            </a:pPr>
            <a:r>
              <a:rPr lang="en-US" sz="1866" dirty="0">
                <a:solidFill>
                  <a:srgbClr val="1A1A1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Adopt the company standard</a:t>
            </a:r>
            <a:endParaRPr lang="en-US" sz="1866" dirty="0"/>
          </a:p>
        </p:txBody>
      </p:sp>
      <p:sp>
        <p:nvSpPr>
          <p:cNvPr id="33" name="Text 31"/>
          <p:cNvSpPr/>
          <p:nvPr/>
        </p:nvSpPr>
        <p:spPr>
          <a:xfrm>
            <a:off x="7660748" y="5438378"/>
            <a:ext cx="3811369" cy="3319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13"/>
              </a:lnSpc>
              <a:buNone/>
            </a:pPr>
            <a:r>
              <a:rPr lang="en-US" sz="1866" dirty="0">
                <a:solidFill>
                  <a:srgbClr val="6B7280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Never — inherit it</a:t>
            </a:r>
            <a:endParaRPr lang="en-US" sz="1866" dirty="0"/>
          </a:p>
        </p:txBody>
      </p:sp>
      <p:sp>
        <p:nvSpPr>
          <p:cNvPr id="34" name="Text 32"/>
          <p:cNvSpPr/>
          <p:nvPr/>
        </p:nvSpPr>
        <p:spPr>
          <a:xfrm>
            <a:off x="319484" y="6113066"/>
            <a:ext cx="11327869" cy="236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866"/>
              </a:lnSpc>
              <a:buNone/>
            </a:pPr>
            <a:r>
              <a:rPr lang="en-US" sz="1333" dirty="0">
                <a:solidFill>
                  <a:srgbClr val="6B7280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MLOPS PLATFORM ROADMAP · SHEET 05/07 · NO EXTERNAL DATA CITED</a:t>
            </a:r>
            <a:endParaRPr lang="en-US" sz="1333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1599" y="484386"/>
            <a:ext cx="11327869" cy="260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3"/>
              </a:lnSpc>
              <a:spcAft>
                <a:spcPts val="933"/>
              </a:spcAft>
              <a:buNone/>
            </a:pPr>
            <a:r>
              <a:rPr lang="en-US" sz="1466" b="1" dirty="0">
                <a:solidFill>
                  <a:srgbClr val="6B7280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DECISIONS</a:t>
            </a:r>
            <a:endParaRPr lang="en-US" sz="1466" dirty="0"/>
          </a:p>
        </p:txBody>
      </p:sp>
      <p:sp>
        <p:nvSpPr>
          <p:cNvPr id="3" name="Text 1"/>
          <p:cNvSpPr/>
          <p:nvPr/>
        </p:nvSpPr>
        <p:spPr>
          <a:xfrm>
            <a:off x="541599" y="863600"/>
            <a:ext cx="11327869" cy="4232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33"/>
              </a:lnSpc>
              <a:buNone/>
            </a:pPr>
            <a:r>
              <a:rPr lang="en-US" sz="2666" b="1" dirty="0">
                <a:solidFill>
                  <a:srgbClr val="1A1A1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Decide four things before phase 1, or phase 2 will decide them for you</a:t>
            </a:r>
            <a:endParaRPr lang="en-US" sz="2666" dirty="0"/>
          </a:p>
        </p:txBody>
      </p:sp>
      <p:sp>
        <p:nvSpPr>
          <p:cNvPr id="4" name="Text 2"/>
          <p:cNvSpPr/>
          <p:nvPr/>
        </p:nvSpPr>
        <p:spPr>
          <a:xfrm>
            <a:off x="541599" y="1286867"/>
            <a:ext cx="11105754" cy="12700"/>
          </a:xfrm>
          <a:prstGeom prst="rect">
            <a:avLst/>
          </a:prstGeom>
          <a:solidFill>
            <a:srgbClr val="D1D5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41599" y="1570434"/>
            <a:ext cx="5451302" cy="2094508"/>
          </a:xfrm>
          <a:prstGeom prst="rect">
            <a:avLst/>
          </a:prstGeom>
          <a:noFill/>
          <a:ln w="12698">
            <a:solidFill>
              <a:srgbClr val="D1D5D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08232" y="1820069"/>
            <a:ext cx="5016397" cy="3319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13"/>
              </a:lnSpc>
              <a:spcAft>
                <a:spcPts val="1200"/>
              </a:spcAft>
              <a:buNone/>
            </a:pPr>
            <a:r>
              <a:rPr lang="en-US" sz="1866" b="1" dirty="0">
                <a:solidFill>
                  <a:srgbClr val="6B7280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01</a:t>
            </a:r>
            <a:endParaRPr lang="en-US" sz="1866" dirty="0"/>
          </a:p>
        </p:txBody>
      </p:sp>
      <p:sp>
        <p:nvSpPr>
          <p:cNvPr id="7" name="Text 5"/>
          <p:cNvSpPr/>
          <p:nvPr/>
        </p:nvSpPr>
        <p:spPr>
          <a:xfrm>
            <a:off x="808232" y="2304455"/>
            <a:ext cx="5016397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00"/>
              </a:lnSpc>
              <a:spcAft>
                <a:spcPts val="933"/>
              </a:spcAft>
              <a:buNone/>
            </a:pPr>
            <a:r>
              <a:rPr lang="en-US" sz="2000" b="1" dirty="0">
                <a:solidFill>
                  <a:srgbClr val="1A1A1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Who owns the boundary with the data platform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08232" y="3083322"/>
            <a:ext cx="5016397" cy="3319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13"/>
              </a:lnSpc>
              <a:buNone/>
            </a:pPr>
            <a:r>
              <a:rPr lang="en-US" sz="1866" dirty="0">
                <a:solidFill>
                  <a:srgbClr val="6B7280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Left open: features get built twice, differently.</a:t>
            </a:r>
            <a:endParaRPr lang="en-US" sz="1866" dirty="0"/>
          </a:p>
        </p:txBody>
      </p:sp>
      <p:sp>
        <p:nvSpPr>
          <p:cNvPr id="9" name="Text 7"/>
          <p:cNvSpPr/>
          <p:nvPr/>
        </p:nvSpPr>
        <p:spPr>
          <a:xfrm>
            <a:off x="6196051" y="1570434"/>
            <a:ext cx="5451302" cy="2094508"/>
          </a:xfrm>
          <a:prstGeom prst="rect">
            <a:avLst/>
          </a:prstGeom>
          <a:noFill/>
          <a:ln w="12698">
            <a:solidFill>
              <a:srgbClr val="D1D5D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462684" y="1820069"/>
            <a:ext cx="5016397" cy="3319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13"/>
              </a:lnSpc>
              <a:spcAft>
                <a:spcPts val="1200"/>
              </a:spcAft>
              <a:buNone/>
            </a:pPr>
            <a:r>
              <a:rPr lang="en-US" sz="1866" b="1" dirty="0">
                <a:solidFill>
                  <a:srgbClr val="6B7280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02</a:t>
            </a:r>
            <a:endParaRPr lang="en-US" sz="1866" dirty="0"/>
          </a:p>
        </p:txBody>
      </p:sp>
      <p:sp>
        <p:nvSpPr>
          <p:cNvPr id="11" name="Text 9"/>
          <p:cNvSpPr/>
          <p:nvPr/>
        </p:nvSpPr>
        <p:spPr>
          <a:xfrm>
            <a:off x="6462684" y="2304455"/>
            <a:ext cx="5016397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spcAft>
                <a:spcPts val="933"/>
              </a:spcAft>
              <a:buNone/>
            </a:pPr>
            <a:r>
              <a:rPr lang="en-US" sz="2000" b="1" dirty="0">
                <a:solidFill>
                  <a:srgbClr val="1A1A1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What the exit criterion for each phase is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462684" y="2753122"/>
            <a:ext cx="5016397" cy="3319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13"/>
              </a:lnSpc>
              <a:buNone/>
            </a:pPr>
            <a:r>
              <a:rPr lang="en-US" sz="1866" dirty="0">
                <a:solidFill>
                  <a:srgbClr val="6B7280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Left open: phase 1 never ends.</a:t>
            </a:r>
            <a:endParaRPr lang="en-US" sz="1866" dirty="0"/>
          </a:p>
        </p:txBody>
      </p:sp>
      <p:sp>
        <p:nvSpPr>
          <p:cNvPr id="13" name="Text 11"/>
          <p:cNvSpPr/>
          <p:nvPr/>
        </p:nvSpPr>
        <p:spPr>
          <a:xfrm>
            <a:off x="541599" y="3868142"/>
            <a:ext cx="5451302" cy="2096294"/>
          </a:xfrm>
          <a:prstGeom prst="rect">
            <a:avLst/>
          </a:prstGeom>
          <a:noFill/>
          <a:ln w="12698">
            <a:solidFill>
              <a:srgbClr val="D1D5D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808232" y="4117777"/>
            <a:ext cx="5016397" cy="3319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13"/>
              </a:lnSpc>
              <a:spcAft>
                <a:spcPts val="1200"/>
              </a:spcAft>
              <a:buNone/>
            </a:pPr>
            <a:r>
              <a:rPr lang="en-US" sz="1866" b="1" dirty="0">
                <a:solidFill>
                  <a:srgbClr val="6B7280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03</a:t>
            </a:r>
            <a:endParaRPr lang="en-US" sz="1866" dirty="0"/>
          </a:p>
        </p:txBody>
      </p:sp>
      <p:sp>
        <p:nvSpPr>
          <p:cNvPr id="15" name="Text 13"/>
          <p:cNvSpPr/>
          <p:nvPr/>
        </p:nvSpPr>
        <p:spPr>
          <a:xfrm>
            <a:off x="808232" y="4602163"/>
            <a:ext cx="5016397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spcAft>
                <a:spcPts val="933"/>
              </a:spcAft>
              <a:buNone/>
            </a:pPr>
            <a:r>
              <a:rPr lang="en-US" sz="2000" b="1" dirty="0">
                <a:solidFill>
                  <a:srgbClr val="1A1A1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What you will not build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808232" y="5050830"/>
            <a:ext cx="5016397" cy="6639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13"/>
              </a:lnSpc>
              <a:buNone/>
            </a:pPr>
            <a:r>
              <a:rPr lang="en-US" sz="1866" dirty="0">
                <a:solidFill>
                  <a:srgbClr val="6B7280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Left open: the platform grows a bespoke everything.</a:t>
            </a:r>
            <a:endParaRPr lang="en-US" sz="1866" dirty="0"/>
          </a:p>
        </p:txBody>
      </p:sp>
      <p:sp>
        <p:nvSpPr>
          <p:cNvPr id="17" name="Text 15"/>
          <p:cNvSpPr/>
          <p:nvPr/>
        </p:nvSpPr>
        <p:spPr>
          <a:xfrm>
            <a:off x="6196051" y="3868142"/>
            <a:ext cx="5451302" cy="2096294"/>
          </a:xfrm>
          <a:prstGeom prst="rect">
            <a:avLst/>
          </a:prstGeom>
          <a:noFill/>
          <a:ln w="12698">
            <a:solidFill>
              <a:srgbClr val="D1D5D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462684" y="4117777"/>
            <a:ext cx="5016397" cy="3319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13"/>
              </a:lnSpc>
              <a:spcAft>
                <a:spcPts val="1200"/>
              </a:spcAft>
              <a:buNone/>
            </a:pPr>
            <a:r>
              <a:rPr lang="en-US" sz="1866" b="1" dirty="0">
                <a:solidFill>
                  <a:srgbClr val="6B7280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04</a:t>
            </a:r>
            <a:endParaRPr lang="en-US" sz="1866" dirty="0"/>
          </a:p>
        </p:txBody>
      </p:sp>
      <p:sp>
        <p:nvSpPr>
          <p:cNvPr id="19" name="Text 17"/>
          <p:cNvSpPr/>
          <p:nvPr/>
        </p:nvSpPr>
        <p:spPr>
          <a:xfrm>
            <a:off x="6462684" y="4602163"/>
            <a:ext cx="5016397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spcAft>
                <a:spcPts val="933"/>
              </a:spcAft>
              <a:buNone/>
            </a:pPr>
            <a:r>
              <a:rPr lang="en-US" sz="2000" b="1" dirty="0">
                <a:solidFill>
                  <a:srgbClr val="1A1A1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Who the first internal customer is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462684" y="5050830"/>
            <a:ext cx="5016397" cy="3319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13"/>
              </a:lnSpc>
              <a:buNone/>
            </a:pPr>
            <a:r>
              <a:rPr lang="en-US" sz="1866" dirty="0">
                <a:solidFill>
                  <a:srgbClr val="6B7280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Left open: the platform is designed for nobody.</a:t>
            </a:r>
            <a:endParaRPr lang="en-US" sz="1866" dirty="0"/>
          </a:p>
        </p:txBody>
      </p:sp>
      <p:sp>
        <p:nvSpPr>
          <p:cNvPr id="21" name="Text 19"/>
          <p:cNvSpPr/>
          <p:nvPr/>
        </p:nvSpPr>
        <p:spPr>
          <a:xfrm>
            <a:off x="319484" y="6113066"/>
            <a:ext cx="11327869" cy="236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866"/>
              </a:lnSpc>
              <a:buNone/>
            </a:pPr>
            <a:r>
              <a:rPr lang="en-US" sz="1333" dirty="0">
                <a:solidFill>
                  <a:srgbClr val="6B7280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MLOPS PLATFORM ROADMAP · SHEET 06/07 · NO EXTERNAL DATA CITED</a:t>
            </a:r>
            <a:endParaRPr lang="en-US" sz="1333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1599" y="484386"/>
            <a:ext cx="11327869" cy="260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3"/>
              </a:lnSpc>
              <a:spcAft>
                <a:spcPts val="933"/>
              </a:spcAft>
              <a:buNone/>
            </a:pPr>
            <a:r>
              <a:rPr lang="en-US" sz="1466" b="1" dirty="0">
                <a:solidFill>
                  <a:srgbClr val="6B7280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DISCUSSION</a:t>
            </a:r>
            <a:endParaRPr lang="en-US" sz="1466" dirty="0"/>
          </a:p>
        </p:txBody>
      </p:sp>
      <p:sp>
        <p:nvSpPr>
          <p:cNvPr id="3" name="Text 1"/>
          <p:cNvSpPr/>
          <p:nvPr/>
        </p:nvSpPr>
        <p:spPr>
          <a:xfrm>
            <a:off x="541599" y="863600"/>
            <a:ext cx="11327869" cy="4232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33"/>
              </a:lnSpc>
              <a:buNone/>
            </a:pPr>
            <a:r>
              <a:rPr lang="en-US" sz="2666" b="1" dirty="0">
                <a:solidFill>
                  <a:srgbClr val="1A1A1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What we need to agree on before the first phase starts</a:t>
            </a:r>
            <a:endParaRPr lang="en-US" sz="2666" dirty="0"/>
          </a:p>
        </p:txBody>
      </p:sp>
      <p:sp>
        <p:nvSpPr>
          <p:cNvPr id="4" name="Text 2"/>
          <p:cNvSpPr/>
          <p:nvPr/>
        </p:nvSpPr>
        <p:spPr>
          <a:xfrm>
            <a:off x="541599" y="1286867"/>
            <a:ext cx="11105754" cy="12700"/>
          </a:xfrm>
          <a:prstGeom prst="rect">
            <a:avLst/>
          </a:prstGeom>
          <a:solidFill>
            <a:srgbClr val="D1D5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41599" y="2447528"/>
            <a:ext cx="278441" cy="3319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13"/>
              </a:lnSpc>
              <a:buNone/>
            </a:pPr>
            <a:r>
              <a:rPr lang="en-US" sz="1866" b="1" dirty="0">
                <a:solidFill>
                  <a:srgbClr val="6B7280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01</a:t>
            </a:r>
            <a:endParaRPr lang="en-US" sz="1866" dirty="0"/>
          </a:p>
        </p:txBody>
      </p:sp>
      <p:sp>
        <p:nvSpPr>
          <p:cNvPr id="6" name="Text 4"/>
          <p:cNvSpPr/>
          <p:nvPr/>
        </p:nvSpPr>
        <p:spPr>
          <a:xfrm>
            <a:off x="1119304" y="2396728"/>
            <a:ext cx="6009153" cy="3885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60"/>
              </a:lnSpc>
              <a:buNone/>
            </a:pPr>
            <a:r>
              <a:rPr lang="en-US" sz="2266" dirty="0">
                <a:solidFill>
                  <a:srgbClr val="1A1A1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Which capability is actually blocking us today?</a:t>
            </a:r>
            <a:endParaRPr lang="en-US" sz="2266" dirty="0"/>
          </a:p>
        </p:txBody>
      </p:sp>
      <p:sp>
        <p:nvSpPr>
          <p:cNvPr id="7" name="Shape 5"/>
          <p:cNvSpPr/>
          <p:nvPr/>
        </p:nvSpPr>
        <p:spPr>
          <a:xfrm>
            <a:off x="541599" y="3028553"/>
            <a:ext cx="11105754" cy="0"/>
          </a:xfrm>
          <a:prstGeom prst="line">
            <a:avLst/>
          </a:prstGeom>
          <a:noFill/>
          <a:ln w="12698">
            <a:solidFill>
              <a:srgbClr val="D1D5DB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41599" y="3322638"/>
            <a:ext cx="278441" cy="3319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13"/>
              </a:lnSpc>
              <a:buNone/>
            </a:pPr>
            <a:r>
              <a:rPr lang="en-US" sz="1866" b="1" dirty="0">
                <a:solidFill>
                  <a:srgbClr val="6B7280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02</a:t>
            </a:r>
            <a:endParaRPr lang="en-US" sz="1866" dirty="0"/>
          </a:p>
        </p:txBody>
      </p:sp>
      <p:sp>
        <p:nvSpPr>
          <p:cNvPr id="9" name="Text 7"/>
          <p:cNvSpPr/>
          <p:nvPr/>
        </p:nvSpPr>
        <p:spPr>
          <a:xfrm>
            <a:off x="1119304" y="3271838"/>
            <a:ext cx="7148820" cy="3885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60"/>
              </a:lnSpc>
              <a:buNone/>
            </a:pPr>
            <a:r>
              <a:rPr lang="en-US" sz="2266" dirty="0">
                <a:solidFill>
                  <a:srgbClr val="1A1A1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What is our exit criterion for phase 1, in one sentence?</a:t>
            </a:r>
            <a:endParaRPr lang="en-US" sz="2266" dirty="0"/>
          </a:p>
        </p:txBody>
      </p:sp>
      <p:sp>
        <p:nvSpPr>
          <p:cNvPr id="10" name="Shape 8"/>
          <p:cNvSpPr/>
          <p:nvPr/>
        </p:nvSpPr>
        <p:spPr>
          <a:xfrm>
            <a:off x="541599" y="3903663"/>
            <a:ext cx="11105754" cy="0"/>
          </a:xfrm>
          <a:prstGeom prst="line">
            <a:avLst/>
          </a:prstGeom>
          <a:noFill/>
          <a:ln w="12698">
            <a:solidFill>
              <a:srgbClr val="D1D5DB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541599" y="4197747"/>
            <a:ext cx="278441" cy="3319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13"/>
              </a:lnSpc>
              <a:buNone/>
            </a:pPr>
            <a:r>
              <a:rPr lang="en-US" sz="1866" b="1" dirty="0">
                <a:solidFill>
                  <a:srgbClr val="6B7280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03</a:t>
            </a:r>
            <a:endParaRPr lang="en-US" sz="1866" dirty="0"/>
          </a:p>
        </p:txBody>
      </p:sp>
      <p:sp>
        <p:nvSpPr>
          <p:cNvPr id="12" name="Text 10"/>
          <p:cNvSpPr/>
          <p:nvPr/>
        </p:nvSpPr>
        <p:spPr>
          <a:xfrm>
            <a:off x="1119304" y="4146947"/>
            <a:ext cx="6151612" cy="3885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60"/>
              </a:lnSpc>
              <a:buNone/>
            </a:pPr>
            <a:r>
              <a:rPr lang="en-US" sz="2266" dirty="0">
                <a:solidFill>
                  <a:srgbClr val="1A1A1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Which layer are we genuinely differentiated in?</a:t>
            </a:r>
            <a:endParaRPr lang="en-US" sz="2266" dirty="0"/>
          </a:p>
        </p:txBody>
      </p:sp>
      <p:sp>
        <p:nvSpPr>
          <p:cNvPr id="13" name="Shape 11"/>
          <p:cNvSpPr/>
          <p:nvPr/>
        </p:nvSpPr>
        <p:spPr>
          <a:xfrm>
            <a:off x="541599" y="5368330"/>
            <a:ext cx="11105754" cy="0"/>
          </a:xfrm>
          <a:prstGeom prst="line">
            <a:avLst/>
          </a:prstGeom>
          <a:noFill/>
          <a:ln w="12698">
            <a:solidFill>
              <a:srgbClr val="D1D5DB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541599" y="5577880"/>
            <a:ext cx="1165569" cy="3319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13"/>
              </a:lnSpc>
              <a:buNone/>
            </a:pPr>
            <a:r>
              <a:rPr lang="en-US" sz="1866" b="1" dirty="0">
                <a:solidFill>
                  <a:srgbClr val="1A1A1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Thank you</a:t>
            </a:r>
            <a:endParaRPr lang="en-US" sz="1866" dirty="0"/>
          </a:p>
        </p:txBody>
      </p:sp>
      <p:sp>
        <p:nvSpPr>
          <p:cNvPr id="15" name="Text 13"/>
          <p:cNvSpPr/>
          <p:nvPr/>
        </p:nvSpPr>
        <p:spPr>
          <a:xfrm>
            <a:off x="9542458" y="5628680"/>
            <a:ext cx="2146993" cy="260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3"/>
              </a:lnSpc>
              <a:buNone/>
            </a:pPr>
            <a:r>
              <a:rPr lang="en-US" sz="1466" b="1" dirty="0">
                <a:solidFill>
                  <a:srgbClr val="6B7280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PRESENTER · TEAM</a:t>
            </a:r>
            <a:endParaRPr lang="en-US" sz="1466" dirty="0"/>
          </a:p>
        </p:txBody>
      </p:sp>
      <p:sp>
        <p:nvSpPr>
          <p:cNvPr id="16" name="Text 14"/>
          <p:cNvSpPr/>
          <p:nvPr/>
        </p:nvSpPr>
        <p:spPr>
          <a:xfrm>
            <a:off x="319484" y="6113066"/>
            <a:ext cx="11327869" cy="236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866"/>
              </a:lnSpc>
              <a:buNone/>
            </a:pPr>
            <a:r>
              <a:rPr lang="en-US" sz="1333" dirty="0">
                <a:solidFill>
                  <a:srgbClr val="6B7280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MLOPS PLATFORM ROADMAP · SHEET 07/07 · NO EXTERNAL DATA CITED</a:t>
            </a:r>
            <a:endParaRPr lang="en-US" sz="1333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2026-08-27T16:56:58Z</dcterms:created>
  <dcterms:modified xsi:type="dcterms:W3CDTF">2026-08-27T16:56:58Z</dcterms:modified>
</cp:coreProperties>
</file>