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4-2.svg" ContentType="image/svg+xml"/>
  <Override PartName="/ppt/media/image-4-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PLATFORM ENGINEERING / 2026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2647752"/>
            <a:ext cx="2031492" cy="50800"/>
          </a:xfrm>
          <a:prstGeom prst="rect">
            <a:avLst/>
          </a:prstGeom>
          <a:solidFill>
            <a:srgbClr val="0B5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1599" y="3071019"/>
            <a:ext cx="8115676" cy="8346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to build first, what to buy,</a:t>
            </a:r>
            <a:endParaRPr lang="en-US" sz="2266" dirty="0"/>
          </a:p>
          <a:p>
            <a:pPr algn="l" indent="0" marL="0">
              <a:lnSpc>
                <a:spcPts val="3286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and what to stop each phase on.</a:t>
            </a:r>
            <a:endParaRPr lang="en-US" sz="2266" dirty="0"/>
          </a:p>
        </p:txBody>
      </p:sp>
      <p:sp>
        <p:nvSpPr>
          <p:cNvPr id="7" name="Shape 5"/>
          <p:cNvSpPr/>
          <p:nvPr/>
        </p:nvSpPr>
        <p:spPr>
          <a:xfrm>
            <a:off x="541599" y="4989314"/>
            <a:ext cx="11105754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1599" y="5232598"/>
            <a:ext cx="229228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PREPARED BY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541599" y="5577880"/>
            <a:ext cx="2292285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3669184" y="5232598"/>
            <a:ext cx="84179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DATE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3669184" y="5577880"/>
            <a:ext cx="841799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2026.08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5374725" y="5232598"/>
            <a:ext cx="271966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AUDIENCE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5374725" y="5577880"/>
            <a:ext cx="2719660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PLATFORM &amp; ML LEADS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01/07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DIAGNOSIS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problem is usually not MLOps — it is repeatability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213262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 lives in notebooks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The run that produced the model in production cannot be reproduced.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3368825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35458" y="1820069"/>
            <a:ext cx="213262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3635458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Deployment is a person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35458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One engineer ships every model, and the steps live in their head.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196051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462684" y="1820069"/>
            <a:ext cx="213262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6462684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Retraining is a memory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62684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Nobody can say when a model was last refreshed, or on what data.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9023276" y="1570434"/>
            <a:ext cx="2624077" cy="377051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289910" y="1820069"/>
            <a:ext cx="213262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9289910" y="2304455"/>
            <a:ext cx="213262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Nobody owns the boundary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289910" y="3083322"/>
            <a:ext cx="2132626" cy="1327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Data platform and ML team each assume the other handles features.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541599" y="5577880"/>
            <a:ext cx="11327869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1866"/>
              </a:spcBef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None of these is fixed by a tool. They are fixed by making one path the only path.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02/07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SCOPE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platform owns six capabilities; a project owns none of them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309381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309381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Data &amp; features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2753122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One definition, same in training and serving.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4311167" y="1570434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77801" y="1820069"/>
            <a:ext cx="309381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577801" y="2304455"/>
            <a:ext cx="309381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577801" y="2753122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Every model comes from a pipeline that can re-run.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8080736" y="1570434"/>
            <a:ext cx="3566617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47369" y="1820069"/>
            <a:ext cx="3094018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347369" y="2304455"/>
            <a:ext cx="309401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Registry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347369" y="2753122"/>
            <a:ext cx="3094018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model has a version, a lineage and an owner.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541599" y="3869928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8232" y="4119562"/>
            <a:ext cx="309381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808232" y="4603948"/>
            <a:ext cx="309381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Serving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08232" y="5052616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Shipping a model is a config change, not a project.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4311167" y="3869928"/>
            <a:ext cx="3566419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577801" y="4119562"/>
            <a:ext cx="309381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05</a:t>
            </a:r>
            <a:endParaRPr lang="en-US" sz="1866" dirty="0"/>
          </a:p>
        </p:txBody>
      </p:sp>
      <p:sp>
        <p:nvSpPr>
          <p:cNvPr id="23" name="Text 21"/>
          <p:cNvSpPr/>
          <p:nvPr/>
        </p:nvSpPr>
        <p:spPr>
          <a:xfrm>
            <a:off x="4577801" y="4603948"/>
            <a:ext cx="3093816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Monitoring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77801" y="5052616"/>
            <a:ext cx="309381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Inputs, outputs and drift are visible on demand.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8080736" y="3869928"/>
            <a:ext cx="3566617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347369" y="4119562"/>
            <a:ext cx="3094018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06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8347369" y="4603948"/>
            <a:ext cx="3094018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Governance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347369" y="5052616"/>
            <a:ext cx="3094018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a model trained on is answerable months later.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03/07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SEQUENCE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Three phases, each stopped by a criterion, not a date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3441038" cy="3804245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296592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 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2965927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REPEATABLE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2769989"/>
            <a:ext cx="2965927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Every model is produced by a pipeline, not a laptop.</a:t>
            </a:r>
            <a:endParaRPr lang="en-US" sz="1866" dirty="0"/>
          </a:p>
        </p:txBody>
      </p:sp>
      <p:sp>
        <p:nvSpPr>
          <p:cNvPr id="9" name="Shape 7"/>
          <p:cNvSpPr/>
          <p:nvPr/>
        </p:nvSpPr>
        <p:spPr>
          <a:xfrm>
            <a:off x="808232" y="3963988"/>
            <a:ext cx="2907771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08232" y="4139605"/>
            <a:ext cx="296592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EXIT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808232" y="4484886"/>
            <a:ext cx="2965927" cy="640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Any model in production can be rebuilt from its commit.</a:t>
            </a:r>
            <a:endParaRPr lang="en-US" sz="1866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82637" y="3387923"/>
            <a:ext cx="372374" cy="16926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355011" y="1570434"/>
            <a:ext cx="3479128" cy="3804245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4355011" y="1576784"/>
            <a:ext cx="3479128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7827791" y="1570434"/>
            <a:ext cx="0" cy="3804245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4355011" y="5368330"/>
            <a:ext cx="3479128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4380405" y="1570434"/>
            <a:ext cx="0" cy="3804245"/>
          </a:xfrm>
          <a:prstGeom prst="line">
            <a:avLst/>
          </a:prstGeom>
          <a:noFill/>
          <a:ln w="50794">
            <a:solidFill>
              <a:srgbClr val="0B5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4659735" y="1820069"/>
            <a:ext cx="296592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 02</a:t>
            </a:r>
            <a:endParaRPr lang="en-US" sz="1866" dirty="0"/>
          </a:p>
        </p:txBody>
      </p:sp>
      <p:sp>
        <p:nvSpPr>
          <p:cNvPr id="19" name="Text 16"/>
          <p:cNvSpPr/>
          <p:nvPr/>
        </p:nvSpPr>
        <p:spPr>
          <a:xfrm>
            <a:off x="4659735" y="2304455"/>
            <a:ext cx="2965927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OBSERVABLE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4659735" y="2769989"/>
            <a:ext cx="2965927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Inputs, outputs and drift are visible without a request.</a:t>
            </a:r>
            <a:endParaRPr lang="en-US" sz="1866" dirty="0"/>
          </a:p>
        </p:txBody>
      </p:sp>
      <p:sp>
        <p:nvSpPr>
          <p:cNvPr id="21" name="Shape 18"/>
          <p:cNvSpPr/>
          <p:nvPr/>
        </p:nvSpPr>
        <p:spPr>
          <a:xfrm>
            <a:off x="4659735" y="3643908"/>
            <a:ext cx="2907771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659735" y="3819525"/>
            <a:ext cx="296592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EXIT</a:t>
            </a:r>
            <a:endParaRPr lang="en-US" sz="1466" dirty="0"/>
          </a:p>
        </p:txBody>
      </p:sp>
      <p:sp>
        <p:nvSpPr>
          <p:cNvPr id="23" name="Text 20"/>
          <p:cNvSpPr/>
          <p:nvPr/>
        </p:nvSpPr>
        <p:spPr>
          <a:xfrm>
            <a:off x="4659735" y="4164806"/>
            <a:ext cx="2965927" cy="960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On-call can answer “is this model healthy” without the ML team.</a:t>
            </a:r>
            <a:endParaRPr lang="en-US" sz="1866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34139" y="3387923"/>
            <a:ext cx="372374" cy="169267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8206513" y="1570434"/>
            <a:ext cx="3441038" cy="3804245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8473147" y="1820069"/>
            <a:ext cx="296592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 03</a:t>
            </a:r>
            <a:endParaRPr lang="en-US" sz="1866" dirty="0"/>
          </a:p>
        </p:txBody>
      </p:sp>
      <p:sp>
        <p:nvSpPr>
          <p:cNvPr id="27" name="Text 23"/>
          <p:cNvSpPr/>
          <p:nvPr/>
        </p:nvSpPr>
        <p:spPr>
          <a:xfrm>
            <a:off x="8473147" y="2304455"/>
            <a:ext cx="2965927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1067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SELF-SERVE</a:t>
            </a:r>
            <a:endParaRPr lang="en-US" sz="2000" dirty="0"/>
          </a:p>
        </p:txBody>
      </p:sp>
      <p:sp>
        <p:nvSpPr>
          <p:cNvPr id="28" name="Text 24"/>
          <p:cNvSpPr/>
          <p:nvPr/>
        </p:nvSpPr>
        <p:spPr>
          <a:xfrm>
            <a:off x="8473147" y="2769989"/>
            <a:ext cx="2965927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Aft>
                <a:spcPts val="1600"/>
              </a:spcAft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new team ships a model without the platform team in the loop.</a:t>
            </a:r>
            <a:endParaRPr lang="en-US" sz="1866" dirty="0"/>
          </a:p>
        </p:txBody>
      </p:sp>
      <p:sp>
        <p:nvSpPr>
          <p:cNvPr id="29" name="Shape 25"/>
          <p:cNvSpPr/>
          <p:nvPr/>
        </p:nvSpPr>
        <p:spPr>
          <a:xfrm>
            <a:off x="8473147" y="3975497"/>
            <a:ext cx="2907771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/>
          <p:nvPr/>
        </p:nvSpPr>
        <p:spPr>
          <a:xfrm>
            <a:off x="8473147" y="4151114"/>
            <a:ext cx="296592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667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EXIT</a:t>
            </a:r>
            <a:endParaRPr lang="en-US" sz="1466" dirty="0"/>
          </a:p>
        </p:txBody>
      </p:sp>
      <p:sp>
        <p:nvSpPr>
          <p:cNvPr id="31" name="Text 27"/>
          <p:cNvSpPr/>
          <p:nvPr/>
        </p:nvSpPr>
        <p:spPr>
          <a:xfrm>
            <a:off x="8473147" y="4496395"/>
            <a:ext cx="2965927" cy="6401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 team onboards using the documentation alone.</a:t>
            </a:r>
            <a:endParaRPr lang="en-US" sz="1866" dirty="0"/>
          </a:p>
        </p:txBody>
      </p:sp>
      <p:sp>
        <p:nvSpPr>
          <p:cNvPr id="32" name="Text 28"/>
          <p:cNvSpPr/>
          <p:nvPr/>
        </p:nvSpPr>
        <p:spPr>
          <a:xfrm>
            <a:off x="541599" y="5577880"/>
            <a:ext cx="11327869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Bef>
                <a:spcPts val="1600"/>
              </a:spcBef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Phases are gates, not calendar quarters — no dates appear here because none can be sourced.</a:t>
            </a:r>
            <a:endParaRPr lang="en-US" sz="1866" dirty="0"/>
          </a:p>
        </p:txBody>
      </p:sp>
      <p:sp>
        <p:nvSpPr>
          <p:cNvPr id="33" name="Text 29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04/07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POSTURE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 the undifferentiated layers; build only your differentiator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11105754" cy="4339431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54296" y="1583134"/>
            <a:ext cx="11080360" cy="578247"/>
          </a:xfrm>
          <a:prstGeom prst="rect">
            <a:avLst/>
          </a:prstGeom>
          <a:solidFill>
            <a:srgbClr val="F4F5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54296" y="2155031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1171" y="1735534"/>
            <a:ext cx="290724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CAPABILITY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4115160" y="1735534"/>
            <a:ext cx="313327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DEFAULT POSTURE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7660748" y="1735534"/>
            <a:ext cx="381136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BUILD ONLY IF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791171" y="2288381"/>
            <a:ext cx="2907244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Data &amp; features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4115160" y="2288381"/>
            <a:ext cx="3133275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 or adopt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7660748" y="2288381"/>
            <a:ext cx="3811369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Your features are the product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554296" y="2753916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91171" y="2887266"/>
            <a:ext cx="2907244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4115160" y="2887266"/>
            <a:ext cx="3133275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Adopt a standard runner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7660748" y="2887266"/>
            <a:ext cx="3811369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Training itself is your research</a:t>
            </a:r>
            <a:endParaRPr lang="en-US" sz="1866" dirty="0"/>
          </a:p>
        </p:txBody>
      </p:sp>
      <p:sp>
        <p:nvSpPr>
          <p:cNvPr id="18" name="Shape 16"/>
          <p:cNvSpPr/>
          <p:nvPr/>
        </p:nvSpPr>
        <p:spPr>
          <a:xfrm>
            <a:off x="554296" y="3352800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91171" y="3486150"/>
            <a:ext cx="2907244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Registry</a:t>
            </a:r>
            <a:endParaRPr lang="en-US" sz="1866" dirty="0"/>
          </a:p>
        </p:txBody>
      </p:sp>
      <p:sp>
        <p:nvSpPr>
          <p:cNvPr id="20" name="Text 18"/>
          <p:cNvSpPr/>
          <p:nvPr/>
        </p:nvSpPr>
        <p:spPr>
          <a:xfrm>
            <a:off x="4115160" y="3486150"/>
            <a:ext cx="3133275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7660748" y="3486150"/>
            <a:ext cx="3811369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Never</a:t>
            </a:r>
            <a:endParaRPr lang="en-US" sz="1866" dirty="0"/>
          </a:p>
        </p:txBody>
      </p:sp>
      <p:sp>
        <p:nvSpPr>
          <p:cNvPr id="22" name="Shape 20"/>
          <p:cNvSpPr/>
          <p:nvPr/>
        </p:nvSpPr>
        <p:spPr>
          <a:xfrm>
            <a:off x="554296" y="3951684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91171" y="4123928"/>
            <a:ext cx="2907244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Serving</a:t>
            </a:r>
            <a:endParaRPr lang="en-US" sz="1866" dirty="0"/>
          </a:p>
        </p:txBody>
      </p:sp>
      <p:sp>
        <p:nvSpPr>
          <p:cNvPr id="24" name="Text 22"/>
          <p:cNvSpPr/>
          <p:nvPr/>
        </p:nvSpPr>
        <p:spPr>
          <a:xfrm>
            <a:off x="4115160" y="4123928"/>
            <a:ext cx="3133275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</a:t>
            </a:r>
            <a:endParaRPr lang="en-US" sz="1866" dirty="0"/>
          </a:p>
        </p:txBody>
      </p:sp>
      <p:sp>
        <p:nvSpPr>
          <p:cNvPr id="25" name="Text 23"/>
          <p:cNvSpPr/>
          <p:nvPr/>
        </p:nvSpPr>
        <p:spPr>
          <a:xfrm>
            <a:off x="7660748" y="3958034"/>
            <a:ext cx="3811369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Latency or hardware is the differentiator</a:t>
            </a:r>
            <a:endParaRPr lang="en-US" sz="1866" dirty="0"/>
          </a:p>
        </p:txBody>
      </p:sp>
      <p:sp>
        <p:nvSpPr>
          <p:cNvPr id="26" name="Shape 24"/>
          <p:cNvSpPr/>
          <p:nvPr/>
        </p:nvSpPr>
        <p:spPr>
          <a:xfrm>
            <a:off x="554296" y="4628356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791171" y="4800600"/>
            <a:ext cx="2907244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Monitoring</a:t>
            </a:r>
            <a:endParaRPr lang="en-US" sz="1866" dirty="0"/>
          </a:p>
        </p:txBody>
      </p:sp>
      <p:sp>
        <p:nvSpPr>
          <p:cNvPr id="28" name="Text 26"/>
          <p:cNvSpPr/>
          <p:nvPr/>
        </p:nvSpPr>
        <p:spPr>
          <a:xfrm>
            <a:off x="4115160" y="4800600"/>
            <a:ext cx="3133275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Buy, then extend</a:t>
            </a:r>
            <a:endParaRPr lang="en-US" sz="1866" dirty="0"/>
          </a:p>
        </p:txBody>
      </p:sp>
      <p:sp>
        <p:nvSpPr>
          <p:cNvPr id="29" name="Text 27"/>
          <p:cNvSpPr/>
          <p:nvPr/>
        </p:nvSpPr>
        <p:spPr>
          <a:xfrm>
            <a:off x="7660748" y="4634706"/>
            <a:ext cx="3811369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Your drift definition is domain-specific</a:t>
            </a:r>
            <a:endParaRPr lang="en-US" sz="1866" dirty="0"/>
          </a:p>
        </p:txBody>
      </p:sp>
      <p:sp>
        <p:nvSpPr>
          <p:cNvPr id="30" name="Shape 28"/>
          <p:cNvSpPr/>
          <p:nvPr/>
        </p:nvSpPr>
        <p:spPr>
          <a:xfrm>
            <a:off x="554296" y="5305028"/>
            <a:ext cx="11080360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791171" y="5438378"/>
            <a:ext cx="2907244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Governance</a:t>
            </a:r>
            <a:endParaRPr lang="en-US" sz="1866" dirty="0"/>
          </a:p>
        </p:txBody>
      </p:sp>
      <p:sp>
        <p:nvSpPr>
          <p:cNvPr id="32" name="Text 30"/>
          <p:cNvSpPr/>
          <p:nvPr/>
        </p:nvSpPr>
        <p:spPr>
          <a:xfrm>
            <a:off x="4115160" y="5438378"/>
            <a:ext cx="3133275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Adopt the company standard</a:t>
            </a:r>
            <a:endParaRPr lang="en-US" sz="1866" dirty="0"/>
          </a:p>
        </p:txBody>
      </p:sp>
      <p:sp>
        <p:nvSpPr>
          <p:cNvPr id="33" name="Text 31"/>
          <p:cNvSpPr/>
          <p:nvPr/>
        </p:nvSpPr>
        <p:spPr>
          <a:xfrm>
            <a:off x="7660748" y="5438378"/>
            <a:ext cx="3811369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Never — inherit it</a:t>
            </a:r>
            <a:endParaRPr lang="en-US" sz="1866" dirty="0"/>
          </a:p>
        </p:txBody>
      </p:sp>
      <p:sp>
        <p:nvSpPr>
          <p:cNvPr id="34" name="Text 32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05/07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DECISIONS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Decide four things before phase 1, or phase 2 will decide them for you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1570434"/>
            <a:ext cx="5451302" cy="2094508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8232" y="1820069"/>
            <a:ext cx="501639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808232" y="2304455"/>
            <a:ext cx="5016397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Who owns the boundary with the data platform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08232" y="3083322"/>
            <a:ext cx="501639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features get built twice, differently.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6196051" y="1570434"/>
            <a:ext cx="5451302" cy="2094508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462684" y="1820069"/>
            <a:ext cx="501639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6462684" y="2304455"/>
            <a:ext cx="5016397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the exit criterion for each phase is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62684" y="2753122"/>
            <a:ext cx="501639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phase 1 never ends.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541599" y="3868142"/>
            <a:ext cx="5451302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08232" y="4117777"/>
            <a:ext cx="501639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808232" y="4602163"/>
            <a:ext cx="5016397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you will not build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08232" y="5050830"/>
            <a:ext cx="5016397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the platform grows a bespoke everything.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6196051" y="3868142"/>
            <a:ext cx="5451302" cy="2096294"/>
          </a:xfrm>
          <a:prstGeom prst="rect">
            <a:avLst/>
          </a:prstGeom>
          <a:noFill/>
          <a:ln w="12698">
            <a:solidFill>
              <a:srgbClr val="D1D5D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62684" y="4117777"/>
            <a:ext cx="5016397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Aft>
                <a:spcPts val="1200"/>
              </a:spcAft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04</a:t>
            </a:r>
            <a:endParaRPr lang="en-US" sz="1866" dirty="0"/>
          </a:p>
        </p:txBody>
      </p:sp>
      <p:sp>
        <p:nvSpPr>
          <p:cNvPr id="19" name="Text 17"/>
          <p:cNvSpPr/>
          <p:nvPr/>
        </p:nvSpPr>
        <p:spPr>
          <a:xfrm>
            <a:off x="6462684" y="4602163"/>
            <a:ext cx="5016397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00"/>
              </a:lnSpc>
              <a:spcAft>
                <a:spcPts val="933"/>
              </a:spcAft>
              <a:buNone/>
            </a:pPr>
            <a:r>
              <a:rPr lang="en-US" sz="2000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Who the first internal customer is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62684" y="5050830"/>
            <a:ext cx="5016397" cy="331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Left open: the platform is designed for nobody.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06/07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1599" y="484386"/>
            <a:ext cx="1132786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933"/>
              </a:spcAft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DISCUSSION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541599" y="863600"/>
            <a:ext cx="1132786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we need to agree on before the first phase starts</a:t>
            </a:r>
            <a:endParaRPr lang="en-US" sz="2666" dirty="0"/>
          </a:p>
        </p:txBody>
      </p:sp>
      <p:sp>
        <p:nvSpPr>
          <p:cNvPr id="4" name="Text 2"/>
          <p:cNvSpPr/>
          <p:nvPr/>
        </p:nvSpPr>
        <p:spPr>
          <a:xfrm>
            <a:off x="541599" y="1286867"/>
            <a:ext cx="11105754" cy="12700"/>
          </a:xfrm>
          <a:prstGeom prst="rect">
            <a:avLst/>
          </a:prstGeom>
          <a:solidFill>
            <a:srgbClr val="D1D5D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1599" y="2447528"/>
            <a:ext cx="278441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01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1119304" y="2396728"/>
            <a:ext cx="6009153" cy="3885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capability is actually blocking us today?</a:t>
            </a:r>
            <a:endParaRPr lang="en-US" sz="2266" dirty="0"/>
          </a:p>
        </p:txBody>
      </p:sp>
      <p:sp>
        <p:nvSpPr>
          <p:cNvPr id="7" name="Shape 5"/>
          <p:cNvSpPr/>
          <p:nvPr/>
        </p:nvSpPr>
        <p:spPr>
          <a:xfrm>
            <a:off x="541599" y="3028553"/>
            <a:ext cx="11105754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1599" y="3322638"/>
            <a:ext cx="278441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02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1119304" y="3271838"/>
            <a:ext cx="7148820" cy="3885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What is our exit criterion for phase 1, in one sentence?</a:t>
            </a:r>
            <a:endParaRPr lang="en-US" sz="2266" dirty="0"/>
          </a:p>
        </p:txBody>
      </p:sp>
      <p:sp>
        <p:nvSpPr>
          <p:cNvPr id="10" name="Shape 8"/>
          <p:cNvSpPr/>
          <p:nvPr/>
        </p:nvSpPr>
        <p:spPr>
          <a:xfrm>
            <a:off x="541599" y="3903663"/>
            <a:ext cx="11105754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1599" y="4197747"/>
            <a:ext cx="278441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03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1119304" y="4146947"/>
            <a:ext cx="6151612" cy="3885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60"/>
              </a:lnSpc>
              <a:buNone/>
            </a:pPr>
            <a:r>
              <a:rPr lang="en-US" sz="2266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Which layer are we genuinely differentiated in?</a:t>
            </a:r>
            <a:endParaRPr lang="en-US" sz="2266" dirty="0"/>
          </a:p>
        </p:txBody>
      </p:sp>
      <p:sp>
        <p:nvSpPr>
          <p:cNvPr id="13" name="Shape 11"/>
          <p:cNvSpPr/>
          <p:nvPr/>
        </p:nvSpPr>
        <p:spPr>
          <a:xfrm>
            <a:off x="541599" y="5368330"/>
            <a:ext cx="11105754" cy="0"/>
          </a:xfrm>
          <a:prstGeom prst="line">
            <a:avLst/>
          </a:prstGeom>
          <a:noFill/>
          <a:ln w="12698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1599" y="5577880"/>
            <a:ext cx="1165569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1A1A1A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Thank you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9542458" y="5628680"/>
            <a:ext cx="214699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b="1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6" name="Text 14"/>
          <p:cNvSpPr/>
          <p:nvPr/>
        </p:nvSpPr>
        <p:spPr>
          <a:xfrm>
            <a:off x="319484" y="6113066"/>
            <a:ext cx="11327869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buNone/>
            </a:pPr>
            <a:r>
              <a:rPr lang="en-US" sz="1333" dirty="0">
                <a:solidFill>
                  <a:srgbClr val="6B7280"/>
                </a:solidFill>
                <a:latin typeface="Arimo" pitchFamily="34" charset="0"/>
                <a:ea typeface="Arimo" pitchFamily="34" charset="-122"/>
                <a:cs typeface="Arimo" pitchFamily="34" charset="-120"/>
              </a:rPr>
              <a:t>MLOPS PLATFORM ROADMAP · SHEET 07/07 · NO EXTERNAL DATA CITED</a:t>
            </a:r>
            <a:endParaRPr lang="en-US" sz="133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2026-08-27T18:52:59Z</dcterms:created>
  <dcterms:modified xsi:type="dcterms:W3CDTF">2026-08-27T18:52:59Z</dcterms:modified>
</cp:coreProperties>
</file>