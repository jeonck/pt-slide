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ENGINEERING / 2026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7752"/>
            <a:ext cx="2031492" cy="50800"/>
          </a:xfrm>
          <a:prstGeom prst="rect">
            <a:avLst/>
          </a:prstGeom>
          <a:solidFill>
            <a:srgbClr val="0B5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1599" y="3071019"/>
            <a:ext cx="811567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build first, what to buy,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what to stop each phase on.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4989314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1599" y="5232598"/>
            <a:ext cx="22922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541599" y="5577880"/>
            <a:ext cx="229228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3669184" y="5232598"/>
            <a:ext cx="8417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3669184" y="5577880"/>
            <a:ext cx="84179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2026.08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5374725" y="5232598"/>
            <a:ext cx="271966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5374725" y="5577880"/>
            <a:ext cx="2719660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&amp; ML LEADS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01/07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DIAGNOSIS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problem is usually not MLOps — it is repeatability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lives in notebooks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run that produced the model in production cannot be reproduced.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3368825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35458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635458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Deployment is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35458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engineer ships every model, and the steps live in their head.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196051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62684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6462684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Retraining is a memory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62684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can say when a model was last refreshed, or on what data.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023276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89910" y="1820069"/>
            <a:ext cx="213262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289910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owns the boundary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289910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platform and ML team each assume the other handles features.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None of these is fixed by a tool. They are fixed by making one path the only path.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02/07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SCOPE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platform owns six capabilities; a project owns none of them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definition, same in training and serving.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4311167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77801" y="1820069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7801" y="2304455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7801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comes from a pipeline that can re-run.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080736" y="1570434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47369" y="1820069"/>
            <a:ext cx="309401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347369" y="2304455"/>
            <a:ext cx="309401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47369" y="2753122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model has a version, a lineage and an owner.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541599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8232" y="4119562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808232" y="4603948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8232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Shipping a model is a config change, not a project.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4311167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7801" y="4119562"/>
            <a:ext cx="3093816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577801" y="4603948"/>
            <a:ext cx="309381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7801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on demand.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8080736" y="3869928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7369" y="4119562"/>
            <a:ext cx="3094018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06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347369" y="4603948"/>
            <a:ext cx="309401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47369" y="5052616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a model trained on is answerable months later.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03/07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SEQUENCE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phases, each stopped by a criterion, not a date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REPEATABLE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is produced by a pipeline, not a laptop.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808232" y="396398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8232" y="4139605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08232" y="4484886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Any model in production can be rebuilt from its commit.</a:t>
            </a:r>
            <a:endParaRPr lang="en-US" sz="1866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2637" y="3387923"/>
            <a:ext cx="372374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355011" y="1570434"/>
            <a:ext cx="3479128" cy="3804245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355011" y="1576784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27791" y="1570434"/>
            <a:ext cx="0" cy="3804245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55011" y="5368330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0405" y="1570434"/>
            <a:ext cx="0" cy="3804245"/>
          </a:xfrm>
          <a:prstGeom prst="line">
            <a:avLst/>
          </a:prstGeom>
          <a:noFill/>
          <a:ln w="50794">
            <a:solidFill>
              <a:srgbClr val="0B5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59735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02</a:t>
            </a:r>
            <a:endParaRPr lang="en-US" sz="1866" dirty="0"/>
          </a:p>
        </p:txBody>
      </p:sp>
      <p:sp>
        <p:nvSpPr>
          <p:cNvPr id="19" name="Text 16"/>
          <p:cNvSpPr/>
          <p:nvPr/>
        </p:nvSpPr>
        <p:spPr>
          <a:xfrm>
            <a:off x="4659735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OBSERVABLE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659735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without a request.</a:t>
            </a:r>
            <a:endParaRPr lang="en-US" sz="1866" dirty="0"/>
          </a:p>
        </p:txBody>
      </p:sp>
      <p:sp>
        <p:nvSpPr>
          <p:cNvPr id="21" name="Shape 18"/>
          <p:cNvSpPr/>
          <p:nvPr/>
        </p:nvSpPr>
        <p:spPr>
          <a:xfrm>
            <a:off x="4659735" y="364390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9735" y="3819525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23" name="Text 20"/>
          <p:cNvSpPr/>
          <p:nvPr/>
        </p:nvSpPr>
        <p:spPr>
          <a:xfrm>
            <a:off x="4659735" y="4164806"/>
            <a:ext cx="2965927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On-call can answer “is this model healthy” without the ML team.</a:t>
            </a:r>
            <a:endParaRPr lang="en-US" sz="1866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34139" y="3387923"/>
            <a:ext cx="372374" cy="169267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206513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8473147" y="1820069"/>
            <a:ext cx="296592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03</a:t>
            </a:r>
            <a:endParaRPr lang="en-US" sz="1866" dirty="0"/>
          </a:p>
        </p:txBody>
      </p:sp>
      <p:sp>
        <p:nvSpPr>
          <p:cNvPr id="27" name="Text 23"/>
          <p:cNvSpPr/>
          <p:nvPr/>
        </p:nvSpPr>
        <p:spPr>
          <a:xfrm>
            <a:off x="8473147" y="2304455"/>
            <a:ext cx="296592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SELF-SERVE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8473147" y="2769989"/>
            <a:ext cx="2965927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new team ships a model without the platform team in the loop.</a:t>
            </a:r>
            <a:endParaRPr lang="en-US" sz="1866" dirty="0"/>
          </a:p>
        </p:txBody>
      </p:sp>
      <p:sp>
        <p:nvSpPr>
          <p:cNvPr id="29" name="Shape 25"/>
          <p:cNvSpPr/>
          <p:nvPr/>
        </p:nvSpPr>
        <p:spPr>
          <a:xfrm>
            <a:off x="8473147" y="3975497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473147" y="4151114"/>
            <a:ext cx="296592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31" name="Text 27"/>
          <p:cNvSpPr/>
          <p:nvPr/>
        </p:nvSpPr>
        <p:spPr>
          <a:xfrm>
            <a:off x="8473147" y="4496395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team onboards using the documentation alone.</a:t>
            </a:r>
            <a:endParaRPr lang="en-US" sz="1866" dirty="0"/>
          </a:p>
        </p:txBody>
      </p:sp>
      <p:sp>
        <p:nvSpPr>
          <p:cNvPr id="32" name="Text 28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Phases are gates, not calendar quarters — no dates appear here because none can be sourced.</a:t>
            </a:r>
            <a:endParaRPr lang="en-US" sz="1866" dirty="0"/>
          </a:p>
        </p:txBody>
      </p:sp>
      <p:sp>
        <p:nvSpPr>
          <p:cNvPr id="33" name="Text 2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04/07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POSTURE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the undifferentiated layers; build only your differentiator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11105754" cy="433943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583134"/>
            <a:ext cx="11080360" cy="578247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4296" y="2155031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1171" y="1735534"/>
            <a:ext cx="290724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CAPABILITY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4115160" y="1735534"/>
            <a:ext cx="313327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DEFAULT POSTURE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660748" y="1735534"/>
            <a:ext cx="38113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BUILD ONLY IF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2288381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115160" y="2288381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or adopt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660748" y="2288381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features are the product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75391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171" y="2887266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4115160" y="2887266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a standard runner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7660748" y="2887266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itself is your research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54296" y="3352800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171" y="3486150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115160" y="3486150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7660748" y="3486150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554296" y="3951684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1171" y="4123928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4115160" y="4123928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7660748" y="3958034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Latency or hardware is the differentiator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554296" y="462835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1171" y="4800600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4115160" y="4800600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Buy, then extend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7660748" y="4634706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drift definition is domain-specific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554296" y="5305028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171" y="5438378"/>
            <a:ext cx="2907244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4115160" y="5438378"/>
            <a:ext cx="313327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the company standard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7660748" y="5438378"/>
            <a:ext cx="38113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 — inherit it</a:t>
            </a:r>
            <a:endParaRPr lang="en-US" sz="1866" dirty="0"/>
          </a:p>
        </p:txBody>
      </p:sp>
      <p:sp>
        <p:nvSpPr>
          <p:cNvPr id="34" name="Text 3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05/07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Decide four things before phase 1, or phase 2 will decide them for you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501639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owns the boundary with the data platform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features get built twice, differently.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196051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684" y="1820069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462684" y="2304455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the exit criterion for each phase is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62684" y="2753122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phase 1 never ends.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541599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232" y="4117777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08232" y="4602163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you will not build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8232" y="5050830"/>
            <a:ext cx="501639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grows a bespoke everything.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196051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62684" y="4117777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462684" y="4602163"/>
            <a:ext cx="50163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the first internal customer 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62684" y="5050830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is designed for nobody.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06/07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agree on before the first phase starts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11105754" cy="3791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capability is actually blocking us today?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is our exit criterion for phase 1, in one sentence?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layer are we genuinely differentiated in?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1599" y="2447528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119304" y="2396728"/>
            <a:ext cx="6009153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capability is actually blocking us today?</a:t>
            </a:r>
            <a:endParaRPr lang="en-US" sz="2266" dirty="0"/>
          </a:p>
        </p:txBody>
      </p:sp>
      <p:sp>
        <p:nvSpPr>
          <p:cNvPr id="8" name="Text 6"/>
          <p:cNvSpPr/>
          <p:nvPr/>
        </p:nvSpPr>
        <p:spPr>
          <a:xfrm>
            <a:off x="541599" y="3322638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119304" y="3271838"/>
            <a:ext cx="7148820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is our exit criterion for phase 1, in one sentence?</a:t>
            </a:r>
            <a:endParaRPr lang="en-US" sz="2266" dirty="0"/>
          </a:p>
        </p:txBody>
      </p:sp>
      <p:sp>
        <p:nvSpPr>
          <p:cNvPr id="10" name="Text 8"/>
          <p:cNvSpPr/>
          <p:nvPr/>
        </p:nvSpPr>
        <p:spPr>
          <a:xfrm>
            <a:off x="541599" y="4197747"/>
            <a:ext cx="278441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1119304" y="4146947"/>
            <a:ext cx="6151612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layer are we genuinely differentiated in?</a:t>
            </a:r>
            <a:endParaRPr lang="en-US" sz="2266" dirty="0"/>
          </a:p>
        </p:txBody>
      </p:sp>
      <p:sp>
        <p:nvSpPr>
          <p:cNvPr id="12" name="Shape 10"/>
          <p:cNvSpPr/>
          <p:nvPr/>
        </p:nvSpPr>
        <p:spPr>
          <a:xfrm>
            <a:off x="541599" y="5368330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1599" y="5577880"/>
            <a:ext cx="11655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9542458" y="5628680"/>
            <a:ext cx="214699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07/07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2026-08-27T15:09:35Z</dcterms:created>
  <dcterms:modified xsi:type="dcterms:W3CDTF">2026-08-27T15:09:35Z</dcterms:modified>
</cp:coreProperties>
</file>