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140738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RUNBOOK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[ 01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1708348"/>
            <a:ext cx="11258664" cy="1608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33"/>
              </a:lnSpc>
              <a:spcAft>
                <a:spcPts val="2400"/>
              </a:spcAft>
              <a:buNone/>
            </a:pPr>
            <a:r>
              <a:rPr lang="en-US" sz="50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Incident response:</a:t>
            </a:r>
            <a:endParaRPr lang="en-US" sz="5066" dirty="0"/>
          </a:p>
          <a:p>
            <a:pPr algn="l" indent="0" marL="0">
              <a:lnSpc>
                <a:spcPts val="6333"/>
              </a:lnSpc>
              <a:spcAft>
                <a:spcPts val="2400"/>
              </a:spcAft>
              <a:buNone/>
            </a:pPr>
            <a:r>
              <a:rPr lang="en-US" sz="50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first 30 minutes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575523" y="3621683"/>
            <a:ext cx="2031492" cy="12700"/>
          </a:xfrm>
          <a:prstGeom prst="rect">
            <a:avLst/>
          </a:prstGeom>
          <a:solidFill>
            <a:srgbClr val="3DF5E0"/>
          </a:solidFill>
          <a:ln/>
          <a:effectLst>
            <a:outerShdw sx="100000" sy="100000" kx="0" ky="0" algn="bl" rotWithShape="0" blurRad="101587" dist="50800" dir="16200000">
              <a:srgbClr val="3df5e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3939183"/>
            <a:ext cx="10360609" cy="834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bottleneck in the first half hour is rarely diagnosis.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It is that nobody said who is in charge, and nobody told anyone else.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575523" y="5826125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5523" y="6042025"/>
            <a:ext cx="225181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164058" y="6042025"/>
            <a:ext cx="351835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RUNBOOK</a:t>
            </a:r>
            <a:endParaRPr lang="en-US" sz="17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3236881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02 — WHAT GOES WRONG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[ 02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Three failures, none of them technical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01 ]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25095" y="2489994"/>
            <a:ext cx="3059617" cy="748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Everyone debugs.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speaks.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25095" y="3373834"/>
            <a:ext cx="3059617" cy="2062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interesting problem pulls in every pair of hands. Stakeholders go quiet, then arrive asking — and the asking slows the fix.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345092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94664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02 ]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4594664" y="2489994"/>
            <a:ext cx="3059617" cy="748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says who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is in charge.</a:t>
            </a:r>
            <a:endParaRPr lang="en-US" sz="2266" dirty="0"/>
          </a:p>
        </p:txBody>
      </p:sp>
      <p:sp>
        <p:nvSpPr>
          <p:cNvPr id="13" name="Text 11"/>
          <p:cNvSpPr/>
          <p:nvPr/>
        </p:nvSpPr>
        <p:spPr>
          <a:xfrm>
            <a:off x="4594664" y="3373834"/>
            <a:ext cx="3059617" cy="2062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With no declared owner, every call needs consensus. Two people restart the same service; nobody owns the rollback.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8114660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64232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03 ]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8364232" y="2489994"/>
            <a:ext cx="3059617" cy="748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timeline is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reconstructed.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8364232" y="3373834"/>
            <a:ext cx="3059617" cy="1718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writes while it happens. The review then argues about the order of events, from memory, instead of the cause.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75523" y="5559425"/>
            <a:ext cx="1125866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Not one of these is a diagnosis problem. Each is a decision nobody made.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8523736" y="6089253"/>
            <a:ext cx="315148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 CHART · MECHANISM ONLY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1829700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03 — ROLES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[ 03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Three roles, defined by what they don't do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COMMANDER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25095" y="2489994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25095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Declares, assigns each role by name, decides, and keeps the log.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825095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5095" y="42648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25095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Touch a terminal. A commander who debugs is no longer commanding.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4345092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94664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COMMS ]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594664" y="2489994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594664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Writes to stakeholders on cadence, including when nothing changed.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594664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94664" y="42648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19" name="Text 17"/>
          <p:cNvSpPr/>
          <p:nvPr/>
        </p:nvSpPr>
        <p:spPr>
          <a:xfrm>
            <a:off x="4594664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Diagnose, or promise a fix time. “We don't know yet” is a full update.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114660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64232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INVESTIGATOR ]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364232" y="2489994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8364232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One hypothesis at a time — tested, and the result said out loud.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8364232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364232" y="42648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26" name="Text 24"/>
          <p:cNvSpPr/>
          <p:nvPr/>
        </p:nvSpPr>
        <p:spPr>
          <a:xfrm>
            <a:off x="8364232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Answer stakeholders, or change production without announcing it.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6793595" y="6089253"/>
            <a:ext cx="491623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EACH ROLE IS ONE PERSON, NAMED OUT LOUD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25181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04 — SEQUENCE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[ 04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Five checkpoints, not a clock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605063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CHECKPOINT ] EACH ONE IS PASSED, NOT SCHEDULED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7905956" y="1779984"/>
            <a:ext cx="378162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NO CLOCK, NO MINUTE MARKERS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75523" y="2209998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3DF5E0"/>
            </a:solidFill>
          </a:ln>
          <a:effectLst>
            <a:outerShdw sx="100000" sy="100000" kx="0" ky="0" algn="bl" rotWithShape="0" blurRad="101587" dist="50800" dir="16200000">
              <a:srgbClr val="3df5e0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5095" y="2378670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01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1718238" y="2365970"/>
            <a:ext cx="1098791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DECLARE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3804485" y="2360017"/>
            <a:ext cx="660488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Someone says the word out loud. Ambiguity ends there.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981822" y="2853928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5523" y="2972395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5095" y="3141067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02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1718238" y="3128367"/>
            <a:ext cx="94196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ASSIGN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3804485" y="3122414"/>
            <a:ext cx="685095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Commander, comms, investigator — named, in the channel.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981822" y="3616325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75523" y="3734792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5095" y="3903464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03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1718238" y="3890764"/>
            <a:ext cx="141284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STABILISE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3804485" y="3884811"/>
            <a:ext cx="652718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Restore service first; the cause can wait for the review.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981822" y="4378722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5523" y="4497189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5095" y="4665861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04</a:t>
            </a:r>
            <a:endParaRPr lang="en-US" sz="1733" dirty="0"/>
          </a:p>
        </p:txBody>
      </p:sp>
      <p:sp>
        <p:nvSpPr>
          <p:cNvPr id="25" name="Text 23"/>
          <p:cNvSpPr/>
          <p:nvPr/>
        </p:nvSpPr>
        <p:spPr>
          <a:xfrm>
            <a:off x="1718238" y="4653161"/>
            <a:ext cx="1726701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COMMUNICATE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3804485" y="4647208"/>
            <a:ext cx="6915707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first update goes out before anyone knows the cause.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981822" y="5141119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75523" y="5259586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5095" y="5428258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05</a:t>
            </a:r>
            <a:endParaRPr lang="en-US" sz="1733" dirty="0"/>
          </a:p>
        </p:txBody>
      </p:sp>
      <p:sp>
        <p:nvSpPr>
          <p:cNvPr id="30" name="Text 28"/>
          <p:cNvSpPr/>
          <p:nvPr/>
        </p:nvSpPr>
        <p:spPr>
          <a:xfrm>
            <a:off x="1718238" y="5415558"/>
            <a:ext cx="94196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RECORD</a:t>
            </a:r>
            <a:endParaRPr lang="en-US" sz="1866" dirty="0"/>
          </a:p>
        </p:txBody>
      </p:sp>
      <p:sp>
        <p:nvSpPr>
          <p:cNvPr id="31" name="Text 29"/>
          <p:cNvSpPr/>
          <p:nvPr/>
        </p:nvSpPr>
        <p:spPr>
          <a:xfrm>
            <a:off x="3804485" y="5409605"/>
            <a:ext cx="578899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log is written while it happens, or it is fiction.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33" name="Text 31"/>
          <p:cNvSpPr/>
          <p:nvPr/>
        </p:nvSpPr>
        <p:spPr>
          <a:xfrm>
            <a:off x="7905956" y="6089253"/>
            <a:ext cx="378162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DECLARE UNLOCKS THE OTHER FOUR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25181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05 — SEVERITY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[ 05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each severity level obliges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1346879" cy="307975"/>
          </a:xfrm>
          <a:prstGeom prst="rect">
            <a:avLst/>
          </a:prstGeom>
          <a:noFill/>
          <a:ln/>
        </p:spPr>
        <p:txBody>
          <a:bodyPr wrap="non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LEVEL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1895993" y="1779984"/>
            <a:ext cx="4075038" cy="307975"/>
          </a:xfrm>
          <a:prstGeom prst="rect">
            <a:avLst/>
          </a:prstGeom>
          <a:noFill/>
          <a:ln/>
        </p:spPr>
        <p:txBody>
          <a:bodyPr wrap="non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WHEN IT APPLIES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5891128" y="1779984"/>
            <a:ext cx="3073580" cy="307975"/>
          </a:xfrm>
          <a:prstGeom prst="rect">
            <a:avLst/>
          </a:prstGeom>
          <a:noFill/>
          <a:ln/>
        </p:spPr>
        <p:txBody>
          <a:bodyPr wrap="non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WHAT IT OBLIGES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904442" y="1779984"/>
            <a:ext cx="2728159" cy="307975"/>
          </a:xfrm>
          <a:prstGeom prst="rect">
            <a:avLst/>
          </a:prstGeom>
          <a:noFill/>
          <a:ln/>
        </p:spPr>
        <p:txBody>
          <a:bodyPr wrap="non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WHO IT WAKES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575523" y="2223294"/>
            <a:ext cx="11037905" cy="3679825"/>
          </a:xfrm>
          <a:prstGeom prst="roundRect">
            <a:avLst>
              <a:gd name="adj" fmla="val 1380"/>
            </a:avLst>
          </a:prstGeom>
          <a:solidFill>
            <a:srgbClr val="16181D"/>
          </a:solidFill>
          <a:ln w="12698">
            <a:solidFill>
              <a:srgbClr val="3DF5E0"/>
            </a:solidFill>
          </a:ln>
          <a:effectLst>
            <a:outerShdw sx="100000" sy="100000" kx="0" ky="0" algn="bl" rotWithShape="0" blurRad="101587" dist="50800" dir="16200000">
              <a:srgbClr val="3df5e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7445" y="2521942"/>
            <a:ext cx="100166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SEV-1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2077915" y="2344341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Customers blocked. No workaround exists.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073050" y="2344341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Declare first, diagnose second.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9086364" y="2344341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On-call, service owner, duty exec.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588220" y="3146425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57445" y="3438723"/>
            <a:ext cx="100166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SEV-2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2077915" y="3261122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Degraded. A workaround exists and it costs someone.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073050" y="3261122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Commander named. Updates on cadence.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9086364" y="3261122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 and service owner.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588220" y="4063206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57445" y="4355505"/>
            <a:ext cx="100166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SEV-3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2077915" y="4177903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Contained fault. No customer impact yet.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6073050" y="4177903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One owner. No separate comms role.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9086364" y="4349750"/>
            <a:ext cx="238294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 only.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588220" y="4979987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57445" y="5272286"/>
            <a:ext cx="100166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SEV-4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2077915" y="5094684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Known and tolerated. Tracked, not chased.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6073050" y="5266531"/>
            <a:ext cx="272836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A ticket, not a page.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9086364" y="5094684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Nobody, until working hours.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75523" y="6089253"/>
            <a:ext cx="479016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 LEVEL IS A PERMISSION TO WAKE PEOPLE</a:t>
            </a:r>
            <a:endParaRPr lang="en-US" sz="1466" dirty="0"/>
          </a:p>
        </p:txBody>
      </p:sp>
      <p:sp>
        <p:nvSpPr>
          <p:cNvPr id="31" name="Text 29"/>
          <p:cNvSpPr/>
          <p:nvPr/>
        </p:nvSpPr>
        <p:spPr>
          <a:xfrm>
            <a:off x="7905956" y="6089253"/>
            <a:ext cx="378162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LADDER PROPOSED FOR DISCUSSION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392451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06 — DECISIONS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[ 06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we need to decide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50455"/>
            <a:ext cx="124327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Q1 ]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2043990" y="1995884"/>
            <a:ext cx="6829908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Who may declare — and must they ask first?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687501" y="2050455"/>
            <a:ext cx="2676356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SEV-1 ]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575523" y="2798366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5095" y="3068836"/>
            <a:ext cx="124327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Q2 ]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2043990" y="3014266"/>
            <a:ext cx="6829908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is our comms cadence, and who owns it?</a:t>
            </a:r>
            <a:endParaRPr lang="en-US" sz="2266" dirty="0"/>
          </a:p>
        </p:txBody>
      </p:sp>
      <p:sp>
        <p:nvSpPr>
          <p:cNvPr id="13" name="Text 11"/>
          <p:cNvSpPr/>
          <p:nvPr/>
        </p:nvSpPr>
        <p:spPr>
          <a:xfrm>
            <a:off x="8687501" y="3068836"/>
            <a:ext cx="2676356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COMMS ]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575523" y="3816747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5095" y="4087217"/>
            <a:ext cx="124327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Q3 ]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2043990" y="4032647"/>
            <a:ext cx="6829908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Where does the log live, and who writes it?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8687501" y="4087217"/>
            <a:ext cx="2676356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REVIEW ]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575523" y="4982964"/>
            <a:ext cx="11037905" cy="12700"/>
          </a:xfrm>
          <a:prstGeom prst="rect">
            <a:avLst/>
          </a:prstGeom>
          <a:solidFill>
            <a:srgbClr val="3DF5E0"/>
          </a:solidFill>
          <a:ln/>
          <a:effectLst>
            <a:outerShdw sx="100000" sy="100000" kx="0" ky="0" algn="bl" rotWithShape="0" blurRad="101587" dist="50800" dir="16200000">
              <a:srgbClr val="3df5e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5523" y="5266531"/>
            <a:ext cx="11258664" cy="572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06"/>
              </a:lnSpc>
              <a:spcAft>
                <a:spcPts val="16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None of this needs a tool. It needs a decision.</a:t>
            </a:r>
            <a:endParaRPr lang="en-US" sz="3466" dirty="0"/>
          </a:p>
        </p:txBody>
      </p:sp>
      <p:sp>
        <p:nvSpPr>
          <p:cNvPr id="20" name="Text 18"/>
          <p:cNvSpPr/>
          <p:nvPr/>
        </p:nvSpPr>
        <p:spPr>
          <a:xfrm>
            <a:off x="575523" y="6042025"/>
            <a:ext cx="225181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785556" y="6042025"/>
            <a:ext cx="844430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END</a:t>
            </a:r>
            <a:endParaRPr lang="en-US" sz="17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2026-08-27T16:56:48Z</dcterms:created>
  <dcterms:modified xsi:type="dcterms:W3CDTF">2026-08-27T16:56:48Z</dcterms:modified>
</cp:coreProperties>
</file>