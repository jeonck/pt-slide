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440134"/>
            <a:ext cx="1407384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RUNBOOK</a:t>
            </a:r>
            <a:endParaRPr lang="en-US" sz="1733" dirty="0"/>
          </a:p>
        </p:txBody>
      </p:sp>
      <p:sp>
        <p:nvSpPr>
          <p:cNvPr id="3" name="Text 1"/>
          <p:cNvSpPr/>
          <p:nvPr/>
        </p:nvSpPr>
        <p:spPr>
          <a:xfrm>
            <a:off x="10095563" y="440134"/>
            <a:ext cx="1548223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[ 01 / 06 ]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575523" y="1708348"/>
            <a:ext cx="11258664" cy="1608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333"/>
              </a:lnSpc>
              <a:spcAft>
                <a:spcPts val="2400"/>
              </a:spcAft>
              <a:buNone/>
            </a:pPr>
            <a:r>
              <a:rPr lang="en-US" sz="50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Incident response:</a:t>
            </a:r>
            <a:endParaRPr lang="en-US" sz="5066" dirty="0"/>
          </a:p>
          <a:p>
            <a:pPr algn="l" indent="0" marL="0">
              <a:lnSpc>
                <a:spcPts val="6333"/>
              </a:lnSpc>
              <a:spcAft>
                <a:spcPts val="2400"/>
              </a:spcAft>
              <a:buNone/>
            </a:pPr>
            <a:r>
              <a:rPr lang="en-US" sz="50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the first 30 minutes</a:t>
            </a:r>
            <a:endParaRPr lang="en-US" sz="5066" dirty="0"/>
          </a:p>
        </p:txBody>
      </p:sp>
      <p:sp>
        <p:nvSpPr>
          <p:cNvPr id="5" name="Text 3"/>
          <p:cNvSpPr/>
          <p:nvPr/>
        </p:nvSpPr>
        <p:spPr>
          <a:xfrm>
            <a:off x="575523" y="3621683"/>
            <a:ext cx="2031492" cy="12700"/>
          </a:xfrm>
          <a:prstGeom prst="rect">
            <a:avLst/>
          </a:prstGeom>
          <a:solidFill>
            <a:srgbClr val="3DF5E0"/>
          </a:solidFill>
          <a:ln/>
          <a:effectLst>
            <a:outerShdw sx="100000" sy="100000" kx="0" ky="0" algn="bl" rotWithShape="0" blurRad="101587" dist="50800" dir="16200000">
              <a:srgbClr val="3df5e0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75523" y="3939183"/>
            <a:ext cx="10360609" cy="834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The bottleneck in the first half hour is rarely diagnosis.</a:t>
            </a:r>
            <a:endParaRPr lang="en-US" sz="2266" dirty="0"/>
          </a:p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It is that nobody said who is in charge, and nobody told anyone else.</a:t>
            </a:r>
            <a:endParaRPr lang="en-US" sz="2266" dirty="0"/>
          </a:p>
        </p:txBody>
      </p:sp>
      <p:sp>
        <p:nvSpPr>
          <p:cNvPr id="7" name="Text 5"/>
          <p:cNvSpPr/>
          <p:nvPr/>
        </p:nvSpPr>
        <p:spPr>
          <a:xfrm>
            <a:off x="575523" y="5826125"/>
            <a:ext cx="1103790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75523" y="6042025"/>
            <a:ext cx="2251814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PRESENTER · TEAM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8164058" y="6042025"/>
            <a:ext cx="3518358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INCIDENT RESPONSE RUNBOOK</a:t>
            </a:r>
            <a:endParaRPr lang="en-US" sz="17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440134"/>
            <a:ext cx="3236881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02 — WHAT GOES WRONG</a:t>
            </a:r>
            <a:endParaRPr lang="en-US" sz="1733" dirty="0"/>
          </a:p>
        </p:txBody>
      </p:sp>
      <p:sp>
        <p:nvSpPr>
          <p:cNvPr id="3" name="Text 1"/>
          <p:cNvSpPr/>
          <p:nvPr/>
        </p:nvSpPr>
        <p:spPr>
          <a:xfrm>
            <a:off x="10095563" y="440134"/>
            <a:ext cx="1548223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[ 02 / 06 ]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575523" y="866577"/>
            <a:ext cx="11258664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9"/>
              </a:lnSpc>
              <a:spcAft>
                <a:spcPts val="1200"/>
              </a:spcAft>
              <a:buNone/>
            </a:pPr>
            <a:r>
              <a:rPr lang="en-US" sz="3466" b="1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Three failures, none of them technical</a:t>
            </a:r>
            <a:endParaRPr lang="en-US" sz="3466" dirty="0"/>
          </a:p>
        </p:txBody>
      </p:sp>
      <p:sp>
        <p:nvSpPr>
          <p:cNvPr id="5" name="Text 3"/>
          <p:cNvSpPr/>
          <p:nvPr/>
        </p:nvSpPr>
        <p:spPr>
          <a:xfrm>
            <a:off x="575523" y="1547217"/>
            <a:ext cx="1103790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75523" y="1779984"/>
            <a:ext cx="3498769" cy="3542506"/>
          </a:xfrm>
          <a:prstGeom prst="roundRect">
            <a:avLst>
              <a:gd name="adj" fmla="val 145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25095" y="2029619"/>
            <a:ext cx="3059617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FAILURE 01 ]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825095" y="2489994"/>
            <a:ext cx="3059617" cy="748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6"/>
              </a:lnSpc>
              <a:spcBef>
                <a:spcPts val="1200"/>
              </a:spcBef>
              <a:spcAft>
                <a:spcPts val="1067"/>
              </a:spcAft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Everyone debugs.</a:t>
            </a:r>
            <a:endParaRPr lang="en-US" sz="2266" dirty="0"/>
          </a:p>
          <a:p>
            <a:pPr algn="l" indent="0" marL="0">
              <a:lnSpc>
                <a:spcPts val="2946"/>
              </a:lnSpc>
              <a:spcBef>
                <a:spcPts val="1200"/>
              </a:spcBef>
              <a:spcAft>
                <a:spcPts val="1067"/>
              </a:spcAft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Nobody speaks.</a:t>
            </a:r>
            <a:endParaRPr lang="en-US" sz="2266" dirty="0"/>
          </a:p>
        </p:txBody>
      </p:sp>
      <p:sp>
        <p:nvSpPr>
          <p:cNvPr id="9" name="Text 7"/>
          <p:cNvSpPr/>
          <p:nvPr/>
        </p:nvSpPr>
        <p:spPr>
          <a:xfrm>
            <a:off x="825095" y="3373834"/>
            <a:ext cx="3059617" cy="2062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The interesting problem pulls in every pair of hands. Stakeholders go quiet, then arrive asking — and the asking slows the fix.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4345092" y="1779984"/>
            <a:ext cx="3498769" cy="3542506"/>
          </a:xfrm>
          <a:prstGeom prst="roundRect">
            <a:avLst>
              <a:gd name="adj" fmla="val 145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594664" y="2029619"/>
            <a:ext cx="3059617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FAILURE 02 ]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4594664" y="2489994"/>
            <a:ext cx="3059617" cy="748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6"/>
              </a:lnSpc>
              <a:spcBef>
                <a:spcPts val="1200"/>
              </a:spcBef>
              <a:spcAft>
                <a:spcPts val="1067"/>
              </a:spcAft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Nobody says who</a:t>
            </a:r>
            <a:endParaRPr lang="en-US" sz="2266" dirty="0"/>
          </a:p>
          <a:p>
            <a:pPr algn="l" indent="0" marL="0">
              <a:lnSpc>
                <a:spcPts val="2946"/>
              </a:lnSpc>
              <a:spcBef>
                <a:spcPts val="1200"/>
              </a:spcBef>
              <a:spcAft>
                <a:spcPts val="1067"/>
              </a:spcAft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is in charge.</a:t>
            </a:r>
            <a:endParaRPr lang="en-US" sz="2266" dirty="0"/>
          </a:p>
        </p:txBody>
      </p:sp>
      <p:sp>
        <p:nvSpPr>
          <p:cNvPr id="13" name="Text 11"/>
          <p:cNvSpPr/>
          <p:nvPr/>
        </p:nvSpPr>
        <p:spPr>
          <a:xfrm>
            <a:off x="4594664" y="3373834"/>
            <a:ext cx="3059617" cy="2062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With no declared owner, every call needs consensus. Two people restart the same service; nobody owns the rollback.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8114660" y="1779984"/>
            <a:ext cx="3498769" cy="3542506"/>
          </a:xfrm>
          <a:prstGeom prst="roundRect">
            <a:avLst>
              <a:gd name="adj" fmla="val 145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364232" y="2029619"/>
            <a:ext cx="3059617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FAILURE 03 ]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8364232" y="2489994"/>
            <a:ext cx="3059617" cy="748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6"/>
              </a:lnSpc>
              <a:spcBef>
                <a:spcPts val="1200"/>
              </a:spcBef>
              <a:spcAft>
                <a:spcPts val="1067"/>
              </a:spcAft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The timeline is</a:t>
            </a:r>
            <a:endParaRPr lang="en-US" sz="2266" dirty="0"/>
          </a:p>
          <a:p>
            <a:pPr algn="l" indent="0" marL="0">
              <a:lnSpc>
                <a:spcPts val="2946"/>
              </a:lnSpc>
              <a:spcBef>
                <a:spcPts val="1200"/>
              </a:spcBef>
              <a:spcAft>
                <a:spcPts val="1067"/>
              </a:spcAft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reconstructed.</a:t>
            </a:r>
            <a:endParaRPr lang="en-US" sz="2266" dirty="0"/>
          </a:p>
        </p:txBody>
      </p:sp>
      <p:sp>
        <p:nvSpPr>
          <p:cNvPr id="17" name="Text 15"/>
          <p:cNvSpPr/>
          <p:nvPr/>
        </p:nvSpPr>
        <p:spPr>
          <a:xfrm>
            <a:off x="8364232" y="3373834"/>
            <a:ext cx="3059617" cy="1718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Nobody writes while it happens. The review then argues about the order of events, from memory, instead of the cause.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575523" y="5559425"/>
            <a:ext cx="11258664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866"/>
              </a:spcBef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Not one of these is a diagnosis problem. Each is a decision nobody made.</a:t>
            </a:r>
            <a:endParaRPr lang="en-US" sz="1866" dirty="0"/>
          </a:p>
        </p:txBody>
      </p:sp>
      <p:sp>
        <p:nvSpPr>
          <p:cNvPr id="19" name="Text 17"/>
          <p:cNvSpPr/>
          <p:nvPr/>
        </p:nvSpPr>
        <p:spPr>
          <a:xfrm>
            <a:off x="575523" y="6089253"/>
            <a:ext cx="504229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INCIDENT RESPONSE · THE FIRST 30 MINUTES</a:t>
            </a:r>
            <a:endParaRPr lang="en-US" sz="1466" dirty="0"/>
          </a:p>
        </p:txBody>
      </p:sp>
      <p:sp>
        <p:nvSpPr>
          <p:cNvPr id="20" name="Text 18"/>
          <p:cNvSpPr/>
          <p:nvPr/>
        </p:nvSpPr>
        <p:spPr>
          <a:xfrm>
            <a:off x="8523736" y="6089253"/>
            <a:ext cx="3151487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NO CHART · MECHANISM ONLY</a:t>
            </a:r>
            <a:endParaRPr lang="en-US" sz="1466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440134"/>
            <a:ext cx="1829700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03 — ROLES</a:t>
            </a:r>
            <a:endParaRPr lang="en-US" sz="1733" dirty="0"/>
          </a:p>
        </p:txBody>
      </p:sp>
      <p:sp>
        <p:nvSpPr>
          <p:cNvPr id="3" name="Text 1"/>
          <p:cNvSpPr/>
          <p:nvPr/>
        </p:nvSpPr>
        <p:spPr>
          <a:xfrm>
            <a:off x="10095563" y="440134"/>
            <a:ext cx="1548223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[ 03 / 06 ]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575523" y="866577"/>
            <a:ext cx="11258664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9"/>
              </a:lnSpc>
              <a:spcAft>
                <a:spcPts val="1200"/>
              </a:spcAft>
              <a:buNone/>
            </a:pPr>
            <a:r>
              <a:rPr lang="en-US" sz="3466" b="1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Three roles, defined by what they don't do</a:t>
            </a:r>
            <a:endParaRPr lang="en-US" sz="3466" dirty="0"/>
          </a:p>
        </p:txBody>
      </p:sp>
      <p:sp>
        <p:nvSpPr>
          <p:cNvPr id="5" name="Text 3"/>
          <p:cNvSpPr/>
          <p:nvPr/>
        </p:nvSpPr>
        <p:spPr>
          <a:xfrm>
            <a:off x="575523" y="1547217"/>
            <a:ext cx="1103790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75523" y="1779984"/>
            <a:ext cx="3498769" cy="4123134"/>
          </a:xfrm>
          <a:prstGeom prst="roundRect">
            <a:avLst>
              <a:gd name="adj" fmla="val 145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25095" y="2029619"/>
            <a:ext cx="3059617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1200"/>
              </a:spcAft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COMMANDER ]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825095" y="2489994"/>
            <a:ext cx="3059617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667"/>
              </a:spcAft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DOES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825095" y="2882503"/>
            <a:ext cx="305961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Declares, assigns each role by name, decides, and keeps the log.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825095" y="4082852"/>
            <a:ext cx="299962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25095" y="4264819"/>
            <a:ext cx="3059617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667"/>
              </a:spcAft>
              <a:buNone/>
            </a:pPr>
            <a:r>
              <a:rPr lang="en-US" sz="1733" dirty="0">
                <a:solidFill>
                  <a:srgbClr val="9D7B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DOES NOT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825095" y="4657328"/>
            <a:ext cx="305961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Touch a terminal. A commander who debugs is no longer commanding.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4345092" y="1779984"/>
            <a:ext cx="3498769" cy="4123134"/>
          </a:xfrm>
          <a:prstGeom prst="roundRect">
            <a:avLst>
              <a:gd name="adj" fmla="val 145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94664" y="2029619"/>
            <a:ext cx="3059617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1200"/>
              </a:spcAft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COMMS ]</a:t>
            </a:r>
            <a:endParaRPr lang="en-US" sz="1733" dirty="0"/>
          </a:p>
        </p:txBody>
      </p:sp>
      <p:sp>
        <p:nvSpPr>
          <p:cNvPr id="15" name="Text 13"/>
          <p:cNvSpPr/>
          <p:nvPr/>
        </p:nvSpPr>
        <p:spPr>
          <a:xfrm>
            <a:off x="4594664" y="2489994"/>
            <a:ext cx="3059617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667"/>
              </a:spcAft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DOES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4594664" y="2882503"/>
            <a:ext cx="305961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Writes to stakeholders on cadence, including when nothing changed.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4594664" y="4082852"/>
            <a:ext cx="299962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594664" y="4264819"/>
            <a:ext cx="3059617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667"/>
              </a:spcAft>
              <a:buNone/>
            </a:pPr>
            <a:r>
              <a:rPr lang="en-US" sz="1733" dirty="0">
                <a:solidFill>
                  <a:srgbClr val="9D7B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DOES NOT</a:t>
            </a:r>
            <a:endParaRPr lang="en-US" sz="1733" dirty="0"/>
          </a:p>
        </p:txBody>
      </p:sp>
      <p:sp>
        <p:nvSpPr>
          <p:cNvPr id="19" name="Text 17"/>
          <p:cNvSpPr/>
          <p:nvPr/>
        </p:nvSpPr>
        <p:spPr>
          <a:xfrm>
            <a:off x="4594664" y="4657328"/>
            <a:ext cx="305961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Diagnose, or promise a fix time. “We don't know yet” is a full update.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8114660" y="1779984"/>
            <a:ext cx="3498769" cy="4123134"/>
          </a:xfrm>
          <a:prstGeom prst="roundRect">
            <a:avLst>
              <a:gd name="adj" fmla="val 145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364232" y="2029619"/>
            <a:ext cx="3059617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1200"/>
              </a:spcAft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INVESTIGATOR ]</a:t>
            </a:r>
            <a:endParaRPr lang="en-US" sz="1733" dirty="0"/>
          </a:p>
        </p:txBody>
      </p:sp>
      <p:sp>
        <p:nvSpPr>
          <p:cNvPr id="22" name="Text 20"/>
          <p:cNvSpPr/>
          <p:nvPr/>
        </p:nvSpPr>
        <p:spPr>
          <a:xfrm>
            <a:off x="8364232" y="2489994"/>
            <a:ext cx="3059617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667"/>
              </a:spcAft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DOES</a:t>
            </a:r>
            <a:endParaRPr lang="en-US" sz="1733" dirty="0"/>
          </a:p>
        </p:txBody>
      </p:sp>
      <p:sp>
        <p:nvSpPr>
          <p:cNvPr id="23" name="Text 21"/>
          <p:cNvSpPr/>
          <p:nvPr/>
        </p:nvSpPr>
        <p:spPr>
          <a:xfrm>
            <a:off x="8364232" y="2882503"/>
            <a:ext cx="305961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One hypothesis at a time — tested, and the result said out loud.</a:t>
            </a:r>
            <a:endParaRPr lang="en-US" sz="1866" dirty="0"/>
          </a:p>
        </p:txBody>
      </p:sp>
      <p:sp>
        <p:nvSpPr>
          <p:cNvPr id="24" name="Text 22"/>
          <p:cNvSpPr/>
          <p:nvPr/>
        </p:nvSpPr>
        <p:spPr>
          <a:xfrm>
            <a:off x="8364232" y="4082852"/>
            <a:ext cx="299962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364232" y="4264819"/>
            <a:ext cx="3059617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667"/>
              </a:spcAft>
              <a:buNone/>
            </a:pPr>
            <a:r>
              <a:rPr lang="en-US" sz="1733" dirty="0">
                <a:solidFill>
                  <a:srgbClr val="9D7B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DOES NOT</a:t>
            </a:r>
            <a:endParaRPr lang="en-US" sz="1733" dirty="0"/>
          </a:p>
        </p:txBody>
      </p:sp>
      <p:sp>
        <p:nvSpPr>
          <p:cNvPr id="26" name="Text 24"/>
          <p:cNvSpPr/>
          <p:nvPr/>
        </p:nvSpPr>
        <p:spPr>
          <a:xfrm>
            <a:off x="8364232" y="4657328"/>
            <a:ext cx="305961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Answer stakeholders, or change production without announcing it.</a:t>
            </a:r>
            <a:endParaRPr lang="en-US" sz="1866" dirty="0"/>
          </a:p>
        </p:txBody>
      </p:sp>
      <p:sp>
        <p:nvSpPr>
          <p:cNvPr id="27" name="Text 25"/>
          <p:cNvSpPr/>
          <p:nvPr/>
        </p:nvSpPr>
        <p:spPr>
          <a:xfrm>
            <a:off x="575523" y="6089253"/>
            <a:ext cx="504229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INCIDENT RESPONSE · THE FIRST 30 MINUTES</a:t>
            </a:r>
            <a:endParaRPr lang="en-US" sz="1466" dirty="0"/>
          </a:p>
        </p:txBody>
      </p:sp>
      <p:sp>
        <p:nvSpPr>
          <p:cNvPr id="28" name="Text 26"/>
          <p:cNvSpPr/>
          <p:nvPr/>
        </p:nvSpPr>
        <p:spPr>
          <a:xfrm>
            <a:off x="6793595" y="6089253"/>
            <a:ext cx="491623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EACH ROLE IS ONE PERSON, NAMED OUT LOUD</a:t>
            </a:r>
            <a:endParaRPr lang="en-US" sz="146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440134"/>
            <a:ext cx="2251814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04 — SEQUENCE</a:t>
            </a:r>
            <a:endParaRPr lang="en-US" sz="1733" dirty="0"/>
          </a:p>
        </p:txBody>
      </p:sp>
      <p:sp>
        <p:nvSpPr>
          <p:cNvPr id="3" name="Text 1"/>
          <p:cNvSpPr/>
          <p:nvPr/>
        </p:nvSpPr>
        <p:spPr>
          <a:xfrm>
            <a:off x="10095563" y="440134"/>
            <a:ext cx="1548223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[ 04 / 06 ]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575523" y="866577"/>
            <a:ext cx="11258664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9"/>
              </a:lnSpc>
              <a:spcAft>
                <a:spcPts val="1200"/>
              </a:spcAft>
              <a:buNone/>
            </a:pPr>
            <a:r>
              <a:rPr lang="en-US" sz="3466" b="1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Five checkpoints, not a clock</a:t>
            </a:r>
            <a:endParaRPr lang="en-US" sz="3466" dirty="0"/>
          </a:p>
        </p:txBody>
      </p:sp>
      <p:sp>
        <p:nvSpPr>
          <p:cNvPr id="5" name="Text 3"/>
          <p:cNvSpPr/>
          <p:nvPr/>
        </p:nvSpPr>
        <p:spPr>
          <a:xfrm>
            <a:off x="575523" y="1547217"/>
            <a:ext cx="1103790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75523" y="1779984"/>
            <a:ext cx="6050636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CHECKPOINT ] EACH ONE IS PASSED, NOT SCHEDULED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7905956" y="1779984"/>
            <a:ext cx="3781622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NO CLOCK, NO MINUTE MARKERS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575523" y="2209998"/>
            <a:ext cx="11037905" cy="643930"/>
          </a:xfrm>
          <a:prstGeom prst="roundRect">
            <a:avLst>
              <a:gd name="adj" fmla="val 7888"/>
            </a:avLst>
          </a:prstGeom>
          <a:solidFill>
            <a:srgbClr val="16181D"/>
          </a:solidFill>
          <a:ln w="12698">
            <a:solidFill>
              <a:srgbClr val="3DF5E0"/>
            </a:solidFill>
          </a:ln>
          <a:effectLst>
            <a:outerShdw sx="100000" sy="100000" kx="0" ky="0" algn="bl" rotWithShape="0" blurRad="101587" dist="50800" dir="16200000">
              <a:srgbClr val="3df5e0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25095" y="2378670"/>
            <a:ext cx="703793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01</a:t>
            </a:r>
            <a:endParaRPr lang="en-US" sz="1733" dirty="0"/>
          </a:p>
        </p:txBody>
      </p:sp>
      <p:sp>
        <p:nvSpPr>
          <p:cNvPr id="10" name="Text 8"/>
          <p:cNvSpPr/>
          <p:nvPr/>
        </p:nvSpPr>
        <p:spPr>
          <a:xfrm>
            <a:off x="1718238" y="2365970"/>
            <a:ext cx="1098791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DECLARE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3804485" y="2360017"/>
            <a:ext cx="6604888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Someone says the word out loud. Ambiguity ends there.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981822" y="2853928"/>
            <a:ext cx="25394" cy="118467"/>
          </a:xfrm>
          <a:prstGeom prst="rect">
            <a:avLst/>
          </a:prstGeom>
          <a:solidFill>
            <a:srgbClr val="3DF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75523" y="2972395"/>
            <a:ext cx="11037905" cy="643930"/>
          </a:xfrm>
          <a:prstGeom prst="roundRect">
            <a:avLst>
              <a:gd name="adj" fmla="val 7888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25095" y="3141067"/>
            <a:ext cx="703793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02</a:t>
            </a:r>
            <a:endParaRPr lang="en-US" sz="1733" dirty="0"/>
          </a:p>
        </p:txBody>
      </p:sp>
      <p:sp>
        <p:nvSpPr>
          <p:cNvPr id="15" name="Text 13"/>
          <p:cNvSpPr/>
          <p:nvPr/>
        </p:nvSpPr>
        <p:spPr>
          <a:xfrm>
            <a:off x="1718238" y="3128367"/>
            <a:ext cx="941966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ASSIGN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3804485" y="3122414"/>
            <a:ext cx="6850953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Commander, comms, investigator — named, in the channel.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981822" y="3616325"/>
            <a:ext cx="25394" cy="118467"/>
          </a:xfrm>
          <a:prstGeom prst="rect">
            <a:avLst/>
          </a:prstGeom>
          <a:solidFill>
            <a:srgbClr val="3DF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75523" y="3734792"/>
            <a:ext cx="11037905" cy="643930"/>
          </a:xfrm>
          <a:prstGeom prst="roundRect">
            <a:avLst>
              <a:gd name="adj" fmla="val 7888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25095" y="3903464"/>
            <a:ext cx="703793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03</a:t>
            </a:r>
            <a:endParaRPr lang="en-US" sz="1733" dirty="0"/>
          </a:p>
        </p:txBody>
      </p:sp>
      <p:sp>
        <p:nvSpPr>
          <p:cNvPr id="20" name="Text 18"/>
          <p:cNvSpPr/>
          <p:nvPr/>
        </p:nvSpPr>
        <p:spPr>
          <a:xfrm>
            <a:off x="1718238" y="3890764"/>
            <a:ext cx="1412847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STABILISE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3804485" y="3884811"/>
            <a:ext cx="6527184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Restore service first; the cause can wait for the review.</a:t>
            </a:r>
            <a:endParaRPr lang="en-US" sz="1866" dirty="0"/>
          </a:p>
        </p:txBody>
      </p:sp>
      <p:sp>
        <p:nvSpPr>
          <p:cNvPr id="22" name="Text 20"/>
          <p:cNvSpPr/>
          <p:nvPr/>
        </p:nvSpPr>
        <p:spPr>
          <a:xfrm>
            <a:off x="981822" y="4378722"/>
            <a:ext cx="25394" cy="118467"/>
          </a:xfrm>
          <a:prstGeom prst="rect">
            <a:avLst/>
          </a:prstGeom>
          <a:solidFill>
            <a:srgbClr val="3DF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75523" y="4497189"/>
            <a:ext cx="11037905" cy="643930"/>
          </a:xfrm>
          <a:prstGeom prst="roundRect">
            <a:avLst>
              <a:gd name="adj" fmla="val 7888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25095" y="4665861"/>
            <a:ext cx="703793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04</a:t>
            </a:r>
            <a:endParaRPr lang="en-US" sz="1733" dirty="0"/>
          </a:p>
        </p:txBody>
      </p:sp>
      <p:sp>
        <p:nvSpPr>
          <p:cNvPr id="25" name="Text 23"/>
          <p:cNvSpPr/>
          <p:nvPr/>
        </p:nvSpPr>
        <p:spPr>
          <a:xfrm>
            <a:off x="1718238" y="4653161"/>
            <a:ext cx="1726701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COMMUNICATE</a:t>
            </a:r>
            <a:endParaRPr lang="en-US" sz="1866" dirty="0"/>
          </a:p>
        </p:txBody>
      </p:sp>
      <p:sp>
        <p:nvSpPr>
          <p:cNvPr id="26" name="Text 24"/>
          <p:cNvSpPr/>
          <p:nvPr/>
        </p:nvSpPr>
        <p:spPr>
          <a:xfrm>
            <a:off x="3804485" y="4647208"/>
            <a:ext cx="6915707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The first update goes out before anyone knows the cause.</a:t>
            </a:r>
            <a:endParaRPr lang="en-US" sz="1866" dirty="0"/>
          </a:p>
        </p:txBody>
      </p:sp>
      <p:sp>
        <p:nvSpPr>
          <p:cNvPr id="27" name="Text 25"/>
          <p:cNvSpPr/>
          <p:nvPr/>
        </p:nvSpPr>
        <p:spPr>
          <a:xfrm>
            <a:off x="981822" y="5141119"/>
            <a:ext cx="25394" cy="118467"/>
          </a:xfrm>
          <a:prstGeom prst="rect">
            <a:avLst/>
          </a:prstGeom>
          <a:solidFill>
            <a:srgbClr val="3DF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75523" y="5259586"/>
            <a:ext cx="11037905" cy="643930"/>
          </a:xfrm>
          <a:prstGeom prst="roundRect">
            <a:avLst>
              <a:gd name="adj" fmla="val 7888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825095" y="5428258"/>
            <a:ext cx="703793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05</a:t>
            </a:r>
            <a:endParaRPr lang="en-US" sz="1733" dirty="0"/>
          </a:p>
        </p:txBody>
      </p:sp>
      <p:sp>
        <p:nvSpPr>
          <p:cNvPr id="30" name="Text 28"/>
          <p:cNvSpPr/>
          <p:nvPr/>
        </p:nvSpPr>
        <p:spPr>
          <a:xfrm>
            <a:off x="1718238" y="5415558"/>
            <a:ext cx="941966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RECORD</a:t>
            </a:r>
            <a:endParaRPr lang="en-US" sz="1866" dirty="0"/>
          </a:p>
        </p:txBody>
      </p:sp>
      <p:sp>
        <p:nvSpPr>
          <p:cNvPr id="31" name="Text 29"/>
          <p:cNvSpPr/>
          <p:nvPr/>
        </p:nvSpPr>
        <p:spPr>
          <a:xfrm>
            <a:off x="3804485" y="5409605"/>
            <a:ext cx="5788990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The log is written while it happens, or it is fiction.</a:t>
            </a:r>
            <a:endParaRPr lang="en-US" sz="1866" dirty="0"/>
          </a:p>
        </p:txBody>
      </p:sp>
      <p:sp>
        <p:nvSpPr>
          <p:cNvPr id="32" name="Text 30"/>
          <p:cNvSpPr/>
          <p:nvPr/>
        </p:nvSpPr>
        <p:spPr>
          <a:xfrm>
            <a:off x="575523" y="6089253"/>
            <a:ext cx="504229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INCIDENT RESPONSE · THE FIRST 30 MINUTES</a:t>
            </a:r>
            <a:endParaRPr lang="en-US" sz="1466" dirty="0"/>
          </a:p>
        </p:txBody>
      </p:sp>
      <p:sp>
        <p:nvSpPr>
          <p:cNvPr id="33" name="Text 31"/>
          <p:cNvSpPr/>
          <p:nvPr/>
        </p:nvSpPr>
        <p:spPr>
          <a:xfrm>
            <a:off x="7905956" y="6089253"/>
            <a:ext cx="3781622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DECLARE UNLOCKS THE OTHER FOUR</a:t>
            </a:r>
            <a:endParaRPr lang="en-US" sz="146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440134"/>
            <a:ext cx="2251814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05 — SEVERITY</a:t>
            </a:r>
            <a:endParaRPr lang="en-US" sz="1733" dirty="0"/>
          </a:p>
        </p:txBody>
      </p:sp>
      <p:sp>
        <p:nvSpPr>
          <p:cNvPr id="3" name="Text 1"/>
          <p:cNvSpPr/>
          <p:nvPr/>
        </p:nvSpPr>
        <p:spPr>
          <a:xfrm>
            <a:off x="10095563" y="440134"/>
            <a:ext cx="1548223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[ 05 / 06 ]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575523" y="866577"/>
            <a:ext cx="11258664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9"/>
              </a:lnSpc>
              <a:spcAft>
                <a:spcPts val="1200"/>
              </a:spcAft>
              <a:buNone/>
            </a:pPr>
            <a:r>
              <a:rPr lang="en-US" sz="3466" b="1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What each severity level obliges</a:t>
            </a:r>
            <a:endParaRPr lang="en-US" sz="3466" dirty="0"/>
          </a:p>
        </p:txBody>
      </p:sp>
      <p:sp>
        <p:nvSpPr>
          <p:cNvPr id="5" name="Text 3"/>
          <p:cNvSpPr/>
          <p:nvPr/>
        </p:nvSpPr>
        <p:spPr>
          <a:xfrm>
            <a:off x="575523" y="1547217"/>
            <a:ext cx="1103790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75523" y="1779984"/>
            <a:ext cx="1346879" cy="307975"/>
          </a:xfrm>
          <a:prstGeom prst="rect">
            <a:avLst/>
          </a:prstGeom>
          <a:noFill/>
          <a:ln/>
        </p:spPr>
        <p:txBody>
          <a:bodyPr wrap="square" lIns="169312" tIns="0" rIns="169312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LEVEL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1895993" y="1779984"/>
            <a:ext cx="4075038" cy="307975"/>
          </a:xfrm>
          <a:prstGeom prst="rect">
            <a:avLst/>
          </a:prstGeom>
          <a:noFill/>
          <a:ln/>
        </p:spPr>
        <p:txBody>
          <a:bodyPr wrap="square" lIns="169312" tIns="0" rIns="169312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WHEN IT APPLIES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5891128" y="1779984"/>
            <a:ext cx="3073580" cy="307975"/>
          </a:xfrm>
          <a:prstGeom prst="rect">
            <a:avLst/>
          </a:prstGeom>
          <a:noFill/>
          <a:ln/>
        </p:spPr>
        <p:txBody>
          <a:bodyPr wrap="square" lIns="169312" tIns="0" rIns="169312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WHAT IT OBLIGES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8904442" y="1779984"/>
            <a:ext cx="2728159" cy="307975"/>
          </a:xfrm>
          <a:prstGeom prst="rect">
            <a:avLst/>
          </a:prstGeom>
          <a:noFill/>
          <a:ln/>
        </p:spPr>
        <p:txBody>
          <a:bodyPr wrap="square" lIns="169312" tIns="0" rIns="169312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WHO IT WAKES</a:t>
            </a:r>
            <a:endParaRPr lang="en-US" sz="1733" dirty="0"/>
          </a:p>
        </p:txBody>
      </p:sp>
      <p:sp>
        <p:nvSpPr>
          <p:cNvPr id="10" name="Text 8"/>
          <p:cNvSpPr/>
          <p:nvPr/>
        </p:nvSpPr>
        <p:spPr>
          <a:xfrm>
            <a:off x="575523" y="2223294"/>
            <a:ext cx="11037905" cy="3679825"/>
          </a:xfrm>
          <a:prstGeom prst="roundRect">
            <a:avLst>
              <a:gd name="adj" fmla="val 1380"/>
            </a:avLst>
          </a:prstGeom>
          <a:solidFill>
            <a:srgbClr val="16181D"/>
          </a:solidFill>
          <a:ln w="12698">
            <a:solidFill>
              <a:srgbClr val="3DF5E0"/>
            </a:solidFill>
          </a:ln>
          <a:effectLst>
            <a:outerShdw sx="100000" sy="100000" kx="0" ky="0" algn="bl" rotWithShape="0" blurRad="101587" dist="50800" dir="16200000">
              <a:srgbClr val="3df5e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57445" y="2521942"/>
            <a:ext cx="1001660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SEV-1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2077915" y="2344341"/>
            <a:ext cx="3729819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Customers blocked. No workaround exists.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6073050" y="2344341"/>
            <a:ext cx="2728361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Declare first, diagnose second.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9086364" y="2344341"/>
            <a:ext cx="2382940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On-call, service owner, duty exec.</a:t>
            </a:r>
            <a:endParaRPr lang="en-US" sz="1866" dirty="0"/>
          </a:p>
        </p:txBody>
      </p:sp>
      <p:sp>
        <p:nvSpPr>
          <p:cNvPr id="15" name="Shape 13"/>
          <p:cNvSpPr/>
          <p:nvPr/>
        </p:nvSpPr>
        <p:spPr>
          <a:xfrm>
            <a:off x="588220" y="3146425"/>
            <a:ext cx="11012512" cy="0"/>
          </a:xfrm>
          <a:prstGeom prst="line">
            <a:avLst/>
          </a:prstGeom>
          <a:noFill/>
          <a:ln w="12698">
            <a:solidFill>
              <a:srgbClr val="2A2D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7445" y="3438723"/>
            <a:ext cx="1001660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9D7B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SEV-2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2077915" y="3261122"/>
            <a:ext cx="3729819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Degraded. A workaround exists and it costs someone.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6073050" y="3261122"/>
            <a:ext cx="2728361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Commander named. Updates on cadence.</a:t>
            </a:r>
            <a:endParaRPr lang="en-US" sz="1866" dirty="0"/>
          </a:p>
        </p:txBody>
      </p:sp>
      <p:sp>
        <p:nvSpPr>
          <p:cNvPr id="19" name="Text 17"/>
          <p:cNvSpPr/>
          <p:nvPr/>
        </p:nvSpPr>
        <p:spPr>
          <a:xfrm>
            <a:off x="9086364" y="3261122"/>
            <a:ext cx="2382940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On-call and service owner.</a:t>
            </a:r>
            <a:endParaRPr lang="en-US" sz="1866" dirty="0"/>
          </a:p>
        </p:txBody>
      </p:sp>
      <p:sp>
        <p:nvSpPr>
          <p:cNvPr id="20" name="Shape 18"/>
          <p:cNvSpPr/>
          <p:nvPr/>
        </p:nvSpPr>
        <p:spPr>
          <a:xfrm>
            <a:off x="588220" y="4063206"/>
            <a:ext cx="11012512" cy="0"/>
          </a:xfrm>
          <a:prstGeom prst="line">
            <a:avLst/>
          </a:prstGeom>
          <a:noFill/>
          <a:ln w="12698">
            <a:solidFill>
              <a:srgbClr val="2A2D3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7445" y="4355505"/>
            <a:ext cx="1001660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SEV-3</a:t>
            </a:r>
            <a:endParaRPr lang="en-US" sz="1866" dirty="0"/>
          </a:p>
        </p:txBody>
      </p:sp>
      <p:sp>
        <p:nvSpPr>
          <p:cNvPr id="22" name="Text 20"/>
          <p:cNvSpPr/>
          <p:nvPr/>
        </p:nvSpPr>
        <p:spPr>
          <a:xfrm>
            <a:off x="2077915" y="4177903"/>
            <a:ext cx="3729819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Contained fault. No customer impact yet.</a:t>
            </a:r>
            <a:endParaRPr lang="en-US" sz="1866" dirty="0"/>
          </a:p>
        </p:txBody>
      </p:sp>
      <p:sp>
        <p:nvSpPr>
          <p:cNvPr id="23" name="Text 21"/>
          <p:cNvSpPr/>
          <p:nvPr/>
        </p:nvSpPr>
        <p:spPr>
          <a:xfrm>
            <a:off x="6073050" y="4177903"/>
            <a:ext cx="2728361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One owner. No separate comms role.</a:t>
            </a:r>
            <a:endParaRPr lang="en-US" sz="1866" dirty="0"/>
          </a:p>
        </p:txBody>
      </p:sp>
      <p:sp>
        <p:nvSpPr>
          <p:cNvPr id="24" name="Text 22"/>
          <p:cNvSpPr/>
          <p:nvPr/>
        </p:nvSpPr>
        <p:spPr>
          <a:xfrm>
            <a:off x="9086364" y="4349750"/>
            <a:ext cx="2382940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On-call only.</a:t>
            </a:r>
            <a:endParaRPr lang="en-US" sz="1866" dirty="0"/>
          </a:p>
        </p:txBody>
      </p:sp>
      <p:sp>
        <p:nvSpPr>
          <p:cNvPr id="25" name="Shape 23"/>
          <p:cNvSpPr/>
          <p:nvPr/>
        </p:nvSpPr>
        <p:spPr>
          <a:xfrm>
            <a:off x="588220" y="4979987"/>
            <a:ext cx="11012512" cy="0"/>
          </a:xfrm>
          <a:prstGeom prst="line">
            <a:avLst/>
          </a:prstGeom>
          <a:noFill/>
          <a:ln w="12698">
            <a:solidFill>
              <a:srgbClr val="2A2D3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7445" y="5272286"/>
            <a:ext cx="1001660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SEV-4</a:t>
            </a:r>
            <a:endParaRPr lang="en-US" sz="1866" dirty="0"/>
          </a:p>
        </p:txBody>
      </p:sp>
      <p:sp>
        <p:nvSpPr>
          <p:cNvPr id="27" name="Text 25"/>
          <p:cNvSpPr/>
          <p:nvPr/>
        </p:nvSpPr>
        <p:spPr>
          <a:xfrm>
            <a:off x="2077915" y="5094684"/>
            <a:ext cx="3729819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Known and tolerated. Tracked, not chased.</a:t>
            </a:r>
            <a:endParaRPr lang="en-US" sz="1866" dirty="0"/>
          </a:p>
        </p:txBody>
      </p:sp>
      <p:sp>
        <p:nvSpPr>
          <p:cNvPr id="28" name="Text 26"/>
          <p:cNvSpPr/>
          <p:nvPr/>
        </p:nvSpPr>
        <p:spPr>
          <a:xfrm>
            <a:off x="6073050" y="5266531"/>
            <a:ext cx="2728361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A ticket, not a page.</a:t>
            </a:r>
            <a:endParaRPr lang="en-US" sz="1866" dirty="0"/>
          </a:p>
        </p:txBody>
      </p:sp>
      <p:sp>
        <p:nvSpPr>
          <p:cNvPr id="29" name="Text 27"/>
          <p:cNvSpPr/>
          <p:nvPr/>
        </p:nvSpPr>
        <p:spPr>
          <a:xfrm>
            <a:off x="9086364" y="5094684"/>
            <a:ext cx="2382940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A8F9A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Nobody, until working hours.</a:t>
            </a:r>
            <a:endParaRPr lang="en-US" sz="1866" dirty="0"/>
          </a:p>
        </p:txBody>
      </p:sp>
      <p:sp>
        <p:nvSpPr>
          <p:cNvPr id="30" name="Text 28"/>
          <p:cNvSpPr/>
          <p:nvPr/>
        </p:nvSpPr>
        <p:spPr>
          <a:xfrm>
            <a:off x="575523" y="6089253"/>
            <a:ext cx="479016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 LEVEL IS A PERMISSION TO WAKE PEOPLE</a:t>
            </a:r>
            <a:endParaRPr lang="en-US" sz="1466" dirty="0"/>
          </a:p>
        </p:txBody>
      </p:sp>
      <p:sp>
        <p:nvSpPr>
          <p:cNvPr id="31" name="Text 29"/>
          <p:cNvSpPr/>
          <p:nvPr/>
        </p:nvSpPr>
        <p:spPr>
          <a:xfrm>
            <a:off x="7905956" y="6089253"/>
            <a:ext cx="3781622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LADDER PROPOSED FOR DISCUSSION</a:t>
            </a:r>
            <a:endParaRPr lang="en-US" sz="1466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440134"/>
            <a:ext cx="2392451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06 — DECISIONS</a:t>
            </a:r>
            <a:endParaRPr lang="en-US" sz="1733" dirty="0"/>
          </a:p>
        </p:txBody>
      </p:sp>
      <p:sp>
        <p:nvSpPr>
          <p:cNvPr id="3" name="Text 1"/>
          <p:cNvSpPr/>
          <p:nvPr/>
        </p:nvSpPr>
        <p:spPr>
          <a:xfrm>
            <a:off x="10095563" y="440134"/>
            <a:ext cx="1548223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[ 06 / 06 ]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575523" y="866577"/>
            <a:ext cx="11258664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9"/>
              </a:lnSpc>
              <a:spcAft>
                <a:spcPts val="1200"/>
              </a:spcAft>
              <a:buNone/>
            </a:pPr>
            <a:r>
              <a:rPr lang="en-US" sz="3466" b="1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What we need to decide</a:t>
            </a:r>
            <a:endParaRPr lang="en-US" sz="3466" dirty="0"/>
          </a:p>
        </p:txBody>
      </p:sp>
      <p:sp>
        <p:nvSpPr>
          <p:cNvPr id="5" name="Text 3"/>
          <p:cNvSpPr/>
          <p:nvPr/>
        </p:nvSpPr>
        <p:spPr>
          <a:xfrm>
            <a:off x="575523" y="1547217"/>
            <a:ext cx="11037905" cy="12700"/>
          </a:xfrm>
          <a:prstGeom prst="rect">
            <a:avLst/>
          </a:prstGeom>
          <a:solidFill>
            <a:srgbClr val="2A2D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75523" y="1779984"/>
            <a:ext cx="11037905" cy="849114"/>
          </a:xfrm>
          <a:prstGeom prst="roundRect">
            <a:avLst>
              <a:gd name="adj" fmla="val 598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25095" y="2050455"/>
            <a:ext cx="1243273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Q1 ]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2043990" y="1995884"/>
            <a:ext cx="6829908" cy="417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Who may declare — and must they ask first?</a:t>
            </a:r>
            <a:endParaRPr lang="en-US" sz="2266" dirty="0"/>
          </a:p>
        </p:txBody>
      </p:sp>
      <p:sp>
        <p:nvSpPr>
          <p:cNvPr id="9" name="Text 7"/>
          <p:cNvSpPr/>
          <p:nvPr/>
        </p:nvSpPr>
        <p:spPr>
          <a:xfrm>
            <a:off x="8687501" y="2050455"/>
            <a:ext cx="2676356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9D7B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BLOCKS SEV-1 ]</a:t>
            </a:r>
            <a:endParaRPr lang="en-US" sz="1733" dirty="0"/>
          </a:p>
        </p:txBody>
      </p:sp>
      <p:sp>
        <p:nvSpPr>
          <p:cNvPr id="10" name="Text 8"/>
          <p:cNvSpPr/>
          <p:nvPr/>
        </p:nvSpPr>
        <p:spPr>
          <a:xfrm>
            <a:off x="575523" y="2798366"/>
            <a:ext cx="11037905" cy="849114"/>
          </a:xfrm>
          <a:prstGeom prst="roundRect">
            <a:avLst>
              <a:gd name="adj" fmla="val 598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25095" y="3068836"/>
            <a:ext cx="1243273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Q2 ]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2043990" y="3014266"/>
            <a:ext cx="6829908" cy="417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What is our comms cadence, and who owns it?</a:t>
            </a:r>
            <a:endParaRPr lang="en-US" sz="2266" dirty="0"/>
          </a:p>
        </p:txBody>
      </p:sp>
      <p:sp>
        <p:nvSpPr>
          <p:cNvPr id="13" name="Text 11"/>
          <p:cNvSpPr/>
          <p:nvPr/>
        </p:nvSpPr>
        <p:spPr>
          <a:xfrm>
            <a:off x="8687501" y="3068836"/>
            <a:ext cx="2676356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9D7B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BLOCKS COMMS ]</a:t>
            </a:r>
            <a:endParaRPr lang="en-US" sz="1733" dirty="0"/>
          </a:p>
        </p:txBody>
      </p:sp>
      <p:sp>
        <p:nvSpPr>
          <p:cNvPr id="14" name="Text 12"/>
          <p:cNvSpPr/>
          <p:nvPr/>
        </p:nvSpPr>
        <p:spPr>
          <a:xfrm>
            <a:off x="575523" y="3816747"/>
            <a:ext cx="11037905" cy="849114"/>
          </a:xfrm>
          <a:prstGeom prst="roundRect">
            <a:avLst>
              <a:gd name="adj" fmla="val 5982"/>
            </a:avLst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25095" y="4087217"/>
            <a:ext cx="1243273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Q3 ]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2043990" y="4032647"/>
            <a:ext cx="6829908" cy="417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Where does the log live, and who writes it?</a:t>
            </a:r>
            <a:endParaRPr lang="en-US" sz="2266" dirty="0"/>
          </a:p>
        </p:txBody>
      </p:sp>
      <p:sp>
        <p:nvSpPr>
          <p:cNvPr id="17" name="Text 15"/>
          <p:cNvSpPr/>
          <p:nvPr/>
        </p:nvSpPr>
        <p:spPr>
          <a:xfrm>
            <a:off x="8687501" y="4087217"/>
            <a:ext cx="2676356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9D7B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[ BLOCKS REVIEW ]</a:t>
            </a:r>
            <a:endParaRPr lang="en-US" sz="1733" dirty="0"/>
          </a:p>
        </p:txBody>
      </p:sp>
      <p:sp>
        <p:nvSpPr>
          <p:cNvPr id="18" name="Text 16"/>
          <p:cNvSpPr/>
          <p:nvPr/>
        </p:nvSpPr>
        <p:spPr>
          <a:xfrm>
            <a:off x="575523" y="4982964"/>
            <a:ext cx="11037905" cy="12700"/>
          </a:xfrm>
          <a:prstGeom prst="rect">
            <a:avLst/>
          </a:prstGeom>
          <a:solidFill>
            <a:srgbClr val="3DF5E0"/>
          </a:solidFill>
          <a:ln/>
          <a:effectLst>
            <a:outerShdw sx="100000" sy="100000" kx="0" ky="0" algn="bl" rotWithShape="0" blurRad="101587" dist="50800" dir="16200000">
              <a:srgbClr val="3df5e0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75523" y="5266531"/>
            <a:ext cx="11258664" cy="572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06"/>
              </a:lnSpc>
              <a:spcAft>
                <a:spcPts val="1600"/>
              </a:spcAft>
              <a:buNone/>
            </a:pPr>
            <a:r>
              <a:rPr lang="en-US" sz="3466" b="1" dirty="0">
                <a:solidFill>
                  <a:srgbClr val="E4E6EB"/>
                </a:solidFill>
                <a:latin typeface="SpaceGrotesk" pitchFamily="34" charset="0"/>
                <a:ea typeface="SpaceGrotesk" pitchFamily="34" charset="-122"/>
                <a:cs typeface="SpaceGrotesk" pitchFamily="34" charset="-120"/>
              </a:rPr>
              <a:t>None of this needs a tool. It needs a decision.</a:t>
            </a:r>
            <a:endParaRPr lang="en-US" sz="3466" dirty="0"/>
          </a:p>
        </p:txBody>
      </p:sp>
      <p:sp>
        <p:nvSpPr>
          <p:cNvPr id="20" name="Text 18"/>
          <p:cNvSpPr/>
          <p:nvPr/>
        </p:nvSpPr>
        <p:spPr>
          <a:xfrm>
            <a:off x="575523" y="6042025"/>
            <a:ext cx="2251814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PRESENTER · TEAM</a:t>
            </a:r>
            <a:endParaRPr lang="en-US" sz="1733" dirty="0"/>
          </a:p>
        </p:txBody>
      </p:sp>
      <p:sp>
        <p:nvSpPr>
          <p:cNvPr id="21" name="Text 19"/>
          <p:cNvSpPr/>
          <p:nvPr/>
        </p:nvSpPr>
        <p:spPr>
          <a:xfrm>
            <a:off x="10785556" y="6042025"/>
            <a:ext cx="844430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// END</a:t>
            </a:r>
            <a:endParaRPr lang="en-US" sz="17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2026-08-27T15:32:39Z</dcterms:created>
  <dcterms:modified xsi:type="dcterms:W3CDTF">2026-08-27T15:32:39Z</dcterms:modified>
</cp:coreProperties>
</file>